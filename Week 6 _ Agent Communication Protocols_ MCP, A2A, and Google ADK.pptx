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Lst>
  <p:notesMasterIdLst>
    <p:notesMasterId r:id="rId9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notesMaster" Target="notesMasters/notesMaster1.xml"/><Relationship Id="rId94" Type="http://schemas.openxmlformats.org/officeDocument/2006/relationships/presProps" Target="presProps.xml"/><Relationship Id="rId95" Type="http://schemas.openxmlformats.org/officeDocument/2006/relationships/viewProps" Target="viewProps.xml"/><Relationship Id="rId96" Type="http://schemas.openxmlformats.org/officeDocument/2006/relationships/theme" Target="theme/theme1.xml"/><Relationship Id="rId9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on google-adk 2.11 with plain-function nodes: research ran first, comps and schools ran in parallel, join passed both results to offer, offer looped via the 'again' route until it set 'done' on round 3, then finish 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A2A spec v0.3.0 AgentCapabilities; enforcement checked in a2a-sdk 0.3.26's JSON-RPC handler and demonstrated live in demo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with a before_model_callback that inspected every buyer LLM request (ADK 2.11, gpt-4o). With the default context the buyer's requests contained the seller's get_minimum_acceptable_price call and result from round 2 on; with include_contents='none', 0 of 9 calls did (3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2-2.jp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6-2.jp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9-2.jp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jeev1992/real-estate-negotiation-simulator/" TargetMode="External"/><Relationship Id="rId1" Type="http://schemas.openxmlformats.org/officeDocument/2006/relationships/image" Target="../media/image-1-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20-2.jp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22-2.jp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25-2.jp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26-2.jp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29-2.jp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4-2.png"/><Relationship Id="rId3" Type="http://schemas.openxmlformats.org/officeDocument/2006/relationships/image" Target="../media/image-14-4.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44-2.jp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45-2.jp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48-2.jp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49-2.jp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51-2.jp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53-2.jp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56-2.jp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58-2.jp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66-2.jp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67-2.jp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68-2.jp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1.xml"/><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91-2.jpg"/><Relationship Id="rId3" Type="http://schemas.openxmlformats.org/officeDocument/2006/relationships/slideLayout" Target="../slideLayouts/slideLayout1.xml"/><Relationship Id="rId4" Type="http://schemas.openxmlformats.org/officeDocument/2006/relationships/notesSlide" Target="../notesSlides/notesSlide9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978408" y="2011680"/>
            <a:ext cx="10241280" cy="2651760"/>
          </a:xfrm>
          <a:prstGeom prst="rect">
            <a:avLst/>
          </a:prstGeom>
          <a:noFill/>
          <a:ln/>
        </p:spPr>
        <p:txBody>
          <a:bodyPr wrap="square" rtlCol="0" anchor="ctr"/>
          <a:lstStyle/>
          <a:p>
            <a:pPr algn="ctr" indent="0" marL="0">
              <a:buNone/>
            </a:pPr>
            <a:r>
              <a:rPr lang="en-US" sz="5200" b="1" dirty="0">
                <a:solidFill>
                  <a:srgbClr val="3896D2"/>
                </a:solidFill>
                <a:latin typeface="Fira Sans" pitchFamily="34" charset="0"/>
                <a:ea typeface="Fira Sans" pitchFamily="34" charset="-122"/>
                <a:cs typeface="Fira Sans" pitchFamily="34" charset="-120"/>
              </a:rPr>
              <a:t>Agent Communication </a:t>
            </a:r>
            <a:r>
              <a:rPr lang="en-US" sz="5200" b="1" dirty="0">
                <a:solidFill>
                  <a:srgbClr val="3896D2"/>
                </a:solidFill>
                <a:latin typeface="Fira Sans" pitchFamily="34" charset="0"/>
                <a:ea typeface="Fira Sans" pitchFamily="34" charset="-122"/>
                <a:cs typeface="Fira Sans" pitchFamily="34" charset="-120"/>
              </a:rPr>
              <a:t>Protocols: </a:t>
            </a:r>
            <a:r>
              <a:rPr lang="en-US" sz="5200" b="1" dirty="0">
                <a:solidFill>
                  <a:srgbClr val="FFFFFF"/>
                </a:solidFill>
                <a:latin typeface="Fira Sans" pitchFamily="34" charset="0"/>
                <a:ea typeface="Fira Sans" pitchFamily="34" charset="-122"/>
                <a:cs typeface="Fira Sans" pitchFamily="34" charset="-120"/>
              </a:rPr>
              <a:t>MCP, A2A, and Google ADK</a:t>
            </a:r>
            <a:endParaRPr lang="en-US" sz="5200" dirty="0"/>
          </a:p>
        </p:txBody>
      </p:sp>
      <p:sp>
        <p:nvSpPr>
          <p:cNvPr id="4" name="Text 1"/>
          <p:cNvSpPr/>
          <p:nvPr/>
        </p:nvSpPr>
        <p:spPr>
          <a:xfrm>
            <a:off x="2194560" y="5897880"/>
            <a:ext cx="7772400" cy="365760"/>
          </a:xfrm>
          <a:prstGeom prst="rect">
            <a:avLst/>
          </a:prstGeom>
          <a:noFill/>
          <a:ln/>
        </p:spPr>
        <p:txBody>
          <a:bodyPr wrap="square" rtlCol="0" anchor="ctr"/>
          <a:lstStyle/>
          <a:p>
            <a:pPr algn="ctr" indent="0" marL="0">
              <a:buNone/>
            </a:pPr>
            <a:r>
              <a:rPr lang="en-US" sz="1900" b="1" i="1" dirty="0">
                <a:solidFill>
                  <a:srgbClr val="FFAB40"/>
                </a:solidFill>
                <a:latin typeface="Fira Sans" pitchFamily="34" charset="0"/>
                <a:ea typeface="Fira Sans" pitchFamily="34" charset="-122"/>
                <a:cs typeface="Fira Sans" pitchFamily="34" charset="-120"/>
              </a:rPr>
              <a:t>Building Multi-Agent Systems with MCP &amp; Google ADK</a:t>
            </a:r>
            <a:endParaRPr lang="en-US" sz="1900" dirty="0"/>
          </a:p>
        </p:txBody>
      </p:sp>
      <p:sp>
        <p:nvSpPr>
          <p:cNvPr id="5" name="Text 2"/>
          <p:cNvSpPr/>
          <p:nvPr/>
        </p:nvSpPr>
        <p:spPr>
          <a:xfrm>
            <a:off x="3108960" y="6309360"/>
            <a:ext cx="5943600" cy="274320"/>
          </a:xfrm>
          <a:prstGeom prst="rect">
            <a:avLst/>
          </a:prstGeom>
          <a:noFill/>
          <a:ln/>
        </p:spPr>
        <p:txBody>
          <a:bodyPr wrap="square" rtlCol="0" anchor="ctr"/>
          <a:lstStyle/>
          <a:p>
            <a:pPr algn="ctr" indent="0" marL="0">
              <a:buNone/>
            </a:pPr>
            <a:r>
              <a:rPr lang="en-US" sz="1300" b="1" dirty="0">
                <a:solidFill>
                  <a:srgbClr val="FFFFFF"/>
                </a:solidFill>
                <a:latin typeface="Fira Sans" pitchFamily="34" charset="0"/>
                <a:ea typeface="Fira Sans" pitchFamily="34" charset="-122"/>
                <a:cs typeface="Fira Sans" pitchFamily="34" charset="-120"/>
              </a:rPr>
              <a:t>From naive chatbots to production-ready negotiation agents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Introduction - </a:t>
            </a:r>
            <a:r>
              <a:rPr lang="en-US" sz="3000" b="1" dirty="0">
                <a:solidFill>
                  <a:srgbClr val="FFFFFF"/>
                </a:solidFill>
                <a:latin typeface="Fira Sans" pitchFamily="34" charset="0"/>
                <a:ea typeface="Fira Sans" pitchFamily="34" charset="-122"/>
                <a:cs typeface="Fira Sans" pitchFamily="34" charset="-120"/>
              </a:rPr>
              <a:t>Jeevendra Singh</a:t>
            </a:r>
            <a:endParaRPr lang="en-US" sz="3000" dirty="0"/>
          </a:p>
        </p:txBody>
      </p:sp>
      <p:sp>
        <p:nvSpPr>
          <p:cNvPr id="4" name="Text 1"/>
          <p:cNvSpPr/>
          <p:nvPr/>
        </p:nvSpPr>
        <p:spPr>
          <a:xfrm>
            <a:off x="457200" y="1234440"/>
            <a:ext cx="8595360" cy="2560320"/>
          </a:xfrm>
          <a:prstGeom prst="rect">
            <a:avLst/>
          </a:prstGeom>
          <a:noFill/>
          <a:ln/>
        </p:spPr>
        <p:txBody>
          <a:bodyPr wrap="square" lIns="635" tIns="635" rIns="635" bIns="635" rtlCol="0" anchor="t"/>
          <a:lstStyle/>
          <a:p>
            <a:pPr lvl="1" marL="685800" indent="-342900">
              <a:spcAft>
                <a:spcPts val="800"/>
              </a:spcAft>
              <a:buSzPct val="100000"/>
              <a:buChar char="•"/>
            </a:pPr>
            <a:r>
              <a:rPr lang="en-US" sz="1500" dirty="0">
                <a:solidFill>
                  <a:srgbClr val="FFFFFF"/>
                </a:solidFill>
                <a:latin typeface="Fira Sans" pitchFamily="34" charset="0"/>
                <a:ea typeface="Fira Sans" pitchFamily="34" charset="-122"/>
                <a:cs typeface="Fira Sans" pitchFamily="34" charset="-120"/>
              </a:rPr>
              <a:t>I have been working as a Software Engineer since 2015</a:t>
            </a:r>
            <a:endParaRPr lang="en-US" sz="1500" dirty="0"/>
          </a:p>
          <a:p>
            <a:pPr lvl="1" marL="685800" indent="-342900">
              <a:spcAft>
                <a:spcPts val="800"/>
              </a:spcAft>
              <a:buSzPct val="100000"/>
              <a:buChar char="•"/>
            </a:pPr>
            <a:r>
              <a:rPr lang="en-US" sz="1500" dirty="0">
                <a:solidFill>
                  <a:srgbClr val="FFFFFF"/>
                </a:solidFill>
                <a:latin typeface="Fira Sans" pitchFamily="34" charset="0"/>
                <a:ea typeface="Fira Sans" pitchFamily="34" charset="-122"/>
                <a:cs typeface="Fira Sans" pitchFamily="34" charset="-120"/>
              </a:rPr>
              <a:t>I've worked for companies like Ericsson, SAP, Q2, and now Microsoft</a:t>
            </a:r>
            <a:endParaRPr lang="en-US" sz="1500" dirty="0"/>
          </a:p>
          <a:p>
            <a:pPr lvl="1" marL="685800" indent="-342900">
              <a:spcAft>
                <a:spcPts val="800"/>
              </a:spcAft>
              <a:buSzPct val="100000"/>
              <a:buChar char="•"/>
            </a:pPr>
            <a:r>
              <a:rPr lang="en-US" sz="1500" dirty="0">
                <a:solidFill>
                  <a:srgbClr val="FFFFFF"/>
                </a:solidFill>
                <a:latin typeface="Fira Sans" pitchFamily="34" charset="0"/>
                <a:ea typeface="Fira Sans" pitchFamily="34" charset="-122"/>
                <a:cs typeface="Fira Sans" pitchFamily="34" charset="-120"/>
              </a:rPr>
              <a:t>I have been working at Microsoft for 4+ years</a:t>
            </a:r>
            <a:endParaRPr lang="en-US" sz="1500" dirty="0"/>
          </a:p>
          <a:p>
            <a:pPr lvl="1" marL="685800" indent="-342900">
              <a:spcAft>
                <a:spcPts val="800"/>
              </a:spcAft>
              <a:buSzPct val="100000"/>
              <a:buChar char="•"/>
            </a:pPr>
            <a:r>
              <a:rPr lang="en-US" sz="1500" dirty="0">
                <a:solidFill>
                  <a:srgbClr val="FFFFFF"/>
                </a:solidFill>
                <a:latin typeface="Fira Sans" pitchFamily="34" charset="0"/>
                <a:ea typeface="Fira Sans" pitchFamily="34" charset="-122"/>
                <a:cs typeface="Fira Sans" pitchFamily="34" charset="-120"/>
              </a:rPr>
              <a:t>In my career, I've worked as a full-stack developer, integration architect, and now focusing on Agentic AI development</a:t>
            </a:r>
            <a:endParaRPr lang="en-US" sz="1500" dirty="0"/>
          </a:p>
          <a:p>
            <a:pPr lvl="1" marL="685800" indent="-342900">
              <a:spcAft>
                <a:spcPts val="800"/>
              </a:spcAft>
              <a:buSzPct val="100000"/>
              <a:buChar char="•"/>
            </a:pPr>
            <a:r>
              <a:rPr lang="en-US" sz="1500" dirty="0">
                <a:solidFill>
                  <a:srgbClr val="FFFFFF"/>
                </a:solidFill>
                <a:latin typeface="Fira Sans" pitchFamily="34" charset="0"/>
                <a:ea typeface="Fira Sans" pitchFamily="34" charset="-122"/>
                <a:cs typeface="Fira Sans" pitchFamily="34" charset="-120"/>
              </a:rPr>
              <a:t>Built intelligent API platforms and copilots using Generative AI, RAG, and Agent Orchestration</a:t>
            </a:r>
            <a:endParaRPr lang="en-US" sz="1500" dirty="0"/>
          </a:p>
          <a:p>
            <a:pPr lvl="1" marL="685800" indent="-342900">
              <a:spcAft>
                <a:spcPts val="800"/>
              </a:spcAft>
              <a:buSzPct val="100000"/>
              <a:buChar char="•"/>
            </a:pPr>
            <a:r>
              <a:rPr lang="en-US" sz="1500" dirty="0">
                <a:solidFill>
                  <a:srgbClr val="FFFFFF"/>
                </a:solidFill>
                <a:latin typeface="Fira Sans" pitchFamily="34" charset="0"/>
                <a:ea typeface="Fira Sans" pitchFamily="34" charset="-122"/>
                <a:cs typeface="Fira Sans" pitchFamily="34" charset="-120"/>
              </a:rPr>
              <a:t>Trained over 2000+ learners on Agentic AI, Full-stack, DSA and System Design</a:t>
            </a:r>
            <a:endParaRPr lang="en-US" sz="1500" dirty="0"/>
          </a:p>
        </p:txBody>
      </p:sp>
      <p:pic>
        <p:nvPicPr>
          <p:cNvPr id="5" name="Image 1" descr="C:\Users\jeesingh\.copilot\session-state\b8ab4bc6-faf5-4ebd-bea2-f997a4b9a7ea\files\deck\img\x23.png">    </p:cNvPr>
          <p:cNvPicPr>
            <a:picLocks noChangeAspect="1"/>
          </p:cNvPicPr>
          <p:nvPr/>
        </p:nvPicPr>
        <p:blipFill>
          <a:blip r:embed="rId2"/>
          <a:stretch>
            <a:fillRect/>
          </a:stretch>
        </p:blipFill>
        <p:spPr>
          <a:xfrm>
            <a:off x="9589770" y="1021080"/>
            <a:ext cx="2091690" cy="2091690"/>
          </a:xfrm>
          <a:prstGeom prst="ellipse">
            <a:avLst/>
          </a:prstGeom>
        </p:spPr>
      </p:pic>
      <p:pic>
        <p:nvPicPr>
          <p:cNvPr id="6" name="Image 2" descr="C:\Users\jeesingh\.copilot\session-state\b8ab4bc6-faf5-4ebd-bea2-f997a4b9a7ea\files\deck\img\x24.png">    </p:cNvPr>
          <p:cNvPicPr>
            <a:picLocks noChangeAspect="1"/>
          </p:cNvPicPr>
          <p:nvPr/>
        </p:nvPicPr>
        <p:blipFill>
          <a:blip r:embed="rId3"/>
          <a:stretch>
            <a:fillRect/>
          </a:stretch>
        </p:blipFill>
        <p:spPr>
          <a:xfrm>
            <a:off x="944880" y="4687570"/>
            <a:ext cx="1555750" cy="1559560"/>
          </a:xfrm>
          <a:prstGeom prst="rect">
            <a:avLst/>
          </a:prstGeom>
        </p:spPr>
      </p:pic>
      <p:pic>
        <p:nvPicPr>
          <p:cNvPr id="7" name="Image 3" descr="C:\Users\jeesingh\.copilot\session-state\b8ab4bc6-faf5-4ebd-bea2-f997a4b9a7ea\files\deck\img\x28.png">    </p:cNvPr>
          <p:cNvPicPr>
            <a:picLocks noChangeAspect="1"/>
          </p:cNvPicPr>
          <p:nvPr/>
        </p:nvPicPr>
        <p:blipFill>
          <a:blip r:embed="rId4"/>
          <a:stretch>
            <a:fillRect/>
          </a:stretch>
        </p:blipFill>
        <p:spPr>
          <a:xfrm>
            <a:off x="3119120" y="4610100"/>
            <a:ext cx="1786890" cy="1788160"/>
          </a:xfrm>
          <a:prstGeom prst="rect">
            <a:avLst/>
          </a:prstGeom>
        </p:spPr>
      </p:pic>
      <p:pic>
        <p:nvPicPr>
          <p:cNvPr id="8" name="Image 4" descr="C:\Users\jeesingh\.copilot\session-state\b8ab4bc6-faf5-4ebd-bea2-f997a4b9a7ea\files\deck\img\x27.png">    </p:cNvPr>
          <p:cNvPicPr>
            <a:picLocks noChangeAspect="1"/>
          </p:cNvPicPr>
          <p:nvPr/>
        </p:nvPicPr>
        <p:blipFill>
          <a:blip r:embed="rId5"/>
          <a:stretch>
            <a:fillRect/>
          </a:stretch>
        </p:blipFill>
        <p:spPr>
          <a:xfrm>
            <a:off x="5250180" y="4572000"/>
            <a:ext cx="3224530" cy="1813560"/>
          </a:xfrm>
          <a:prstGeom prst="rect">
            <a:avLst/>
          </a:prstGeom>
        </p:spPr>
      </p:pic>
      <p:pic>
        <p:nvPicPr>
          <p:cNvPr id="9" name="Image 5" descr="C:\Users\jeesingh\.copilot\session-state\b8ab4bc6-faf5-4ebd-bea2-f997a4b9a7ea\files\deck\img\x29.png">    </p:cNvPr>
          <p:cNvPicPr>
            <a:picLocks noChangeAspect="1"/>
          </p:cNvPicPr>
          <p:nvPr/>
        </p:nvPicPr>
        <p:blipFill>
          <a:blip r:embed="rId6"/>
          <a:stretch>
            <a:fillRect/>
          </a:stretch>
        </p:blipFill>
        <p:spPr>
          <a:xfrm>
            <a:off x="9160510" y="5031740"/>
            <a:ext cx="1555750" cy="8712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438912" y="237744"/>
            <a:ext cx="8229600" cy="1188720"/>
          </a:xfrm>
          <a:prstGeom prst="rect">
            <a:avLst/>
          </a:prstGeom>
          <a:noFill/>
          <a:ln/>
        </p:spPr>
        <p:txBody>
          <a:bodyPr wrap="square" lIns="0" tIns="0" rIns="0" bIns="0" rtlCol="0" anchor="t"/>
          <a:lstStyle/>
          <a:p>
            <a:pPr indent="0" marL="0">
              <a:buNone/>
            </a:pPr>
            <a:r>
              <a:rPr lang="en-US" sz="3000" b="1" dirty="0">
                <a:solidFill>
                  <a:srgbClr val="3896D2"/>
                </a:solidFill>
                <a:latin typeface="Fira Sans" pitchFamily="34" charset="0"/>
                <a:ea typeface="Fira Sans" pitchFamily="34" charset="-122"/>
                <a:cs typeface="Fira Sans" pitchFamily="34" charset="-120"/>
              </a:rPr>
              <a:t>Welcome to today's class, before we begin, pop into the chat:</a:t>
            </a:r>
            <a:endParaRPr lang="en-US" sz="3000" dirty="0"/>
          </a:p>
        </p:txBody>
      </p:sp>
      <p:sp>
        <p:nvSpPr>
          <p:cNvPr id="4" name="Shape 1"/>
          <p:cNvSpPr/>
          <p:nvPr/>
        </p:nvSpPr>
        <p:spPr>
          <a:xfrm flipH="1" flipV="1">
            <a:off x="4251960" y="3044952"/>
            <a:ext cx="1399032" cy="1280160"/>
          </a:xfrm>
          <a:prstGeom prst="line">
            <a:avLst/>
          </a:prstGeom>
          <a:noFill/>
          <a:ln w="19050">
            <a:solidFill>
              <a:srgbClr val="F59E0B"/>
            </a:solidFill>
            <a:prstDash val="solid"/>
          </a:ln>
        </p:spPr>
      </p:sp>
      <p:sp>
        <p:nvSpPr>
          <p:cNvPr id="5" name="Shape 2"/>
          <p:cNvSpPr/>
          <p:nvPr/>
        </p:nvSpPr>
        <p:spPr>
          <a:xfrm>
            <a:off x="3739896" y="2532888"/>
            <a:ext cx="1024128" cy="1024128"/>
          </a:xfrm>
          <a:prstGeom prst="ellipse">
            <a:avLst/>
          </a:prstGeom>
          <a:solidFill>
            <a:srgbClr val="FBB831"/>
          </a:solidFill>
          <a:ln w="12700">
            <a:solidFill>
              <a:srgbClr val="FBB831"/>
            </a:solidFill>
            <a:prstDash val="solid"/>
          </a:ln>
        </p:spPr>
      </p:sp>
      <p:pic>
        <p:nvPicPr>
          <p:cNvPr id="6" name="Image 1" descr="C:\Users\jeesingh\.copilot\session-state\b8ab4bc6-faf5-4ebd-bea2-f997a4b9a7ea\files\deck\img\x46.png">    </p:cNvPr>
          <p:cNvPicPr>
            <a:picLocks noChangeAspect="1"/>
          </p:cNvPicPr>
          <p:nvPr/>
        </p:nvPicPr>
        <p:blipFill>
          <a:blip r:embed="rId2"/>
          <a:stretch>
            <a:fillRect/>
          </a:stretch>
        </p:blipFill>
        <p:spPr>
          <a:xfrm>
            <a:off x="3979926" y="2779776"/>
            <a:ext cx="544068" cy="512064"/>
          </a:xfrm>
          <a:prstGeom prst="rect">
            <a:avLst/>
          </a:prstGeom>
        </p:spPr>
      </p:pic>
      <p:sp>
        <p:nvSpPr>
          <p:cNvPr id="7" name="Shape 3"/>
          <p:cNvSpPr/>
          <p:nvPr/>
        </p:nvSpPr>
        <p:spPr>
          <a:xfrm flipV="1">
            <a:off x="5650992" y="3044952"/>
            <a:ext cx="1389888" cy="1280160"/>
          </a:xfrm>
          <a:prstGeom prst="line">
            <a:avLst/>
          </a:prstGeom>
          <a:noFill/>
          <a:ln w="19050">
            <a:solidFill>
              <a:srgbClr val="F59E0B"/>
            </a:solidFill>
            <a:prstDash val="solid"/>
          </a:ln>
        </p:spPr>
      </p:sp>
      <p:sp>
        <p:nvSpPr>
          <p:cNvPr id="8" name="Shape 4"/>
          <p:cNvSpPr/>
          <p:nvPr/>
        </p:nvSpPr>
        <p:spPr>
          <a:xfrm>
            <a:off x="6528816" y="2532888"/>
            <a:ext cx="1024128" cy="1024128"/>
          </a:xfrm>
          <a:prstGeom prst="ellipse">
            <a:avLst/>
          </a:prstGeom>
          <a:solidFill>
            <a:srgbClr val="FB8569"/>
          </a:solidFill>
          <a:ln w="12700">
            <a:solidFill>
              <a:srgbClr val="FB8569"/>
            </a:solidFill>
            <a:prstDash val="solid"/>
          </a:ln>
        </p:spPr>
      </p:sp>
      <p:pic>
        <p:nvPicPr>
          <p:cNvPr id="9" name="Image 2" descr="C:\Users\jeesingh\.copilot\session-state\b8ab4bc6-faf5-4ebd-bea2-f997a4b9a7ea\files\deck\img\x48.png">    </p:cNvPr>
          <p:cNvPicPr>
            <a:picLocks noChangeAspect="1"/>
          </p:cNvPicPr>
          <p:nvPr/>
        </p:nvPicPr>
        <p:blipFill>
          <a:blip r:embed="rId3"/>
          <a:stretch>
            <a:fillRect/>
          </a:stretch>
        </p:blipFill>
        <p:spPr>
          <a:xfrm>
            <a:off x="6768846" y="2779776"/>
            <a:ext cx="544068" cy="512064"/>
          </a:xfrm>
          <a:prstGeom prst="rect">
            <a:avLst/>
          </a:prstGeom>
        </p:spPr>
      </p:pic>
      <p:sp>
        <p:nvSpPr>
          <p:cNvPr id="10" name="Shape 5"/>
          <p:cNvSpPr/>
          <p:nvPr/>
        </p:nvSpPr>
        <p:spPr>
          <a:xfrm flipH="1">
            <a:off x="4251960" y="4325112"/>
            <a:ext cx="1399032" cy="1298448"/>
          </a:xfrm>
          <a:prstGeom prst="line">
            <a:avLst/>
          </a:prstGeom>
          <a:noFill/>
          <a:ln w="19050">
            <a:solidFill>
              <a:srgbClr val="F59E0B"/>
            </a:solidFill>
            <a:prstDash val="solid"/>
          </a:ln>
        </p:spPr>
      </p:sp>
      <p:sp>
        <p:nvSpPr>
          <p:cNvPr id="11" name="Shape 6"/>
          <p:cNvSpPr/>
          <p:nvPr/>
        </p:nvSpPr>
        <p:spPr>
          <a:xfrm>
            <a:off x="3739896" y="5111496"/>
            <a:ext cx="1024128" cy="1024128"/>
          </a:xfrm>
          <a:prstGeom prst="ellipse">
            <a:avLst/>
          </a:prstGeom>
          <a:solidFill>
            <a:srgbClr val="E850E0"/>
          </a:solidFill>
          <a:ln w="12700">
            <a:solidFill>
              <a:srgbClr val="E850E0"/>
            </a:solidFill>
            <a:prstDash val="solid"/>
          </a:ln>
        </p:spPr>
      </p:sp>
      <p:pic>
        <p:nvPicPr>
          <p:cNvPr id="12" name="Image 3" descr="C:\Users\jeesingh\.copilot\session-state\b8ab4bc6-faf5-4ebd-bea2-f997a4b9a7ea\files\deck\img\x49.png">    </p:cNvPr>
          <p:cNvPicPr>
            <a:picLocks noChangeAspect="1"/>
          </p:cNvPicPr>
          <p:nvPr/>
        </p:nvPicPr>
        <p:blipFill>
          <a:blip r:embed="rId4"/>
          <a:stretch>
            <a:fillRect/>
          </a:stretch>
        </p:blipFill>
        <p:spPr>
          <a:xfrm>
            <a:off x="3979926" y="5358384"/>
            <a:ext cx="544068" cy="512064"/>
          </a:xfrm>
          <a:prstGeom prst="rect">
            <a:avLst/>
          </a:prstGeom>
        </p:spPr>
      </p:pic>
      <p:sp>
        <p:nvSpPr>
          <p:cNvPr id="13" name="Shape 7"/>
          <p:cNvSpPr/>
          <p:nvPr/>
        </p:nvSpPr>
        <p:spPr>
          <a:xfrm>
            <a:off x="5650992" y="4325112"/>
            <a:ext cx="1389888" cy="1298448"/>
          </a:xfrm>
          <a:prstGeom prst="line">
            <a:avLst/>
          </a:prstGeom>
          <a:noFill/>
          <a:ln w="19050">
            <a:solidFill>
              <a:srgbClr val="F59E0B"/>
            </a:solidFill>
            <a:prstDash val="solid"/>
          </a:ln>
        </p:spPr>
      </p:sp>
      <p:sp>
        <p:nvSpPr>
          <p:cNvPr id="14" name="Shape 8"/>
          <p:cNvSpPr/>
          <p:nvPr/>
        </p:nvSpPr>
        <p:spPr>
          <a:xfrm>
            <a:off x="6528816" y="5111496"/>
            <a:ext cx="1024128" cy="1024128"/>
          </a:xfrm>
          <a:prstGeom prst="ellipse">
            <a:avLst/>
          </a:prstGeom>
          <a:solidFill>
            <a:srgbClr val="FB569C"/>
          </a:solidFill>
          <a:ln w="12700">
            <a:solidFill>
              <a:srgbClr val="FB569C"/>
            </a:solidFill>
            <a:prstDash val="solid"/>
          </a:ln>
        </p:spPr>
      </p:sp>
      <p:pic>
        <p:nvPicPr>
          <p:cNvPr id="15" name="Image 4" descr="C:\Users\jeesingh\.copilot\session-state\b8ab4bc6-faf5-4ebd-bea2-f997a4b9a7ea\files\deck\img\x50.png">    </p:cNvPr>
          <p:cNvPicPr>
            <a:picLocks noChangeAspect="1"/>
          </p:cNvPicPr>
          <p:nvPr/>
        </p:nvPicPr>
        <p:blipFill>
          <a:blip r:embed="rId5"/>
          <a:stretch>
            <a:fillRect/>
          </a:stretch>
        </p:blipFill>
        <p:spPr>
          <a:xfrm>
            <a:off x="6768846" y="5358384"/>
            <a:ext cx="544068" cy="512064"/>
          </a:xfrm>
          <a:prstGeom prst="rect">
            <a:avLst/>
          </a:prstGeom>
        </p:spPr>
      </p:pic>
      <p:sp>
        <p:nvSpPr>
          <p:cNvPr id="16" name="Shape 9"/>
          <p:cNvSpPr/>
          <p:nvPr/>
        </p:nvSpPr>
        <p:spPr>
          <a:xfrm>
            <a:off x="4864608" y="3547872"/>
            <a:ext cx="1563624" cy="1563624"/>
          </a:xfrm>
          <a:prstGeom prst="ellipse">
            <a:avLst/>
          </a:prstGeom>
          <a:solidFill>
            <a:srgbClr val="FFFFFF"/>
          </a:solidFill>
          <a:ln w="12700">
            <a:solidFill>
              <a:srgbClr val="FFFFFF"/>
            </a:solidFill>
            <a:prstDash val="solid"/>
          </a:ln>
        </p:spPr>
      </p:sp>
      <p:sp>
        <p:nvSpPr>
          <p:cNvPr id="17" name="Shape 10"/>
          <p:cNvSpPr/>
          <p:nvPr/>
        </p:nvSpPr>
        <p:spPr>
          <a:xfrm>
            <a:off x="4974336" y="3666744"/>
            <a:ext cx="1335024" cy="1335024"/>
          </a:xfrm>
          <a:prstGeom prst="ellipse">
            <a:avLst/>
          </a:prstGeom>
          <a:solidFill>
            <a:srgbClr val="EEEEEE"/>
          </a:solidFill>
          <a:ln w="12700">
            <a:solidFill>
              <a:srgbClr val="EEEEEE"/>
            </a:solidFill>
            <a:prstDash val="solid"/>
          </a:ln>
        </p:spPr>
      </p:sp>
      <p:sp>
        <p:nvSpPr>
          <p:cNvPr id="18" name="Text 11"/>
          <p:cNvSpPr/>
          <p:nvPr/>
        </p:nvSpPr>
        <p:spPr>
          <a:xfrm>
            <a:off x="1463040" y="2697480"/>
            <a:ext cx="2377440" cy="914400"/>
          </a:xfrm>
          <a:prstGeom prst="rect">
            <a:avLst/>
          </a:prstGeom>
          <a:noFill/>
          <a:ln/>
        </p:spPr>
        <p:txBody>
          <a:bodyPr wrap="square" rtlCol="0" anchor="ctr"/>
          <a:lstStyle/>
          <a:p>
            <a:pPr algn="ctr" indent="0" marL="0">
              <a:buNone/>
            </a:pPr>
            <a:r>
              <a:rPr lang="en-US" sz="2400" dirty="0">
                <a:solidFill>
                  <a:srgbClr val="FFFFFF"/>
                </a:solidFill>
                <a:latin typeface="Fira Sans" pitchFamily="34" charset="0"/>
                <a:ea typeface="Fira Sans" pitchFamily="34" charset="-122"/>
                <a:cs typeface="Fira Sans" pitchFamily="34" charset="-120"/>
              </a:rPr>
              <a:t>Hannah</a:t>
            </a:r>
            <a:endParaRPr lang="en-US" sz="2400" dirty="0"/>
          </a:p>
          <a:p>
            <a:pPr algn="ctr" indent="0" marL="0">
              <a:buNone/>
            </a:pPr>
            <a:r>
              <a:rPr lang="en-US" sz="2400" dirty="0">
                <a:solidFill>
                  <a:srgbClr val="FFFFFF"/>
                </a:solidFill>
                <a:latin typeface="Fira Sans" pitchFamily="34" charset="0"/>
                <a:ea typeface="Fira Sans" pitchFamily="34" charset="-122"/>
                <a:cs typeface="Fira Sans" pitchFamily="34" charset="-120"/>
              </a:rPr>
              <a:t>Chen</a:t>
            </a:r>
            <a:endParaRPr lang="en-US" sz="2400" dirty="0"/>
          </a:p>
        </p:txBody>
      </p:sp>
      <p:sp>
        <p:nvSpPr>
          <p:cNvPr id="19" name="Text 12"/>
          <p:cNvSpPr/>
          <p:nvPr/>
        </p:nvSpPr>
        <p:spPr>
          <a:xfrm>
            <a:off x="8229600" y="2697480"/>
            <a:ext cx="2377440" cy="914400"/>
          </a:xfrm>
          <a:prstGeom prst="rect">
            <a:avLst/>
          </a:prstGeom>
          <a:noFill/>
          <a:ln/>
        </p:spPr>
        <p:txBody>
          <a:bodyPr wrap="square" rtlCol="0" anchor="ctr"/>
          <a:lstStyle/>
          <a:p>
            <a:pPr algn="ctr" indent="0" marL="0">
              <a:buNone/>
            </a:pPr>
            <a:r>
              <a:rPr lang="en-US" sz="2400" dirty="0">
                <a:solidFill>
                  <a:srgbClr val="FFFFFF"/>
                </a:solidFill>
                <a:latin typeface="Fira Sans" pitchFamily="34" charset="0"/>
                <a:ea typeface="Fira Sans" pitchFamily="34" charset="-122"/>
                <a:cs typeface="Fira Sans" pitchFamily="34" charset="-120"/>
              </a:rPr>
              <a:t>Data</a:t>
            </a:r>
            <a:endParaRPr lang="en-US" sz="2400" dirty="0"/>
          </a:p>
          <a:p>
            <a:pPr algn="ctr" indent="0" marL="0">
              <a:buNone/>
            </a:pPr>
            <a:r>
              <a:rPr lang="en-US" sz="2400" dirty="0">
                <a:solidFill>
                  <a:srgbClr val="FFFFFF"/>
                </a:solidFill>
                <a:latin typeface="Fira Sans" pitchFamily="34" charset="0"/>
                <a:ea typeface="Fira Sans" pitchFamily="34" charset="-122"/>
                <a:cs typeface="Fira Sans" pitchFamily="34" charset="-120"/>
              </a:rPr>
              <a:t>Scientist</a:t>
            </a:r>
            <a:endParaRPr lang="en-US" sz="2400" dirty="0"/>
          </a:p>
        </p:txBody>
      </p:sp>
      <p:sp>
        <p:nvSpPr>
          <p:cNvPr id="20" name="Text 13"/>
          <p:cNvSpPr/>
          <p:nvPr/>
        </p:nvSpPr>
        <p:spPr>
          <a:xfrm>
            <a:off x="1463040" y="5349240"/>
            <a:ext cx="2377440" cy="914400"/>
          </a:xfrm>
          <a:prstGeom prst="rect">
            <a:avLst/>
          </a:prstGeom>
          <a:noFill/>
          <a:ln/>
        </p:spPr>
        <p:txBody>
          <a:bodyPr wrap="square" rtlCol="0" anchor="ctr"/>
          <a:lstStyle/>
          <a:p>
            <a:pPr algn="ctr" indent="0" marL="0">
              <a:buNone/>
            </a:pPr>
            <a:r>
              <a:rPr lang="en-US" sz="2400" dirty="0">
                <a:solidFill>
                  <a:srgbClr val="FFFFFF"/>
                </a:solidFill>
                <a:latin typeface="Fira Sans" pitchFamily="34" charset="0"/>
                <a:ea typeface="Fira Sans" pitchFamily="34" charset="-122"/>
                <a:cs typeface="Fira Sans" pitchFamily="34" charset="-120"/>
              </a:rPr>
              <a:t>Bay Area</a:t>
            </a:r>
            <a:endParaRPr lang="en-US" sz="2400" dirty="0"/>
          </a:p>
        </p:txBody>
      </p:sp>
      <p:sp>
        <p:nvSpPr>
          <p:cNvPr id="21" name="Text 14"/>
          <p:cNvSpPr/>
          <p:nvPr/>
        </p:nvSpPr>
        <p:spPr>
          <a:xfrm>
            <a:off x="8229600" y="5349240"/>
            <a:ext cx="2377440" cy="914400"/>
          </a:xfrm>
          <a:prstGeom prst="rect">
            <a:avLst/>
          </a:prstGeom>
          <a:noFill/>
          <a:ln/>
        </p:spPr>
        <p:txBody>
          <a:bodyPr wrap="square" rtlCol="0" anchor="ctr"/>
          <a:lstStyle/>
          <a:p>
            <a:pPr algn="ctr" indent="0" marL="0">
              <a:buNone/>
            </a:pPr>
            <a:r>
              <a:rPr lang="en-US" sz="2400" dirty="0">
                <a:solidFill>
                  <a:srgbClr val="FFFFFF"/>
                </a:solidFill>
                <a:latin typeface="Fira Sans" pitchFamily="34" charset="0"/>
                <a:ea typeface="Fira Sans" pitchFamily="34" charset="-122"/>
                <a:cs typeface="Fira Sans" pitchFamily="34" charset="-120"/>
              </a:rPr>
              <a:t>Grammarly,</a:t>
            </a:r>
            <a:endParaRPr lang="en-US" sz="2400" dirty="0"/>
          </a:p>
          <a:p>
            <a:pPr algn="ctr" indent="0" marL="0">
              <a:buNone/>
            </a:pPr>
            <a:r>
              <a:rPr lang="en-US" sz="2400" dirty="0">
                <a:solidFill>
                  <a:srgbClr val="FFFFFF"/>
                </a:solidFill>
                <a:latin typeface="Fira Sans" pitchFamily="34" charset="0"/>
                <a:ea typeface="Fira Sans" pitchFamily="34" charset="-122"/>
                <a:cs typeface="Fira Sans" pitchFamily="34" charset="-120"/>
              </a:rPr>
              <a:t>ex-Uber</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24158"/>
        </a:solidFill>
      </p:bgPr>
    </p:bg>
    <p:spTree>
      <p:nvGrpSpPr>
        <p:cNvPr id="1" name=""/>
        <p:cNvGrpSpPr/>
        <p:nvPr/>
      </p:nvGrpSpPr>
      <p:grpSpPr>
        <a:xfrm>
          <a:off x="0" y="0"/>
          <a:ext cx="0" cy="0"/>
          <a:chOff x="0" y="0"/>
          <a:chExt cx="0" cy="0"/>
        </a:xfrm>
      </p:grpSpPr>
      <p:sp>
        <p:nvSpPr>
          <p:cNvPr id="2" name="Shape 0"/>
          <p:cNvSpPr/>
          <p:nvPr/>
        </p:nvSpPr>
        <p:spPr>
          <a:xfrm>
            <a:off x="0" y="0"/>
            <a:ext cx="3063240" cy="6858000"/>
          </a:xfrm>
          <a:prstGeom prst="rect">
            <a:avLst/>
          </a:prstGeom>
          <a:solidFill>
            <a:srgbClr val="3896D2"/>
          </a:solidFill>
          <a:ln w="12700">
            <a:solidFill>
              <a:srgbClr val="3896D2"/>
            </a:solidFill>
            <a:prstDash val="solid"/>
          </a:ln>
        </p:spPr>
      </p:sp>
      <p:pic>
        <p:nvPicPr>
          <p:cNvPr id="3"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4" name="Text 1"/>
          <p:cNvSpPr/>
          <p:nvPr/>
        </p:nvSpPr>
        <p:spPr>
          <a:xfrm>
            <a:off x="320040" y="868680"/>
            <a:ext cx="2468880" cy="1463040"/>
          </a:xfrm>
          <a:prstGeom prst="rect">
            <a:avLst/>
          </a:prstGeom>
          <a:noFill/>
          <a:ln/>
        </p:spPr>
        <p:txBody>
          <a:bodyPr wrap="square" rtlCol="0" anchor="ctr"/>
          <a:lstStyle/>
          <a:p>
            <a:pPr algn="ctr" indent="0" marL="0">
              <a:buNone/>
            </a:pPr>
            <a:r>
              <a:rPr lang="en-US" sz="3600" b="1" dirty="0">
                <a:solidFill>
                  <a:srgbClr val="FFFFFF"/>
                </a:solidFill>
                <a:latin typeface="Fira Sans" pitchFamily="34" charset="0"/>
                <a:ea typeface="Fira Sans" pitchFamily="34" charset="-122"/>
                <a:cs typeface="Fira Sans" pitchFamily="34" charset="-120"/>
              </a:rPr>
              <a:t>Structure of Class</a:t>
            </a:r>
            <a:endParaRPr lang="en-US" sz="3600" dirty="0"/>
          </a:p>
        </p:txBody>
      </p:sp>
      <p:sp>
        <p:nvSpPr>
          <p:cNvPr id="5" name="Text 2"/>
          <p:cNvSpPr/>
          <p:nvPr/>
        </p:nvSpPr>
        <p:spPr>
          <a:xfrm>
            <a:off x="3611880" y="960120"/>
            <a:ext cx="7772400" cy="914400"/>
          </a:xfrm>
          <a:prstGeom prst="rect">
            <a:avLst/>
          </a:prstGeom>
          <a:noFill/>
          <a:ln/>
        </p:spPr>
        <p:txBody>
          <a:bodyPr wrap="square" rtlCol="0" anchor="ctr"/>
          <a:lstStyle/>
          <a:p>
            <a:pPr indent="0" marL="0">
              <a:spcAft>
                <a:spcPts val="1000"/>
              </a:spcAft>
              <a:buNone/>
            </a:pPr>
            <a:r>
              <a:rPr lang="en-US" sz="2100" b="1" dirty="0">
                <a:solidFill>
                  <a:srgbClr val="1FC2BA"/>
                </a:solidFill>
                <a:latin typeface="Fira Sans" pitchFamily="34" charset="0"/>
                <a:ea typeface="Fira Sans" pitchFamily="34" charset="-122"/>
                <a:cs typeface="Fira Sans" pitchFamily="34" charset="-120"/>
              </a:rPr>
              <a:t>1.  Sunday Class - 4 hr (Sunday)</a:t>
            </a:r>
            <a:endParaRPr lang="en-US" sz="2100" dirty="0"/>
          </a:p>
          <a:p>
            <a:pPr indent="0" marL="0">
              <a:spcAft>
                <a:spcPts val="1000"/>
              </a:spcAft>
              <a:buNone/>
            </a:pPr>
            <a:r>
              <a:rPr lang="en-US" sz="2100" b="1" dirty="0">
                <a:solidFill>
                  <a:srgbClr val="FFFFFF"/>
                </a:solidFill>
                <a:latin typeface="Fira Sans" pitchFamily="34" charset="0"/>
                <a:ea typeface="Fira Sans" pitchFamily="34" charset="-122"/>
                <a:cs typeface="Fira Sans" pitchFamily="34" charset="-120"/>
              </a:rPr>
              <a:t>2.  Assignments - </a:t>
            </a:r>
            <a:r>
              <a:rPr lang="en-US" sz="2100" dirty="0">
                <a:solidFill>
                  <a:srgbClr val="FFFFFF"/>
                </a:solidFill>
                <a:latin typeface="Fira Sans" pitchFamily="34" charset="0"/>
                <a:ea typeface="Fira Sans" pitchFamily="34" charset="-122"/>
                <a:cs typeface="Fira Sans" pitchFamily="34" charset="-120"/>
              </a:rPr>
              <a:t>MCQ &amp; Coding Assignment</a:t>
            </a:r>
            <a:endParaRPr lang="en-US" sz="2100" dirty="0"/>
          </a:p>
        </p:txBody>
      </p:sp>
      <p:pic>
        <p:nvPicPr>
          <p:cNvPr id="6" name="Image 1" descr="C:\Users\jeesingh\.copilot\session-state\b8ab4bc6-faf5-4ebd-bea2-f997a4b9a7ea\files\deck\img\x70.png">    </p:cNvPr>
          <p:cNvPicPr>
            <a:picLocks noChangeAspect="1"/>
          </p:cNvPicPr>
          <p:nvPr/>
        </p:nvPicPr>
        <p:blipFill>
          <a:blip r:embed="rId2"/>
          <a:stretch>
            <a:fillRect/>
          </a:stretch>
        </p:blipFill>
        <p:spPr>
          <a:xfrm>
            <a:off x="3503930" y="4004310"/>
            <a:ext cx="4042410" cy="2631440"/>
          </a:xfrm>
          <a:prstGeom prst="rect">
            <a:avLst/>
          </a:prstGeom>
        </p:spPr>
      </p:pic>
      <p:pic>
        <p:nvPicPr>
          <p:cNvPr id="7" name="Image 2" descr="C:\Users\jeesingh\.copilot\session-state\b8ab4bc6-faf5-4ebd-bea2-f997a4b9a7ea\files\deck\img\x69.png">    </p:cNvPr>
          <p:cNvPicPr>
            <a:picLocks noChangeAspect="1"/>
          </p:cNvPicPr>
          <p:nvPr/>
        </p:nvPicPr>
        <p:blipFill>
          <a:blip r:embed="rId3"/>
          <a:stretch>
            <a:fillRect/>
          </a:stretch>
        </p:blipFill>
        <p:spPr>
          <a:xfrm>
            <a:off x="8357870" y="3398520"/>
            <a:ext cx="3048000" cy="234569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438912" y="237744"/>
            <a:ext cx="6400800" cy="640080"/>
          </a:xfrm>
          <a:prstGeom prst="rect">
            <a:avLst/>
          </a:prstGeom>
          <a:noFill/>
          <a:ln/>
        </p:spPr>
        <p:txBody>
          <a:bodyPr wrap="square" lIns="0" tIns="0" rIns="0" bIns="0" rtlCol="0" anchor="ctr"/>
          <a:lstStyle/>
          <a:p>
            <a:pPr indent="0" marL="0">
              <a:buNone/>
            </a:pPr>
            <a:r>
              <a:rPr lang="en-US" sz="3600" b="1" dirty="0">
                <a:solidFill>
                  <a:srgbClr val="3896D2"/>
                </a:solidFill>
                <a:latin typeface="Fira Sans" pitchFamily="34" charset="0"/>
                <a:ea typeface="Fira Sans" pitchFamily="34" charset="-122"/>
                <a:cs typeface="Fira Sans" pitchFamily="34" charset="-120"/>
              </a:rPr>
              <a:t>Optimize Your Experience</a:t>
            </a:r>
            <a:endParaRPr lang="en-US" sz="3600" dirty="0"/>
          </a:p>
        </p:txBody>
      </p:sp>
      <p:sp>
        <p:nvSpPr>
          <p:cNvPr id="4" name="Text 1"/>
          <p:cNvSpPr/>
          <p:nvPr/>
        </p:nvSpPr>
        <p:spPr>
          <a:xfrm>
            <a:off x="640080" y="1737360"/>
            <a:ext cx="7315200" cy="914400"/>
          </a:xfrm>
          <a:prstGeom prst="rect">
            <a:avLst/>
          </a:prstGeom>
          <a:noFill/>
          <a:ln/>
        </p:spPr>
        <p:txBody>
          <a:bodyPr wrap="square" rtlCol="0" anchor="ctr"/>
          <a:lstStyle/>
          <a:p>
            <a:pPr indent="0" marL="0">
              <a:spcAft>
                <a:spcPts val="800"/>
              </a:spcAft>
              <a:buNone/>
            </a:pPr>
            <a:r>
              <a:rPr lang="en-US" sz="2000" dirty="0">
                <a:solidFill>
                  <a:srgbClr val="FFFFFF"/>
                </a:solidFill>
                <a:latin typeface="Fira Sans" pitchFamily="34" charset="0"/>
                <a:ea typeface="Fira Sans" pitchFamily="34" charset="-122"/>
                <a:cs typeface="Fira Sans" pitchFamily="34" charset="-120"/>
              </a:rPr>
              <a:t>✅  Interact with your instructors via Sunday live class.</a:t>
            </a:r>
            <a:endParaRPr lang="en-US" sz="2000" dirty="0"/>
          </a:p>
          <a:p>
            <a:pPr indent="0" marL="0">
              <a:spcAft>
                <a:spcPts val="800"/>
              </a:spcAft>
              <a:buNone/>
            </a:pPr>
            <a:r>
              <a:rPr lang="en-US" sz="2000" dirty="0">
                <a:solidFill>
                  <a:srgbClr val="FFFFFF"/>
                </a:solidFill>
                <a:latin typeface="Fira Sans" pitchFamily="34" charset="0"/>
                <a:ea typeface="Fira Sans" pitchFamily="34" charset="-122"/>
                <a:cs typeface="Fira Sans" pitchFamily="34" charset="-120"/>
              </a:rPr>
              <a:t>✅  Don't be shy to speak up and get clarifications !</a:t>
            </a:r>
            <a:endParaRPr lang="en-US" sz="2000" dirty="0"/>
          </a:p>
        </p:txBody>
      </p:sp>
      <p:sp>
        <p:nvSpPr>
          <p:cNvPr id="5" name="Text 2"/>
          <p:cNvSpPr/>
          <p:nvPr/>
        </p:nvSpPr>
        <p:spPr>
          <a:xfrm>
            <a:off x="3611880" y="4434840"/>
            <a:ext cx="7863840" cy="1737360"/>
          </a:xfrm>
          <a:prstGeom prst="rect">
            <a:avLst/>
          </a:prstGeom>
          <a:noFill/>
          <a:ln/>
        </p:spPr>
        <p:txBody>
          <a:bodyPr wrap="square" rtlCol="0" anchor="ctr"/>
          <a:lstStyle/>
          <a:p>
            <a:pPr indent="0" marL="0">
              <a:spcAft>
                <a:spcPts val="800"/>
              </a:spcAft>
              <a:buNone/>
            </a:pPr>
            <a:r>
              <a:rPr lang="en-US" sz="2000" dirty="0">
                <a:solidFill>
                  <a:srgbClr val="FFFFFF"/>
                </a:solidFill>
                <a:latin typeface="Fira Sans" pitchFamily="34" charset="0"/>
                <a:ea typeface="Fira Sans" pitchFamily="34" charset="-122"/>
                <a:cs typeface="Fira Sans" pitchFamily="34" charset="-120"/>
              </a:rPr>
              <a:t>✅  Solve your assignments, MCQs and other assessments and get feedback (Thursday review session)</a:t>
            </a:r>
            <a:endParaRPr lang="en-US" sz="2000" dirty="0"/>
          </a:p>
          <a:p>
            <a:pPr indent="0" marL="0">
              <a:spcAft>
                <a:spcPts val="800"/>
              </a:spcAft>
              <a:buNone/>
            </a:pPr>
            <a:r>
              <a:rPr lang="en-US" sz="2000" dirty="0">
                <a:solidFill>
                  <a:srgbClr val="FFFFFF"/>
                </a:solidFill>
                <a:latin typeface="Fira Sans" pitchFamily="34" charset="0"/>
                <a:ea typeface="Fira Sans" pitchFamily="34" charset="-122"/>
                <a:cs typeface="Fira Sans" pitchFamily="34" charset="-120"/>
              </a:rPr>
              <a:t>✅  Use your resources! It's your experience – what you put in is what you'll get out.</a:t>
            </a:r>
            <a:endParaRPr lang="en-US" sz="2000" dirty="0"/>
          </a:p>
        </p:txBody>
      </p:sp>
      <p:pic>
        <p:nvPicPr>
          <p:cNvPr id="6" name="Image 1" descr="C:\Users\jeesingh\.copilot\session-state\b8ab4bc6-faf5-4ebd-bea2-f997a4b9a7ea\files\deck\img\x81.png">    </p:cNvPr>
          <p:cNvPicPr>
            <a:picLocks noChangeAspect="1"/>
          </p:cNvPicPr>
          <p:nvPr/>
        </p:nvPicPr>
        <p:blipFill>
          <a:blip r:embed="rId2"/>
          <a:stretch>
            <a:fillRect/>
          </a:stretch>
        </p:blipFill>
        <p:spPr>
          <a:xfrm>
            <a:off x="7839710" y="1054100"/>
            <a:ext cx="3017520" cy="3017520"/>
          </a:xfrm>
          <a:prstGeom prst="ellipse">
            <a:avLst/>
          </a:prstGeom>
        </p:spPr>
      </p:pic>
      <p:pic>
        <p:nvPicPr>
          <p:cNvPr id="7" name="Image 2" descr="C:\Users\jeesingh\.copilot\session-state\b8ab4bc6-faf5-4ebd-bea2-f997a4b9a7ea\files\deck\img\x82.png">    </p:cNvPr>
          <p:cNvPicPr>
            <a:picLocks noChangeAspect="1"/>
          </p:cNvPicPr>
          <p:nvPr/>
        </p:nvPicPr>
        <p:blipFill>
          <a:blip r:embed="rId3"/>
          <a:stretch>
            <a:fillRect/>
          </a:stretch>
        </p:blipFill>
        <p:spPr>
          <a:xfrm>
            <a:off x="267970" y="3576320"/>
            <a:ext cx="2942590" cy="2942590"/>
          </a:xfrm>
          <a:prstGeom prst="ellipse">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1371600" y="914400"/>
            <a:ext cx="9418320" cy="2194560"/>
          </a:xfrm>
          <a:prstGeom prst="rect">
            <a:avLst/>
          </a:prstGeom>
          <a:noFill/>
          <a:ln/>
        </p:spPr>
        <p:txBody>
          <a:bodyPr wrap="square" rtlCol="0" anchor="ctr"/>
          <a:lstStyle/>
          <a:p>
            <a:pPr algn="ctr" indent="0" marL="0">
              <a:spcAft>
                <a:spcPts val="600"/>
              </a:spcAft>
              <a:buNone/>
            </a:pPr>
            <a:r>
              <a:rPr lang="en-US" sz="3600" b="1" dirty="0">
                <a:solidFill>
                  <a:srgbClr val="3896D2"/>
                </a:solidFill>
                <a:latin typeface="Fira Sans" pitchFamily="34" charset="0"/>
                <a:ea typeface="Fira Sans" pitchFamily="34" charset="-122"/>
                <a:cs typeface="Fira Sans" pitchFamily="34" charset="-120"/>
              </a:rPr>
              <a:t>Don't worry!</a:t>
            </a:r>
            <a:endParaRPr lang="en-US" sz="3600" dirty="0"/>
          </a:p>
          <a:p>
            <a:pPr algn="ctr" indent="0" marL="0">
              <a:spcAft>
                <a:spcPts val="600"/>
              </a:spcAft>
              <a:buNone/>
            </a:pPr>
            <a:r>
              <a:rPr lang="en-US" sz="3600" b="1" dirty="0">
                <a:solidFill>
                  <a:srgbClr val="3896D2"/>
                </a:solidFill>
                <a:latin typeface="Fira Sans" pitchFamily="34" charset="0"/>
                <a:ea typeface="Fira Sans" pitchFamily="34" charset="-122"/>
                <a:cs typeface="Fira Sans" pitchFamily="34" charset="-120"/>
              </a:rPr>
              <a:t>We are here to help at your every step !</a:t>
            </a:r>
            <a:endParaRPr lang="en-US" sz="3600" dirty="0"/>
          </a:p>
          <a:p>
            <a:pPr algn="ctr" indent="0" marL="0">
              <a:spcAft>
                <a:spcPts val="600"/>
              </a:spcAft>
              <a:buNone/>
            </a:pPr>
            <a:r>
              <a:rPr lang="en-US" sz="3600" b="1" dirty="0">
                <a:solidFill>
                  <a:srgbClr val="FFAB40"/>
                </a:solidFill>
                <a:latin typeface="Fira Sans" pitchFamily="34" charset="0"/>
                <a:ea typeface="Fira Sans" pitchFamily="34" charset="-122"/>
                <a:cs typeface="Fira Sans" pitchFamily="34" charset="-120"/>
              </a:rPr>
              <a:t>But, how???</a:t>
            </a:r>
            <a:endParaRPr lang="en-US" sz="3600" dirty="0"/>
          </a:p>
        </p:txBody>
      </p:sp>
      <p:pic>
        <p:nvPicPr>
          <p:cNvPr id="4" name="Image 1" descr="C:\Users\jeesingh\.copilot\session-state\b8ab4bc6-faf5-4ebd-bea2-f997a4b9a7ea\files\deck\img\x94.png">    </p:cNvPr>
          <p:cNvPicPr>
            <a:picLocks noChangeAspect="1"/>
          </p:cNvPicPr>
          <p:nvPr/>
        </p:nvPicPr>
        <p:blipFill>
          <a:blip r:embed="rId2"/>
          <a:stretch>
            <a:fillRect/>
          </a:stretch>
        </p:blipFill>
        <p:spPr>
          <a:xfrm>
            <a:off x="7366000" y="3175000"/>
            <a:ext cx="3048000" cy="3048000"/>
          </a:xfrm>
          <a:prstGeom prst="ellipse">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24158"/>
        </a:solidFill>
      </p:bgPr>
    </p:bg>
    <p:spTree>
      <p:nvGrpSpPr>
        <p:cNvPr id="1" name=""/>
        <p:cNvGrpSpPr/>
        <p:nvPr/>
      </p:nvGrpSpPr>
      <p:grpSpPr>
        <a:xfrm>
          <a:off x="0" y="0"/>
          <a:ext cx="0" cy="0"/>
          <a:chOff x="0" y="0"/>
          <a:chExt cx="0" cy="0"/>
        </a:xfrm>
      </p:grpSpPr>
      <p:sp>
        <p:nvSpPr>
          <p:cNvPr id="2" name="Shape 0"/>
          <p:cNvSpPr/>
          <p:nvPr/>
        </p:nvSpPr>
        <p:spPr>
          <a:xfrm>
            <a:off x="0" y="0"/>
            <a:ext cx="3063240" cy="6858000"/>
          </a:xfrm>
          <a:prstGeom prst="rect">
            <a:avLst/>
          </a:prstGeom>
          <a:solidFill>
            <a:srgbClr val="3896D2"/>
          </a:solidFill>
          <a:ln w="12700">
            <a:solidFill>
              <a:srgbClr val="3896D2"/>
            </a:solidFill>
            <a:prstDash val="solid"/>
          </a:ln>
        </p:spPr>
      </p:sp>
      <p:pic>
        <p:nvPicPr>
          <p:cNvPr id="3"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4" name="Text 1"/>
          <p:cNvSpPr/>
          <p:nvPr/>
        </p:nvSpPr>
        <p:spPr>
          <a:xfrm>
            <a:off x="274320" y="914400"/>
            <a:ext cx="2514600" cy="3566160"/>
          </a:xfrm>
          <a:prstGeom prst="rect">
            <a:avLst/>
          </a:prstGeom>
          <a:noFill/>
          <a:ln/>
        </p:spPr>
        <p:txBody>
          <a:bodyPr wrap="square" rtlCol="0" anchor="ctr"/>
          <a:lstStyle/>
          <a:p>
            <a:pPr algn="ctr" indent="0" marL="0">
              <a:buNone/>
            </a:pPr>
            <a:r>
              <a:rPr lang="en-US" sz="3400" b="1" dirty="0">
                <a:solidFill>
                  <a:srgbClr val="FFFFFF"/>
                </a:solidFill>
                <a:latin typeface="Fira Sans" pitchFamily="34" charset="0"/>
                <a:ea typeface="Fira Sans" pitchFamily="34" charset="-122"/>
                <a:cs typeface="Fira Sans" pitchFamily="34" charset="-120"/>
              </a:rPr>
              <a:t>Are you using all these IK support features?</a:t>
            </a:r>
            <a:endParaRPr lang="en-US" sz="3400" dirty="0"/>
          </a:p>
        </p:txBody>
      </p:sp>
      <p:sp>
        <p:nvSpPr>
          <p:cNvPr id="5" name="Text 2"/>
          <p:cNvSpPr/>
          <p:nvPr/>
        </p:nvSpPr>
        <p:spPr>
          <a:xfrm>
            <a:off x="3520440" y="1143000"/>
            <a:ext cx="8229600" cy="4023360"/>
          </a:xfrm>
          <a:prstGeom prst="rect">
            <a:avLst/>
          </a:prstGeom>
          <a:noFill/>
          <a:ln/>
        </p:spPr>
        <p:txBody>
          <a:bodyPr wrap="square" lIns="635" tIns="635" rIns="635" bIns="635" rtlCol="0" anchor="t"/>
          <a:lstStyle/>
          <a:p>
            <a:pPr marL="342900" indent="-342900">
              <a:spcAft>
                <a:spcPts val="1200"/>
              </a:spcAft>
              <a:buSzPct val="100000"/>
              <a:buChar char="•"/>
            </a:pPr>
            <a:r>
              <a:rPr lang="en-US" sz="2000" b="1" dirty="0">
                <a:solidFill>
                  <a:srgbClr val="FB569C"/>
                </a:solidFill>
                <a:latin typeface="Fira Sans" pitchFamily="34" charset="0"/>
                <a:ea typeface="Fira Sans" pitchFamily="34" charset="-122"/>
                <a:cs typeface="Fira Sans" pitchFamily="34" charset="-120"/>
              </a:rPr>
              <a:t>Uplevel</a:t>
            </a:r>
            <a:r>
              <a:rPr lang="en-US" sz="2000" dirty="0">
                <a:solidFill>
                  <a:srgbClr val="FFFFFF"/>
                </a:solidFill>
                <a:latin typeface="Fira Sans" pitchFamily="34" charset="0"/>
                <a:ea typeface="Fira Sans" pitchFamily="34" charset="-122"/>
                <a:cs typeface="Fira Sans" pitchFamily="34" charset="-120"/>
              </a:rPr>
              <a:t> - contains all the learning resources - videos, MCQs, assignments</a:t>
            </a:r>
            <a:endParaRPr lang="en-US" sz="2000" dirty="0"/>
          </a:p>
          <a:p>
            <a:pPr marL="342900" indent="-342900">
              <a:spcAft>
                <a:spcPts val="1200"/>
              </a:spcAft>
              <a:buSzPct val="100000"/>
              <a:buChar char="•"/>
            </a:pPr>
            <a:r>
              <a:rPr lang="en-US" sz="2000" b="1" dirty="0">
                <a:solidFill>
                  <a:srgbClr val="FFFFFF"/>
                </a:solidFill>
                <a:latin typeface="Fira Sans" pitchFamily="34" charset="0"/>
                <a:ea typeface="Fira Sans" pitchFamily="34" charset="-122"/>
                <a:cs typeface="Fira Sans" pitchFamily="34" charset="-120"/>
              </a:rPr>
              <a:t>Optional </a:t>
            </a:r>
            <a:r>
              <a:rPr lang="en-US" sz="2000" dirty="0">
                <a:solidFill>
                  <a:srgbClr val="FFFFFF"/>
                </a:solidFill>
                <a:latin typeface="Fira Sans" pitchFamily="34" charset="0"/>
                <a:ea typeface="Fira Sans" pitchFamily="34" charset="-122"/>
                <a:cs typeface="Fira Sans" pitchFamily="34" charset="-120"/>
              </a:rPr>
              <a:t>Post class videos for additional reference</a:t>
            </a:r>
            <a:endParaRPr lang="en-US" sz="2000" dirty="0"/>
          </a:p>
          <a:p>
            <a:pPr marL="342900" indent="-342900">
              <a:spcAft>
                <a:spcPts val="1200"/>
              </a:spcAft>
              <a:buSzPct val="100000"/>
              <a:buChar char="•"/>
            </a:pPr>
            <a:r>
              <a:rPr lang="en-US" sz="2000" b="1" dirty="0">
                <a:solidFill>
                  <a:srgbClr val="FB569C"/>
                </a:solidFill>
                <a:latin typeface="Fira Sans" pitchFamily="34" charset="0"/>
                <a:ea typeface="Fira Sans" pitchFamily="34" charset="-122"/>
                <a:cs typeface="Fira Sans" pitchFamily="34" charset="-120"/>
              </a:rPr>
              <a:t>Technical coaching sessions</a:t>
            </a:r>
            <a:r>
              <a:rPr lang="en-US" sz="2000" dirty="0">
                <a:solidFill>
                  <a:srgbClr val="FFFFFF"/>
                </a:solidFill>
                <a:latin typeface="Fira Sans" pitchFamily="34" charset="0"/>
                <a:ea typeface="Fira Sans" pitchFamily="34" charset="-122"/>
                <a:cs typeface="Fira Sans" pitchFamily="34" charset="-120"/>
              </a:rPr>
              <a:t> on Wednesday to clarify all your queries</a:t>
            </a:r>
            <a:endParaRPr lang="en-US" sz="2000" dirty="0"/>
          </a:p>
          <a:p>
            <a:pPr marL="342900" indent="-342900">
              <a:spcAft>
                <a:spcPts val="1200"/>
              </a:spcAft>
              <a:buSzPct val="100000"/>
              <a:buChar char="•"/>
            </a:pPr>
            <a:r>
              <a:rPr lang="en-US" sz="2000" b="1" dirty="0">
                <a:solidFill>
                  <a:srgbClr val="FB569C"/>
                </a:solidFill>
                <a:latin typeface="Fira Sans" pitchFamily="34" charset="0"/>
                <a:ea typeface="Fira Sans" pitchFamily="34" charset="-122"/>
                <a:cs typeface="Fira Sans" pitchFamily="34" charset="-120"/>
              </a:rPr>
              <a:t>Discord</a:t>
            </a:r>
            <a:r>
              <a:rPr lang="en-US" sz="2000" dirty="0">
                <a:solidFill>
                  <a:srgbClr val="FFFFFF"/>
                </a:solidFill>
                <a:latin typeface="Fira Sans" pitchFamily="34" charset="0"/>
                <a:ea typeface="Fira Sans" pitchFamily="34" charset="-122"/>
                <a:cs typeface="Fira Sans" pitchFamily="34" charset="-120"/>
              </a:rPr>
              <a:t> community for peer learning</a:t>
            </a:r>
            <a:endParaRPr lang="en-US" sz="2000" dirty="0"/>
          </a:p>
          <a:p>
            <a:pPr marL="342900" indent="-342900">
              <a:spcAft>
                <a:spcPts val="1200"/>
              </a:spcAft>
              <a:buSzPct val="100000"/>
              <a:buChar char="•"/>
            </a:pPr>
            <a:r>
              <a:rPr lang="en-US" sz="2000" b="1" dirty="0">
                <a:solidFill>
                  <a:srgbClr val="FB569C"/>
                </a:solidFill>
                <a:latin typeface="Fira Sans" pitchFamily="34" charset="0"/>
                <a:ea typeface="Fira Sans" pitchFamily="34" charset="-122"/>
                <a:cs typeface="Fira Sans" pitchFamily="34" charset="-120"/>
              </a:rPr>
              <a:t>TAs</a:t>
            </a:r>
            <a:r>
              <a:rPr lang="en-US" sz="2000" dirty="0">
                <a:solidFill>
                  <a:srgbClr val="FFFFFF"/>
                </a:solidFill>
                <a:latin typeface="Fira Sans" pitchFamily="34" charset="0"/>
                <a:ea typeface="Fira Sans" pitchFamily="34" charset="-122"/>
                <a:cs typeface="Fira Sans" pitchFamily="34" charset="-120"/>
              </a:rPr>
              <a:t> to help answer the queries in the live class</a:t>
            </a:r>
            <a:endParaRPr lang="en-US" sz="2000" dirty="0"/>
          </a:p>
          <a:p>
            <a:pPr marL="342900" indent="-342900">
              <a:spcAft>
                <a:spcPts val="1200"/>
              </a:spcAft>
              <a:buSzPct val="100000"/>
              <a:buChar char="•"/>
            </a:pPr>
            <a:r>
              <a:rPr lang="en-US" sz="2000" b="1" dirty="0">
                <a:solidFill>
                  <a:srgbClr val="FB569C"/>
                </a:solidFill>
                <a:latin typeface="Fira Sans" pitchFamily="34" charset="0"/>
                <a:ea typeface="Fira Sans" pitchFamily="34" charset="-122"/>
                <a:cs typeface="Fira Sans" pitchFamily="34" charset="-120"/>
              </a:rPr>
              <a:t>Support tickets</a:t>
            </a:r>
            <a:r>
              <a:rPr lang="en-US" sz="2000" dirty="0">
                <a:solidFill>
                  <a:srgbClr val="FFFFFF"/>
                </a:solidFill>
                <a:latin typeface="Fira Sans" pitchFamily="34" charset="0"/>
                <a:ea typeface="Fira Sans" pitchFamily="34" charset="-122"/>
                <a:cs typeface="Fira Sans" pitchFamily="34" charset="-120"/>
              </a:rPr>
              <a:t> - Raise them any time you want any clarifications / tech concerns, etc on UpLevel</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24158"/>
        </a:solidFill>
      </p:bgPr>
    </p:bg>
    <p:spTree>
      <p:nvGrpSpPr>
        <p:cNvPr id="1" name=""/>
        <p:cNvGrpSpPr/>
        <p:nvPr/>
      </p:nvGrpSpPr>
      <p:grpSpPr>
        <a:xfrm>
          <a:off x="0" y="0"/>
          <a:ext cx="0" cy="0"/>
          <a:chOff x="0" y="0"/>
          <a:chExt cx="0" cy="0"/>
        </a:xfrm>
      </p:grpSpPr>
      <p:sp>
        <p:nvSpPr>
          <p:cNvPr id="2" name="Shape 0"/>
          <p:cNvSpPr/>
          <p:nvPr/>
        </p:nvSpPr>
        <p:spPr>
          <a:xfrm>
            <a:off x="0" y="0"/>
            <a:ext cx="3063240" cy="6858000"/>
          </a:xfrm>
          <a:prstGeom prst="rect">
            <a:avLst/>
          </a:prstGeom>
          <a:solidFill>
            <a:srgbClr val="3896D2"/>
          </a:solidFill>
          <a:ln w="12700">
            <a:solidFill>
              <a:srgbClr val="3896D2"/>
            </a:solidFill>
            <a:prstDash val="solid"/>
          </a:ln>
        </p:spPr>
      </p:sp>
      <p:pic>
        <p:nvPicPr>
          <p:cNvPr id="3"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4" name="Text 1"/>
          <p:cNvSpPr/>
          <p:nvPr/>
        </p:nvSpPr>
        <p:spPr>
          <a:xfrm>
            <a:off x="320040" y="868680"/>
            <a:ext cx="2468880" cy="1463040"/>
          </a:xfrm>
          <a:prstGeom prst="rect">
            <a:avLst/>
          </a:prstGeom>
          <a:noFill/>
          <a:ln/>
        </p:spPr>
        <p:txBody>
          <a:bodyPr wrap="square" rtlCol="0" anchor="ctr"/>
          <a:lstStyle/>
          <a:p>
            <a:pPr algn="ctr" indent="0" marL="0">
              <a:buNone/>
            </a:pPr>
            <a:r>
              <a:rPr lang="en-US" sz="3600" b="1" dirty="0">
                <a:solidFill>
                  <a:srgbClr val="FFFFFF"/>
                </a:solidFill>
                <a:latin typeface="Fira Sans" pitchFamily="34" charset="0"/>
                <a:ea typeface="Fira Sans" pitchFamily="34" charset="-122"/>
                <a:cs typeface="Fira Sans" pitchFamily="34" charset="-120"/>
              </a:rPr>
              <a:t>Success Hacks</a:t>
            </a:r>
            <a:endParaRPr lang="en-US" sz="3600" dirty="0"/>
          </a:p>
        </p:txBody>
      </p:sp>
      <p:sp>
        <p:nvSpPr>
          <p:cNvPr id="5" name="Text 2"/>
          <p:cNvSpPr/>
          <p:nvPr/>
        </p:nvSpPr>
        <p:spPr>
          <a:xfrm>
            <a:off x="3520440" y="731520"/>
            <a:ext cx="8229600" cy="3566160"/>
          </a:xfrm>
          <a:prstGeom prst="rect">
            <a:avLst/>
          </a:prstGeom>
          <a:noFill/>
          <a:ln/>
        </p:spPr>
        <p:txBody>
          <a:bodyPr wrap="square" lIns="635" tIns="635" rIns="635" bIns="635" rtlCol="0" anchor="t"/>
          <a:lstStyle/>
          <a:p>
            <a:pPr lvl="1" marL="685800" indent="-342900">
              <a:spcAft>
                <a:spcPts val="1000"/>
              </a:spcAft>
              <a:buSzPct val="100000"/>
              <a:buChar char="•"/>
            </a:pPr>
            <a:r>
              <a:rPr lang="en-US" sz="2100" dirty="0">
                <a:solidFill>
                  <a:srgbClr val="FFFFFF"/>
                </a:solidFill>
                <a:latin typeface="Fira Sans" pitchFamily="34" charset="0"/>
                <a:ea typeface="Fira Sans" pitchFamily="34" charset="-122"/>
                <a:cs typeface="Fira Sans" pitchFamily="34" charset="-120"/>
              </a:rPr>
              <a:t>Be prepared for the class by watching the pre class videos</a:t>
            </a:r>
            <a:endParaRPr lang="en-US" sz="2100" dirty="0"/>
          </a:p>
          <a:p>
            <a:pPr lvl="1" marL="685800" indent="-342900">
              <a:spcAft>
                <a:spcPts val="1000"/>
              </a:spcAft>
              <a:buSzPct val="100000"/>
              <a:buChar char="•"/>
            </a:pPr>
            <a:r>
              <a:rPr lang="en-US" sz="2100" dirty="0">
                <a:solidFill>
                  <a:srgbClr val="FFFFFF"/>
                </a:solidFill>
                <a:latin typeface="Fira Sans" pitchFamily="34" charset="0"/>
                <a:ea typeface="Fira Sans" pitchFamily="34" charset="-122"/>
                <a:cs typeface="Fira Sans" pitchFamily="34" charset="-120"/>
              </a:rPr>
              <a:t>Attend every class</a:t>
            </a:r>
            <a:endParaRPr lang="en-US" sz="2100" dirty="0"/>
          </a:p>
          <a:p>
            <a:pPr lvl="1" marL="685800" indent="-342900">
              <a:spcAft>
                <a:spcPts val="1000"/>
              </a:spcAft>
              <a:buSzPct val="100000"/>
              <a:buChar char="•"/>
            </a:pPr>
            <a:r>
              <a:rPr lang="en-US" sz="2100" dirty="0">
                <a:solidFill>
                  <a:srgbClr val="FFFFFF"/>
                </a:solidFill>
                <a:latin typeface="Fira Sans" pitchFamily="34" charset="0"/>
                <a:ea typeface="Fira Sans" pitchFamily="34" charset="-122"/>
                <a:cs typeface="Fira Sans" pitchFamily="34" charset="-120"/>
              </a:rPr>
              <a:t>Participate in class</a:t>
            </a:r>
            <a:endParaRPr lang="en-US" sz="2100" dirty="0"/>
          </a:p>
          <a:p>
            <a:pPr lvl="1" marL="685800" indent="-342900">
              <a:spcAft>
                <a:spcPts val="1000"/>
              </a:spcAft>
              <a:buSzPct val="100000"/>
              <a:buChar char="•"/>
            </a:pPr>
            <a:r>
              <a:rPr lang="en-US" sz="2100" dirty="0">
                <a:solidFill>
                  <a:srgbClr val="FFFFFF"/>
                </a:solidFill>
                <a:latin typeface="Fira Sans" pitchFamily="34" charset="0"/>
                <a:ea typeface="Fira Sans" pitchFamily="34" charset="-122"/>
                <a:cs typeface="Fira Sans" pitchFamily="34" charset="-120"/>
              </a:rPr>
              <a:t>Attempt all the assignments</a:t>
            </a:r>
            <a:endParaRPr lang="en-US" sz="2100" dirty="0"/>
          </a:p>
          <a:p>
            <a:pPr lvl="1" marL="685800" indent="-342900">
              <a:spcAft>
                <a:spcPts val="1000"/>
              </a:spcAft>
              <a:buSzPct val="100000"/>
              <a:buChar char="•"/>
            </a:pPr>
            <a:r>
              <a:rPr lang="en-US" sz="2100" dirty="0">
                <a:solidFill>
                  <a:srgbClr val="FFFFFF"/>
                </a:solidFill>
                <a:latin typeface="Fira Sans" pitchFamily="34" charset="0"/>
                <a:ea typeface="Fira Sans" pitchFamily="34" charset="-122"/>
                <a:cs typeface="Fira Sans" pitchFamily="34" charset="-120"/>
              </a:rPr>
              <a:t>Actively advocate for yourself</a:t>
            </a:r>
            <a:endParaRPr lang="en-US" sz="2100" dirty="0"/>
          </a:p>
          <a:p>
            <a:pPr lvl="1" marL="685800" indent="-342900">
              <a:spcAft>
                <a:spcPts val="1000"/>
              </a:spcAft>
              <a:buSzPct val="100000"/>
              <a:buChar char="•"/>
            </a:pPr>
            <a:r>
              <a:rPr lang="en-US" sz="2100" dirty="0">
                <a:solidFill>
                  <a:srgbClr val="FFFFFF"/>
                </a:solidFill>
                <a:latin typeface="Fira Sans" pitchFamily="34" charset="0"/>
                <a:ea typeface="Fira Sans" pitchFamily="34" charset="-122"/>
                <a:cs typeface="Fira Sans" pitchFamily="34" charset="-120"/>
              </a:rPr>
              <a:t>Keep your goal in mind</a:t>
            </a:r>
            <a:endParaRPr lang="en-US" sz="2100" dirty="0"/>
          </a:p>
          <a:p>
            <a:pPr marL="342900" indent="-342900">
              <a:spcAft>
                <a:spcPts val="1000"/>
              </a:spcAft>
              <a:buSzPct val="100000"/>
              <a:buChar char="•"/>
            </a:pPr>
            <a:r>
              <a:rPr lang="en-US" sz="2100" dirty="0">
                <a:solidFill>
                  <a:srgbClr val="FB569C"/>
                </a:solidFill>
                <a:latin typeface="Fira Sans" pitchFamily="34" charset="0"/>
                <a:ea typeface="Fira Sans" pitchFamily="34" charset="-122"/>
                <a:cs typeface="Fira Sans" pitchFamily="34" charset="-120"/>
              </a:rPr>
              <a:t>Consistency is the key</a:t>
            </a:r>
            <a:endParaRPr lang="en-US" sz="2100" dirty="0"/>
          </a:p>
        </p:txBody>
      </p:sp>
      <p:sp>
        <p:nvSpPr>
          <p:cNvPr id="6" name="Text 3"/>
          <p:cNvSpPr/>
          <p:nvPr/>
        </p:nvSpPr>
        <p:spPr>
          <a:xfrm>
            <a:off x="4206240" y="4663440"/>
            <a:ext cx="6400800" cy="640080"/>
          </a:xfrm>
          <a:prstGeom prst="rect">
            <a:avLst/>
          </a:prstGeom>
          <a:noFill/>
          <a:ln/>
        </p:spPr>
        <p:txBody>
          <a:bodyPr wrap="square" rtlCol="0" anchor="ctr"/>
          <a:lstStyle/>
          <a:p>
            <a:pPr algn="ctr" indent="0" marL="0">
              <a:buNone/>
            </a:pPr>
            <a:r>
              <a:rPr lang="en-US" sz="3400" dirty="0">
                <a:solidFill>
                  <a:srgbClr val="FFFFFF"/>
                </a:solidFill>
                <a:latin typeface="Fira Sans" pitchFamily="34" charset="0"/>
                <a:ea typeface="Fira Sans" pitchFamily="34" charset="-122"/>
                <a:cs typeface="Fira Sans" pitchFamily="34" charset="-120"/>
              </a:rPr>
              <a:t>Be patient with yourself !</a:t>
            </a:r>
            <a:endParaRPr lang="en-US" sz="3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Check Your Email for API Key</a:t>
            </a:r>
            <a:endParaRPr lang="en-US" sz="3000" dirty="0"/>
          </a:p>
        </p:txBody>
      </p:sp>
      <p:sp>
        <p:nvSpPr>
          <p:cNvPr id="4" name="Text 1"/>
          <p:cNvSpPr/>
          <p:nvPr/>
        </p:nvSpPr>
        <p:spPr>
          <a:xfrm>
            <a:off x="822960" y="914400"/>
            <a:ext cx="10515600" cy="1737360"/>
          </a:xfrm>
          <a:prstGeom prst="rect">
            <a:avLst/>
          </a:prstGeom>
          <a:noFill/>
          <a:ln/>
        </p:spPr>
        <p:txBody>
          <a:bodyPr wrap="square" rtlCol="0" anchor="ctr"/>
          <a:lstStyle/>
          <a:p>
            <a:pPr indent="0" marL="0">
              <a:spcAft>
                <a:spcPts val="400"/>
              </a:spcAft>
              <a:buNone/>
            </a:pPr>
            <a:r>
              <a:rPr lang="en-US" sz="1400" dirty="0">
                <a:solidFill>
                  <a:srgbClr val="FFFFFF"/>
                </a:solidFill>
                <a:latin typeface="Fira Sans" pitchFamily="34" charset="0"/>
                <a:ea typeface="Fira Sans" pitchFamily="34" charset="-122"/>
                <a:cs typeface="Fira Sans" pitchFamily="34" charset="-120"/>
              </a:rPr>
              <a:t>You should have received an email like the one shown below containing your OpenAI API key.</a:t>
            </a:r>
            <a:endParaRPr lang="en-US" sz="1400" dirty="0"/>
          </a:p>
          <a:p>
            <a:pPr indent="0" marL="0">
              <a:spcAft>
                <a:spcPts val="400"/>
              </a:spcAft>
              <a:buNone/>
            </a:pPr>
            <a:r>
              <a:rPr lang="en-US" sz="1400" dirty="0">
                <a:solidFill>
                  <a:srgbClr val="FFFFFF"/>
                </a:solidFill>
                <a:latin typeface="Fira Sans" pitchFamily="34" charset="0"/>
                <a:ea typeface="Fira Sans" pitchFamily="34" charset="-122"/>
                <a:cs typeface="Fira Sans" pitchFamily="34" charset="-120"/>
              </a:rPr>
              <a:t>If you do not see this email:</a:t>
            </a:r>
            <a:endParaRPr lang="en-US" sz="1400" dirty="0"/>
          </a:p>
          <a:p>
            <a:pPr marL="342900" indent="-342900">
              <a:spcAft>
                <a:spcPts val="400"/>
              </a:spcAft>
              <a:buSzPct val="100000"/>
              <a:buChar char="•"/>
            </a:pPr>
            <a:r>
              <a:rPr lang="en-US" sz="1200" dirty="0">
                <a:solidFill>
                  <a:srgbClr val="FFFFFF"/>
                </a:solidFill>
                <a:latin typeface="Fira Sans" pitchFamily="34" charset="0"/>
                <a:ea typeface="Fira Sans" pitchFamily="34" charset="-122"/>
                <a:cs typeface="Fira Sans" pitchFamily="34" charset="-120"/>
              </a:rPr>
              <a:t>Please check your inbox</a:t>
            </a:r>
            <a:endParaRPr lang="en-US" sz="1400" dirty="0"/>
          </a:p>
          <a:p>
            <a:pPr marL="342900" indent="-342900">
              <a:spcAft>
                <a:spcPts val="400"/>
              </a:spcAft>
              <a:buSzPct val="100000"/>
              <a:buChar char="•"/>
            </a:pPr>
            <a:r>
              <a:rPr lang="en-US" sz="1200" dirty="0">
                <a:solidFill>
                  <a:srgbClr val="FFFFFF"/>
                </a:solidFill>
                <a:latin typeface="Fira Sans" pitchFamily="34" charset="0"/>
                <a:ea typeface="Fira Sans" pitchFamily="34" charset="-122"/>
                <a:cs typeface="Fira Sans" pitchFamily="34" charset="-120"/>
              </a:rPr>
              <a:t>Also check your spam or junk folder</a:t>
            </a:r>
            <a:endParaRPr lang="en-US" sz="1400" dirty="0"/>
          </a:p>
          <a:p>
            <a:pPr indent="0" marL="0">
              <a:spcAft>
                <a:spcPts val="400"/>
              </a:spcAft>
              <a:buNone/>
            </a:pPr>
            <a:r>
              <a:rPr lang="en-US" sz="1400" dirty="0">
                <a:solidFill>
                  <a:srgbClr val="FFFFFF"/>
                </a:solidFill>
                <a:latin typeface="Fira Sans" pitchFamily="34" charset="0"/>
                <a:ea typeface="Fira Sans" pitchFamily="34" charset="-122"/>
                <a:cs typeface="Fira Sans" pitchFamily="34" charset="-120"/>
              </a:rPr>
              <a:t>If you still cannot find it, please reach out to the Operations Team </a:t>
            </a:r>
            <a:r>
              <a:rPr lang="en-US" sz="1400" dirty="0">
                <a:solidFill>
                  <a:srgbClr val="38BDF8"/>
                </a:solidFill>
                <a:latin typeface="Fira Sans" pitchFamily="34" charset="0"/>
                <a:ea typeface="Fira Sans" pitchFamily="34" charset="-122"/>
                <a:cs typeface="Fira Sans" pitchFamily="34" charset="-120"/>
              </a:rPr>
              <a:t>operations@interviewkickstart.com</a:t>
            </a:r>
            <a:endParaRPr lang="en-US" sz="1400" dirty="0"/>
          </a:p>
        </p:txBody>
      </p:sp>
      <p:pic>
        <p:nvPicPr>
          <p:cNvPr id="5" name="Image 1" descr="C:\Users\jeesingh\.copilot\session-state\b8ab4bc6-faf5-4ebd-bea2-f997a4b9a7ea\files\deck\img\x120.png">    </p:cNvPr>
          <p:cNvPicPr>
            <a:picLocks noChangeAspect="1"/>
          </p:cNvPicPr>
          <p:nvPr/>
        </p:nvPicPr>
        <p:blipFill>
          <a:blip r:embed="rId2"/>
          <a:stretch>
            <a:fillRect/>
          </a:stretch>
        </p:blipFill>
        <p:spPr>
          <a:xfrm>
            <a:off x="2221230" y="2899410"/>
            <a:ext cx="7561580" cy="36512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Clone &amp; Practice: </a:t>
            </a:r>
            <a:r>
              <a:rPr lang="en-US" sz="3000" b="1" dirty="0">
                <a:solidFill>
                  <a:srgbClr val="FFFFFF"/>
                </a:solidFill>
                <a:latin typeface="Fira Sans" pitchFamily="34" charset="0"/>
                <a:ea typeface="Fira Sans" pitchFamily="34" charset="-122"/>
                <a:cs typeface="Fira Sans" pitchFamily="34" charset="-120"/>
              </a:rPr>
              <a:t>Your Learning Repository</a:t>
            </a:r>
            <a:endParaRPr lang="en-US" sz="3000" dirty="0"/>
          </a:p>
        </p:txBody>
      </p:sp>
      <p:sp>
        <p:nvSpPr>
          <p:cNvPr id="4" name="Shape 1"/>
          <p:cNvSpPr/>
          <p:nvPr/>
        </p:nvSpPr>
        <p:spPr>
          <a:xfrm>
            <a:off x="2459736" y="1143000"/>
            <a:ext cx="7223760" cy="1097280"/>
          </a:xfrm>
          <a:prstGeom prst="rect">
            <a:avLst/>
          </a:prstGeom>
          <a:solidFill>
            <a:srgbClr val="0F172A"/>
          </a:solidFill>
          <a:ln w="12700">
            <a:solidFill>
              <a:srgbClr val="0F172A"/>
            </a:solidFill>
            <a:prstDash val="solid"/>
          </a:ln>
        </p:spPr>
      </p:sp>
      <p:pic>
        <p:nvPicPr>
          <p:cNvPr id="5" name="Image 1" descr="C:\Users\jeesingh\.copilot\session-state\b8ab4bc6-faf5-4ebd-bea2-f997a4b9a7ea\files\deck\img\x136.png">    </p:cNvPr>
          <p:cNvPicPr>
            <a:picLocks noChangeAspect="1"/>
          </p:cNvPicPr>
          <p:nvPr/>
        </p:nvPicPr>
        <p:blipFill>
          <a:blip r:embed="rId2"/>
          <a:stretch>
            <a:fillRect/>
          </a:stretch>
        </p:blipFill>
        <p:spPr>
          <a:xfrm>
            <a:off x="2697480" y="1463040"/>
            <a:ext cx="457200" cy="457200"/>
          </a:xfrm>
          <a:prstGeom prst="rect">
            <a:avLst/>
          </a:prstGeom>
        </p:spPr>
      </p:pic>
      <p:sp>
        <p:nvSpPr>
          <p:cNvPr id="6" name="Text 2"/>
          <p:cNvSpPr/>
          <p:nvPr/>
        </p:nvSpPr>
        <p:spPr>
          <a:xfrm>
            <a:off x="3200400" y="1188720"/>
            <a:ext cx="6400800" cy="1005840"/>
          </a:xfrm>
          <a:prstGeom prst="rect">
            <a:avLst/>
          </a:prstGeom>
          <a:noFill/>
          <a:ln/>
        </p:spPr>
        <p:txBody>
          <a:bodyPr wrap="square" rtlCol="0" anchor="ctr"/>
          <a:lstStyle/>
          <a:p>
            <a:pPr algn="ctr" indent="0" marL="0">
              <a:buNone/>
            </a:pPr>
            <a:r>
              <a:rPr lang="en-US" sz="2600" b="1" dirty="0">
                <a:solidFill>
                  <a:srgbClr val="FFFFFF"/>
                </a:solidFill>
                <a:latin typeface="Fira Sans" pitchFamily="34" charset="0"/>
                <a:ea typeface="Fira Sans" pitchFamily="34" charset="-122"/>
                <a:cs typeface="Fira Sans" pitchFamily="34" charset="-120"/>
              </a:rPr>
              <a:t>real-estate-negotiation-simulator</a:t>
            </a:r>
            <a:endParaRPr lang="en-US" sz="2600" dirty="0"/>
          </a:p>
          <a:p>
            <a:pPr algn="ctr" indent="0" marL="0">
              <a:buNone/>
            </a:pPr>
            <a:r>
              <a:rPr lang="en-US" sz="1700" i="1" u="sng" dirty="0">
                <a:solidFill>
                  <a:srgbClr val="38BDF8"/>
                </a:solidFill>
                <a:latin typeface="Fira Sans" pitchFamily="34" charset="0"/>
                <a:ea typeface="Fira Sans" pitchFamily="34" charset="-122"/>
                <a:cs typeface="Fira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https://github.com/jeev1992/real-estate-negotiation-simulator</a:t>
            </a:r>
            <a:endParaRPr lang="en-US" sz="2600" dirty="0"/>
          </a:p>
        </p:txBody>
      </p:sp>
      <p:sp>
        <p:nvSpPr>
          <p:cNvPr id="7" name="Text 3"/>
          <p:cNvSpPr/>
          <p:nvPr/>
        </p:nvSpPr>
        <p:spPr>
          <a:xfrm>
            <a:off x="585216" y="2606040"/>
            <a:ext cx="3657600" cy="365760"/>
          </a:xfrm>
          <a:prstGeom prst="rect">
            <a:avLst/>
          </a:prstGeom>
          <a:noFill/>
          <a:ln/>
        </p:spPr>
        <p:txBody>
          <a:bodyPr wrap="square" rtlCol="0" anchor="ctr"/>
          <a:lstStyle/>
          <a:p>
            <a:pPr indent="0" marL="0">
              <a:buNone/>
            </a:pPr>
            <a:r>
              <a:rPr lang="en-US" sz="2200" b="1" dirty="0">
                <a:solidFill>
                  <a:srgbClr val="FFFFFF"/>
                </a:solidFill>
                <a:latin typeface="Fira Sans" pitchFamily="34" charset="0"/>
                <a:ea typeface="Fira Sans" pitchFamily="34" charset="-122"/>
                <a:cs typeface="Fira Sans" pitchFamily="34" charset="-120"/>
              </a:rPr>
              <a:t>What's Included:</a:t>
            </a:r>
            <a:endParaRPr lang="en-US" sz="2200" dirty="0"/>
          </a:p>
        </p:txBody>
      </p:sp>
      <p:sp>
        <p:nvSpPr>
          <p:cNvPr id="8" name="Shape 4"/>
          <p:cNvSpPr/>
          <p:nvPr/>
        </p:nvSpPr>
        <p:spPr>
          <a:xfrm>
            <a:off x="585216" y="3108960"/>
            <a:ext cx="5385816" cy="1234440"/>
          </a:xfrm>
          <a:prstGeom prst="rect">
            <a:avLst/>
          </a:prstGeom>
          <a:solidFill>
            <a:srgbClr val="FFFFFF"/>
          </a:solidFill>
          <a:ln w="12700">
            <a:solidFill>
              <a:srgbClr val="FFFFFF"/>
            </a:solidFill>
            <a:prstDash val="solid"/>
          </a:ln>
        </p:spPr>
      </p:sp>
      <p:pic>
        <p:nvPicPr>
          <p:cNvPr id="9" name="Image 2" descr="C:\Users\jeesingh\.copilot\session-state\b8ab4bc6-faf5-4ebd-bea2-f997a4b9a7ea\files\deck\img\x129.png">    </p:cNvPr>
          <p:cNvPicPr>
            <a:picLocks noChangeAspect="1"/>
          </p:cNvPicPr>
          <p:nvPr/>
        </p:nvPicPr>
        <p:blipFill>
          <a:blip r:embed="rId4"/>
          <a:stretch>
            <a:fillRect/>
          </a:stretch>
        </p:blipFill>
        <p:spPr>
          <a:xfrm>
            <a:off x="777240" y="3456432"/>
            <a:ext cx="502920" cy="502920"/>
          </a:xfrm>
          <a:prstGeom prst="rect">
            <a:avLst/>
          </a:prstGeom>
        </p:spPr>
      </p:pic>
      <p:sp>
        <p:nvSpPr>
          <p:cNvPr id="10" name="Text 5"/>
          <p:cNvSpPr/>
          <p:nvPr/>
        </p:nvSpPr>
        <p:spPr>
          <a:xfrm>
            <a:off x="1463040" y="3246120"/>
            <a:ext cx="4389120" cy="960120"/>
          </a:xfrm>
          <a:prstGeom prst="rect">
            <a:avLst/>
          </a:prstGeom>
          <a:noFill/>
          <a:ln/>
        </p:spPr>
        <p:txBody>
          <a:bodyPr wrap="square" rtlCol="0" anchor="ctr"/>
          <a:lstStyle/>
          <a:p>
            <a:pPr indent="0" marL="0">
              <a:buNone/>
            </a:pPr>
            <a:r>
              <a:rPr lang="en-US" sz="1900" b="1" dirty="0">
                <a:solidFill>
                  <a:srgbClr val="0F172A"/>
                </a:solidFill>
                <a:latin typeface="Fira Sans" pitchFamily="34" charset="0"/>
                <a:ea typeface="Fira Sans" pitchFamily="34" charset="-122"/>
                <a:cs typeface="Fira Sans" pitchFamily="34" charset="-120"/>
              </a:rPr>
              <a:t>2 Complete Modules</a:t>
            </a:r>
            <a:endParaRPr lang="en-US" sz="1900" dirty="0"/>
          </a:p>
          <a:p>
            <a:pPr indent="0" marL="0">
              <a:buNone/>
            </a:pPr>
            <a:r>
              <a:rPr lang="en-US" sz="1300" dirty="0">
                <a:solidFill>
                  <a:srgbClr val="475569"/>
                </a:solidFill>
                <a:latin typeface="Fira Sans" pitchFamily="34" charset="0"/>
                <a:ea typeface="Fira Sans" pitchFamily="34" charset="-122"/>
                <a:cs typeface="Fira Sans" pitchFamily="34" charset="-120"/>
              </a:rPr>
              <a:t>Module 1: MCP  ·  Module 2: Google ADK + A2A</a:t>
            </a:r>
            <a:endParaRPr lang="en-US" sz="1900" dirty="0"/>
          </a:p>
        </p:txBody>
      </p:sp>
      <p:sp>
        <p:nvSpPr>
          <p:cNvPr id="11" name="Shape 6"/>
          <p:cNvSpPr/>
          <p:nvPr/>
        </p:nvSpPr>
        <p:spPr>
          <a:xfrm>
            <a:off x="585216" y="4526280"/>
            <a:ext cx="5385816" cy="1234440"/>
          </a:xfrm>
          <a:prstGeom prst="rect">
            <a:avLst/>
          </a:prstGeom>
          <a:solidFill>
            <a:srgbClr val="FFFFFF"/>
          </a:solidFill>
          <a:ln w="12700">
            <a:solidFill>
              <a:srgbClr val="FFFFFF"/>
            </a:solidFill>
            <a:prstDash val="solid"/>
          </a:ln>
        </p:spPr>
      </p:sp>
      <p:pic>
        <p:nvPicPr>
          <p:cNvPr id="12" name="Image 3" descr="C:\Users\jeesingh\.copilot\session-state\b8ab4bc6-faf5-4ebd-bea2-f997a4b9a7ea\files\deck\img\x131.png">    </p:cNvPr>
          <p:cNvPicPr>
            <a:picLocks noChangeAspect="1"/>
          </p:cNvPicPr>
          <p:nvPr/>
        </p:nvPicPr>
        <p:blipFill>
          <a:blip r:embed="rId5"/>
          <a:stretch>
            <a:fillRect/>
          </a:stretch>
        </p:blipFill>
        <p:spPr>
          <a:xfrm>
            <a:off x="777240" y="4873752"/>
            <a:ext cx="502920" cy="502920"/>
          </a:xfrm>
          <a:prstGeom prst="rect">
            <a:avLst/>
          </a:prstGeom>
        </p:spPr>
      </p:pic>
      <p:sp>
        <p:nvSpPr>
          <p:cNvPr id="13" name="Text 7"/>
          <p:cNvSpPr/>
          <p:nvPr/>
        </p:nvSpPr>
        <p:spPr>
          <a:xfrm>
            <a:off x="1463040" y="4663440"/>
            <a:ext cx="4389120" cy="960120"/>
          </a:xfrm>
          <a:prstGeom prst="rect">
            <a:avLst/>
          </a:prstGeom>
          <a:noFill/>
          <a:ln/>
        </p:spPr>
        <p:txBody>
          <a:bodyPr wrap="square" rtlCol="0" anchor="ctr"/>
          <a:lstStyle/>
          <a:p>
            <a:pPr indent="0" marL="0">
              <a:buNone/>
            </a:pPr>
            <a:r>
              <a:rPr lang="en-US" sz="1900" b="1" dirty="0">
                <a:solidFill>
                  <a:srgbClr val="0F172A"/>
                </a:solidFill>
                <a:latin typeface="Fira Sans" pitchFamily="34" charset="0"/>
                <a:ea typeface="Fira Sans" pitchFamily="34" charset="-122"/>
                <a:cs typeface="Fira Sans" pitchFamily="34" charset="-120"/>
              </a:rPr>
              <a:t>Working Code Examples</a:t>
            </a:r>
            <a:endParaRPr lang="en-US" sz="1900" dirty="0"/>
          </a:p>
          <a:p>
            <a:pPr indent="0" marL="0">
              <a:buNone/>
            </a:pPr>
            <a:r>
              <a:rPr lang="en-US" sz="1300" dirty="0">
                <a:solidFill>
                  <a:srgbClr val="475569"/>
                </a:solidFill>
                <a:latin typeface="Fira Sans" pitchFamily="34" charset="0"/>
                <a:ea typeface="Fira Sans" pitchFamily="34" charset="-122"/>
                <a:cs typeface="Fira Sans" pitchFamily="34" charset="-120"/>
              </a:rPr>
              <a:t>Ready-to-run demos, practice exercises, and solutions for each module</a:t>
            </a:r>
            <a:endParaRPr lang="en-US" sz="1900" dirty="0"/>
          </a:p>
        </p:txBody>
      </p:sp>
      <p:sp>
        <p:nvSpPr>
          <p:cNvPr id="14" name="Shape 8"/>
          <p:cNvSpPr/>
          <p:nvPr/>
        </p:nvSpPr>
        <p:spPr>
          <a:xfrm>
            <a:off x="6217920" y="3108960"/>
            <a:ext cx="5385816" cy="2880360"/>
          </a:xfrm>
          <a:prstGeom prst="rect">
            <a:avLst/>
          </a:prstGeom>
          <a:solidFill>
            <a:srgbClr val="EFF6FF"/>
          </a:solidFill>
          <a:ln w="19050">
            <a:solidFill>
              <a:srgbClr val="3896D2"/>
            </a:solidFill>
            <a:prstDash val="solid"/>
          </a:ln>
        </p:spPr>
      </p:sp>
      <p:sp>
        <p:nvSpPr>
          <p:cNvPr id="15" name="Text 9"/>
          <p:cNvSpPr/>
          <p:nvPr/>
        </p:nvSpPr>
        <p:spPr>
          <a:xfrm>
            <a:off x="6464808" y="3246120"/>
            <a:ext cx="4572000" cy="365760"/>
          </a:xfrm>
          <a:prstGeom prst="rect">
            <a:avLst/>
          </a:prstGeom>
          <a:noFill/>
          <a:ln/>
        </p:spPr>
        <p:txBody>
          <a:bodyPr wrap="square" rtlCol="0" anchor="ctr"/>
          <a:lstStyle/>
          <a:p>
            <a:pPr indent="0" marL="0">
              <a:buNone/>
            </a:pPr>
            <a:r>
              <a:rPr lang="en-US" sz="2000" b="1" dirty="0">
                <a:solidFill>
                  <a:srgbClr val="0F172A"/>
                </a:solidFill>
                <a:latin typeface="Fira Sans" pitchFamily="34" charset="0"/>
                <a:ea typeface="Fira Sans" pitchFamily="34" charset="-122"/>
                <a:cs typeface="Fira Sans" pitchFamily="34" charset="-120"/>
              </a:rPr>
              <a:t>Getting Started</a:t>
            </a:r>
            <a:endParaRPr lang="en-US" sz="2000" dirty="0"/>
          </a:p>
        </p:txBody>
      </p:sp>
      <p:sp>
        <p:nvSpPr>
          <p:cNvPr id="16" name="Shape 10"/>
          <p:cNvSpPr/>
          <p:nvPr/>
        </p:nvSpPr>
        <p:spPr>
          <a:xfrm>
            <a:off x="6464808" y="3703320"/>
            <a:ext cx="4901184" cy="685800"/>
          </a:xfrm>
          <a:prstGeom prst="rect">
            <a:avLst/>
          </a:prstGeom>
          <a:solidFill>
            <a:srgbClr val="1E293B"/>
          </a:solidFill>
          <a:ln w="12700">
            <a:solidFill>
              <a:srgbClr val="1E293B"/>
            </a:solidFill>
            <a:prstDash val="solid"/>
          </a:ln>
        </p:spPr>
      </p:sp>
      <p:sp>
        <p:nvSpPr>
          <p:cNvPr id="17" name="Text 11"/>
          <p:cNvSpPr/>
          <p:nvPr/>
        </p:nvSpPr>
        <p:spPr>
          <a:xfrm>
            <a:off x="6537960" y="3730752"/>
            <a:ext cx="4754880" cy="640080"/>
          </a:xfrm>
          <a:prstGeom prst="rect">
            <a:avLst/>
          </a:prstGeom>
          <a:noFill/>
          <a:ln/>
        </p:spPr>
        <p:txBody>
          <a:bodyPr wrap="square" rtlCol="0" anchor="ctr"/>
          <a:lstStyle/>
          <a:p>
            <a:pPr indent="0" marL="0">
              <a:buNone/>
            </a:pPr>
            <a:r>
              <a:rPr lang="en-US" sz="1200" dirty="0">
                <a:solidFill>
                  <a:srgbClr val="F1F5F9"/>
                </a:solidFill>
                <a:latin typeface="Consolas" pitchFamily="34" charset="0"/>
                <a:ea typeface="Consolas" pitchFamily="34" charset="-122"/>
                <a:cs typeface="Consolas" pitchFamily="34" charset="-120"/>
              </a:rPr>
              <a:t>git clone https://github.com/jeev1992/real-estate-negotiation-simulator</a:t>
            </a:r>
            <a:endParaRPr lang="en-US" sz="1200" dirty="0"/>
          </a:p>
        </p:txBody>
      </p:sp>
      <p:sp>
        <p:nvSpPr>
          <p:cNvPr id="18" name="Text 12"/>
          <p:cNvSpPr/>
          <p:nvPr/>
        </p:nvSpPr>
        <p:spPr>
          <a:xfrm>
            <a:off x="6464808" y="4480560"/>
            <a:ext cx="4983480" cy="1417320"/>
          </a:xfrm>
          <a:prstGeom prst="rect">
            <a:avLst/>
          </a:prstGeom>
          <a:noFill/>
          <a:ln/>
        </p:spPr>
        <p:txBody>
          <a:bodyPr wrap="square" rtlCol="0" anchor="ctr"/>
          <a:lstStyle/>
          <a:p>
            <a:pPr indent="0" marL="0">
              <a:spcAft>
                <a:spcPts val="400"/>
              </a:spcAft>
              <a:buNone/>
            </a:pPr>
            <a:r>
              <a:rPr lang="en-US" sz="1300" b="1" dirty="0">
                <a:solidFill>
                  <a:srgbClr val="0891B2"/>
                </a:solidFill>
                <a:latin typeface="Fira Sans" pitchFamily="34" charset="0"/>
                <a:ea typeface="Fira Sans" pitchFamily="34" charset="-122"/>
                <a:cs typeface="Fira Sans" pitchFamily="34" charset="-120"/>
              </a:rPr>
              <a:t>1.  Install dependencies: pip install -r requirements.txt</a:t>
            </a:r>
            <a:endParaRPr lang="en-US" sz="1300" dirty="0"/>
          </a:p>
          <a:p>
            <a:pPr indent="0" marL="0">
              <a:spcAft>
                <a:spcPts val="400"/>
              </a:spcAft>
              <a:buNone/>
            </a:pPr>
            <a:r>
              <a:rPr lang="en-US" sz="1300" b="1" dirty="0">
                <a:solidFill>
                  <a:srgbClr val="0891B2"/>
                </a:solidFill>
                <a:latin typeface="Fira Sans" pitchFamily="34" charset="0"/>
                <a:ea typeface="Fira Sans" pitchFamily="34" charset="-122"/>
                <a:cs typeface="Fira Sans" pitchFamily="34" charset="-120"/>
              </a:rPr>
              <a:t>2.  Copy .env.example to .env and add your OpenAI API key (GitHub PAT for the GitHub demo)</a:t>
            </a:r>
            <a:endParaRPr lang="en-US" sz="1300" dirty="0"/>
          </a:p>
          <a:p>
            <a:pPr indent="0" marL="0">
              <a:spcAft>
                <a:spcPts val="400"/>
              </a:spcAft>
              <a:buNone/>
            </a:pPr>
            <a:r>
              <a:rPr lang="en-US" sz="1300" b="1" dirty="0">
                <a:solidFill>
                  <a:srgbClr val="0891B2"/>
                </a:solidFill>
                <a:latin typeface="Fira Sans" pitchFamily="34" charset="0"/>
                <a:ea typeface="Fira Sans" pitchFamily="34" charset="-122"/>
                <a:cs typeface="Fira Sans" pitchFamily="34" charset="-120"/>
              </a:rPr>
              <a:t>3.  Run demos from each module directory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How to Follow Along</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Setup &amp; Running the Demos</a:t>
            </a:r>
            <a:endParaRPr lang="en-US" sz="1400" dirty="0"/>
          </a:p>
        </p:txBody>
      </p:sp>
      <p:sp>
        <p:nvSpPr>
          <p:cNvPr id="5" name="Shape 2"/>
          <p:cNvSpPr/>
          <p:nvPr/>
        </p:nvSpPr>
        <p:spPr>
          <a:xfrm>
            <a:off x="502920" y="1234440"/>
            <a:ext cx="11201400" cy="4069080"/>
          </a:xfrm>
          <a:prstGeom prst="rect">
            <a:avLst/>
          </a:prstGeom>
          <a:solidFill>
            <a:srgbClr val="333333"/>
          </a:solidFill>
          <a:ln w="12700">
            <a:solidFill>
              <a:srgbClr val="333333"/>
            </a:solidFill>
            <a:prstDash val="solid"/>
          </a:ln>
        </p:spPr>
      </p:sp>
      <p:sp>
        <p:nvSpPr>
          <p:cNvPr id="6" name="Text 3"/>
          <p:cNvSpPr/>
          <p:nvPr/>
        </p:nvSpPr>
        <p:spPr>
          <a:xfrm>
            <a:off x="576072" y="1289304"/>
            <a:ext cx="11055096" cy="3959352"/>
          </a:xfrm>
          <a:prstGeom prst="rect">
            <a:avLst/>
          </a:prstGeom>
          <a:noFill/>
          <a:ln/>
        </p:spPr>
        <p:txBody>
          <a:bodyPr wrap="square" lIns="635" tIns="635" rIns="635" bIns="635" rtlCol="0" anchor="t"/>
          <a:lstStyle/>
          <a:p>
            <a:pPr indent="0" marL="0">
              <a:buNone/>
            </a:pPr>
            <a:r>
              <a:rPr lang="en-US" sz="1200" dirty="0">
                <a:solidFill>
                  <a:srgbClr val="9CA3AF"/>
                </a:solidFill>
                <a:latin typeface="Consolas" pitchFamily="34" charset="0"/>
                <a:ea typeface="Consolas" pitchFamily="34" charset="-122"/>
                <a:cs typeface="Consolas" pitchFamily="34" charset="-120"/>
              </a:rPr>
              <a:t># Clone and set up</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git clone https://github.com/jeev1992/real-estate-negotiation-simulator &amp;&amp; cd real-estate-negotiation-simulator</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python -m venv .venv &amp;&amp; .venv\Scripts\activate         </a:t>
            </a:r>
            <a:r>
              <a:rPr lang="en-US" sz="1200" dirty="0">
                <a:solidFill>
                  <a:srgbClr val="9CA3AF"/>
                </a:solidFill>
                <a:latin typeface="Consolas" pitchFamily="34" charset="0"/>
                <a:ea typeface="Consolas" pitchFamily="34" charset="-122"/>
                <a:cs typeface="Consolas" pitchFamily="34" charset="-120"/>
              </a:rPr>
              <a:t> # Windows (macOS/Linux: source .venv/bin/activate)</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pip install -r requirements.txt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cp .env.example .env                                  </a:t>
            </a:r>
            <a:r>
              <a:rPr lang="en-US" sz="1200" dirty="0">
                <a:solidFill>
                  <a:srgbClr val="9CA3AF"/>
                </a:solidFill>
                <a:latin typeface="Consolas" pitchFamily="34" charset="0"/>
                <a:ea typeface="Consolas" pitchFamily="34" charset="-122"/>
                <a:cs typeface="Consolas" pitchFamily="34" charset="-120"/>
              </a:rPr>
              <a:t> # add OPENAI_API_KEY (and GITHUB_TOKEN for the GitHub demo)</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9CA3AF"/>
                </a:solidFill>
                <a:latin typeface="Consolas" pitchFamily="34" charset="0"/>
                <a:ea typeface="Consolas" pitchFamily="34" charset="-122"/>
                <a:cs typeface="Consolas" pitchFamily="34" charset="-120"/>
              </a:rPr>
              <a:t># Module 1 -- MCP</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python m1_mcp/demos/01_initialize_handshake.py</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python m1_mcp/demos/02_tool_loop_trace.py</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python m1_mcp/github_agent_client.py </a:t>
            </a:r>
            <a:r>
              <a:rPr lang="en-US" sz="1200" dirty="0">
                <a:solidFill>
                  <a:srgbClr val="A2FCA2"/>
                </a:solidFill>
                <a:latin typeface="Consolas" pitchFamily="34" charset="0"/>
                <a:ea typeface="Consolas" pitchFamily="34" charset="-122"/>
                <a:cs typeface="Consolas" pitchFamily="34" charset="-120"/>
              </a:rPr>
              <a:t>"Find popular MCP server implementations"</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python m1_mcp/sse_agent_client.py </a:t>
            </a:r>
            <a:r>
              <a:rPr lang="en-US" sz="1200" dirty="0">
                <a:solidFill>
                  <a:srgbClr val="A2FCA2"/>
                </a:solidFill>
                <a:latin typeface="Consolas" pitchFamily="34" charset="0"/>
                <a:ea typeface="Consolas" pitchFamily="34" charset="-122"/>
                <a:cs typeface="Consolas" pitchFamily="34" charset="-120"/>
              </a:rPr>
              <a:t>"What is 742 Evergreen Terrace worth?"</a:t>
            </a:r>
            <a:r>
              <a:rPr lang="en-US" sz="1200" dirty="0">
                <a:solidFill>
                  <a:srgbClr val="FFFFFF"/>
                </a:solidFill>
                <a:latin typeface="Consolas" pitchFamily="34" charset="0"/>
                <a:ea typeface="Consolas" pitchFamily="34" charset="-122"/>
                <a:cs typeface="Consolas" pitchFamily="34" charset="-120"/>
              </a:rPr>
              <a:t>  </a:t>
            </a:r>
            <a:r>
              <a:rPr lang="en-US" sz="1200" dirty="0">
                <a:solidFill>
                  <a:srgbClr val="9CA3AF"/>
                </a:solidFill>
                <a:latin typeface="Consolas" pitchFamily="34" charset="0"/>
                <a:ea typeface="Consolas" pitchFamily="34" charset="-122"/>
                <a:cs typeface="Consolas" pitchFamily="34" charset="-120"/>
              </a:rPr>
              <a:t> # after starting the servers with --sse</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9CA3AF"/>
                </a:solidFill>
                <a:latin typeface="Consolas" pitchFamily="34" charset="0"/>
                <a:ea typeface="Consolas" pitchFamily="34" charset="-122"/>
                <a:cs typeface="Consolas" pitchFamily="34" charset="-120"/>
              </a:rPr>
              <a:t># Module 2 -- ADK + A2A</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adk web m2_adk_multiagents/adk_demos/                 </a:t>
            </a:r>
            <a:r>
              <a:rPr lang="en-US" sz="1200" dirty="0">
                <a:solidFill>
                  <a:srgbClr val="9CA3AF"/>
                </a:solidFill>
                <a:latin typeface="Consolas" pitchFamily="34" charset="0"/>
                <a:ea typeface="Consolas" pitchFamily="34" charset="-122"/>
                <a:cs typeface="Consolas" pitchFamily="34" charset="-120"/>
              </a:rPr>
              <a:t> # 9 concept demos in one dropdown</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adk web --a2a m2_adk_multiagents/negotiation_agents/  </a:t>
            </a:r>
            <a:r>
              <a:rPr lang="en-US" sz="1200" dirty="0">
                <a:solidFill>
                  <a:srgbClr val="9CA3AF"/>
                </a:solidFill>
                <a:latin typeface="Consolas" pitchFamily="34" charset="0"/>
                <a:ea typeface="Consolas" pitchFamily="34" charset="-122"/>
                <a:cs typeface="Consolas" pitchFamily="34" charset="-120"/>
              </a:rPr>
              <a:t> # buyer, seller, negotiation + A2A endpoints</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python m2_adk_multiagents/a2a_demos/a2a_13_orchestrated_negotiation.py</a:t>
            </a:r>
            <a:endParaRPr lang="en-US" sz="1200" dirty="0"/>
          </a:p>
        </p:txBody>
      </p:sp>
      <p:sp>
        <p:nvSpPr>
          <p:cNvPr id="7" name="Shape 4"/>
          <p:cNvSpPr/>
          <p:nvPr/>
        </p:nvSpPr>
        <p:spPr>
          <a:xfrm>
            <a:off x="502920" y="5440680"/>
            <a:ext cx="11201400" cy="457200"/>
          </a:xfrm>
          <a:prstGeom prst="rect">
            <a:avLst/>
          </a:prstGeom>
          <a:solidFill>
            <a:srgbClr val="CCFBF1"/>
          </a:solidFill>
          <a:ln w="12700">
            <a:solidFill>
              <a:srgbClr val="CCFBF1"/>
            </a:solidFill>
            <a:prstDash val="solid"/>
          </a:ln>
        </p:spPr>
      </p:sp>
      <p:sp>
        <p:nvSpPr>
          <p:cNvPr id="8" name="Text 5"/>
          <p:cNvSpPr/>
          <p:nvPr/>
        </p:nvSpPr>
        <p:spPr>
          <a:xfrm>
            <a:off x="640080" y="5486400"/>
            <a:ext cx="10927080" cy="36576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Prerequisites: </a:t>
            </a:r>
            <a:r>
              <a:rPr lang="en-US" sz="1300" dirty="0">
                <a:solidFill>
                  <a:srgbClr val="1E293B"/>
                </a:solidFill>
                <a:latin typeface="Fira Sans" pitchFamily="34" charset="0"/>
                <a:ea typeface="Fira Sans" pitchFamily="34" charset="-122"/>
                <a:cs typeface="Fira Sans" pitchFamily="34" charset="-120"/>
              </a:rPr>
              <a:t>Python 3.10+, an OpenAI API key, and a GitHub personal access token for the GitHub MCP demo (it uses GitHub's hosted MCP server — no Node.js needed).</a:t>
            </a:r>
            <a:endParaRPr lang="en-US" sz="1300" dirty="0"/>
          </a:p>
        </p:txBody>
      </p:sp>
      <p:sp>
        <p:nvSpPr>
          <p:cNvPr id="9" name="Text 6"/>
          <p:cNvSpPr/>
          <p:nvPr/>
        </p:nvSpPr>
        <p:spPr>
          <a:xfrm>
            <a:off x="502920" y="5943600"/>
            <a:ext cx="9966960" cy="457200"/>
          </a:xfrm>
          <a:prstGeom prst="rect">
            <a:avLst/>
          </a:prstGeom>
          <a:noFill/>
          <a:ln/>
        </p:spPr>
        <p:txBody>
          <a:bodyPr wrap="square" rtlCol="0" anchor="ctr"/>
          <a:lstStyle/>
          <a:p>
            <a:pPr indent="0" marL="0">
              <a:buNone/>
            </a:pPr>
            <a:r>
              <a:rPr lang="en-US" sz="1200" i="1" dirty="0">
                <a:solidFill>
                  <a:srgbClr val="CBD5E1"/>
                </a:solidFill>
                <a:latin typeface="Fira Sans" pitchFamily="34" charset="0"/>
                <a:ea typeface="Fira Sans" pitchFamily="34" charset="-122"/>
                <a:cs typeface="Fira Sans" pitchFamily="34" charset="-120"/>
              </a:rPr>
              <a:t>First `adk` run asks "Enable telemetry? [Y/n]" — Enter means yes; answer n or run `adk telemetry disable` to opt out. Each module has a README with per-demo instructions.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914400" y="2743200"/>
            <a:ext cx="10332720" cy="1280160"/>
          </a:xfrm>
          <a:prstGeom prst="rect">
            <a:avLst/>
          </a:prstGeom>
          <a:noFill/>
          <a:ln/>
        </p:spPr>
        <p:txBody>
          <a:bodyPr wrap="square" rtlCol="0" anchor="ctr"/>
          <a:lstStyle/>
          <a:p>
            <a:pPr algn="ctr" indent="0" marL="0">
              <a:buNone/>
            </a:pPr>
            <a:r>
              <a:rPr lang="en-US" sz="5000" b="1" dirty="0">
                <a:solidFill>
                  <a:srgbClr val="3896D2"/>
                </a:solidFill>
                <a:latin typeface="Fira Sans" pitchFamily="34" charset="0"/>
                <a:ea typeface="Fira Sans" pitchFamily="34" charset="-122"/>
                <a:cs typeface="Fira Sans" pitchFamily="34" charset="-120"/>
              </a:rPr>
              <a:t>What exactly are we building?</a:t>
            </a:r>
            <a:endParaRPr lang="en-US" sz="5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Problem statement</a:t>
            </a:r>
            <a:endParaRPr lang="en-US" sz="3000" dirty="0"/>
          </a:p>
        </p:txBody>
      </p:sp>
      <p:sp>
        <p:nvSpPr>
          <p:cNvPr id="4" name="Text 1"/>
          <p:cNvSpPr/>
          <p:nvPr/>
        </p:nvSpPr>
        <p:spPr>
          <a:xfrm>
            <a:off x="457200" y="914400"/>
            <a:ext cx="11247120" cy="914400"/>
          </a:xfrm>
          <a:prstGeom prst="rect">
            <a:avLst/>
          </a:prstGeom>
          <a:noFill/>
          <a:ln/>
        </p:spPr>
        <p:txBody>
          <a:bodyPr wrap="square" rtlCol="0" anchor="ctr"/>
          <a:lstStyle/>
          <a:p>
            <a:pPr indent="0" marL="0">
              <a:buNone/>
            </a:pPr>
            <a:r>
              <a:rPr lang="en-US" sz="1500" dirty="0">
                <a:solidFill>
                  <a:srgbClr val="FFFFFF"/>
                </a:solidFill>
                <a:latin typeface="Fira Sans" pitchFamily="34" charset="0"/>
                <a:ea typeface="Fira Sans" pitchFamily="34" charset="-122"/>
                <a:cs typeface="Fira Sans" pitchFamily="34" charset="-120"/>
              </a:rPr>
              <a:t>In Week 6 we build a </a:t>
            </a:r>
            <a:r>
              <a:rPr lang="en-US" sz="1500" b="1" dirty="0">
                <a:solidFill>
                  <a:srgbClr val="FFAB40"/>
                </a:solidFill>
                <a:latin typeface="Fira Sans" pitchFamily="34" charset="0"/>
                <a:ea typeface="Fira Sans" pitchFamily="34" charset="-122"/>
                <a:cs typeface="Fira Sans" pitchFamily="34" charset="-120"/>
              </a:rPr>
              <a:t>real estate negotiation simulator</a:t>
            </a:r>
            <a:r>
              <a:rPr lang="en-US" sz="1500" dirty="0">
                <a:solidFill>
                  <a:srgbClr val="FFFFFF"/>
                </a:solidFill>
                <a:latin typeface="Fira Sans" pitchFamily="34" charset="0"/>
                <a:ea typeface="Fira Sans" pitchFamily="34" charset="-122"/>
                <a:cs typeface="Fira Sans" pitchFamily="34" charset="-120"/>
              </a:rPr>
              <a:t> where two AI agents — a Buyer and a Seller — autonomously negotiate the purchase of 742 Evergreen Terrace, Austin TX 78701 (4 BR / 3 BA / 2,400 sqft / listed at $485,000). The negotiation runs for at most 5 rounds and must end in a deal or a clean deadlock.</a:t>
            </a:r>
            <a:endParaRPr lang="en-US" sz="1500" dirty="0"/>
          </a:p>
        </p:txBody>
      </p:sp>
      <p:sp>
        <p:nvSpPr>
          <p:cNvPr id="5" name="Text 2"/>
          <p:cNvSpPr/>
          <p:nvPr/>
        </p:nvSpPr>
        <p:spPr>
          <a:xfrm>
            <a:off x="502920" y="19659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The agents and their constraints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31520" y="2331720"/>
          <a:ext cx="10698480" cy="914400"/>
        </p:xfrm>
        <a:graphic>
          <a:graphicData uri="http://schemas.openxmlformats.org/drawingml/2006/table">
            <a:tbl>
              <a:tblPr/>
              <a:tblGrid>
                <a:gridCol w="2926080"/>
                <a:gridCol w="2743200"/>
                <a:gridCol w="2560320"/>
                <a:gridCol w="2468880"/>
              </a:tblGrid>
              <a:tr h="0">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Party</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344359"/>
                    </a:solidFill>
                  </a:tcPr>
                </a:tc>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Goal</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344359"/>
                    </a:solidFill>
                  </a:tcPr>
                </a:tc>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Starting position</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344359"/>
                    </a:solidFill>
                  </a:tcPr>
                </a:tc>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Walk-away</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344359"/>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Buyer Agent (gpt-4o)</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Buy at lowest price</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Offer ~$425,000</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Over $460,000</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Seller Agent (gpt-4o)</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Sell at highest price</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Counter $477,000</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Below $445,000</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7" name="Text 3"/>
          <p:cNvSpPr/>
          <p:nvPr/>
        </p:nvSpPr>
        <p:spPr>
          <a:xfrm>
            <a:off x="502920" y="361188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The problem we're solving (in the real world)</a:t>
            </a:r>
            <a:endParaRPr lang="en-US" sz="1400" dirty="0"/>
          </a:p>
        </p:txBody>
      </p:sp>
      <p:sp>
        <p:nvSpPr>
          <p:cNvPr id="8" name="Text 4"/>
          <p:cNvSpPr/>
          <p:nvPr/>
        </p:nvSpPr>
        <p:spPr>
          <a:xfrm>
            <a:off x="502920" y="3977640"/>
            <a:ext cx="9875520" cy="2194560"/>
          </a:xfrm>
          <a:prstGeom prst="rect">
            <a:avLst/>
          </a:prstGeom>
          <a:noFill/>
          <a:ln/>
        </p:spPr>
        <p:txBody>
          <a:bodyPr wrap="square" lIns="635" tIns="635" rIns="635" bIns="635" rtlCol="0" anchor="t"/>
          <a:lstStyle/>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A buyer for 742 Evergreen Terrace wants to pay as little as possible (budget: $460K)</a:t>
            </a:r>
            <a:endParaRPr lang="en-US" sz="1400" dirty="0"/>
          </a:p>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The seller won't go below their mortgage floor ($445K) but listed at $485K</a:t>
            </a:r>
            <a:endParaRPr lang="en-US" sz="1400" dirty="0"/>
          </a:p>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Both sides need live market data to justify every move — and neither may see the other's private numbers</a:t>
            </a:r>
            <a:endParaRPr lang="en-US" sz="1400" dirty="0"/>
          </a:p>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The negotiation must terminate within 5 rounds with either a deal or a clear deadlock</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Today's Agenda</a:t>
            </a:r>
            <a:endParaRPr lang="en-US" sz="3000" dirty="0"/>
          </a:p>
        </p:txBody>
      </p:sp>
      <p:sp>
        <p:nvSpPr>
          <p:cNvPr id="4" name="Shape 1"/>
          <p:cNvSpPr/>
          <p:nvPr/>
        </p:nvSpPr>
        <p:spPr>
          <a:xfrm>
            <a:off x="2112264" y="1252728"/>
            <a:ext cx="2286000" cy="5029200"/>
          </a:xfrm>
          <a:prstGeom prst="roundRect">
            <a:avLst>
              <a:gd name="adj" fmla="val 48000"/>
            </a:avLst>
          </a:prstGeom>
          <a:solidFill>
            <a:srgbClr val="C27BA0"/>
          </a:solidFill>
          <a:ln w="12700">
            <a:solidFill>
              <a:srgbClr val="C27BA0"/>
            </a:solidFill>
            <a:prstDash val="solid"/>
          </a:ln>
        </p:spPr>
      </p:sp>
      <p:sp>
        <p:nvSpPr>
          <p:cNvPr id="5" name="Shape 2"/>
          <p:cNvSpPr/>
          <p:nvPr/>
        </p:nvSpPr>
        <p:spPr>
          <a:xfrm>
            <a:off x="2578608" y="1627632"/>
            <a:ext cx="1353312" cy="1353312"/>
          </a:xfrm>
          <a:prstGeom prst="ellipse">
            <a:avLst/>
          </a:prstGeom>
          <a:solidFill>
            <a:srgbClr val="FFFFFF"/>
          </a:solidFill>
          <a:ln w="12700">
            <a:solidFill>
              <a:srgbClr val="FFFFFF"/>
            </a:solidFill>
            <a:prstDash val="solid"/>
          </a:ln>
        </p:spPr>
      </p:sp>
      <p:sp>
        <p:nvSpPr>
          <p:cNvPr id="6" name="Text 3"/>
          <p:cNvSpPr/>
          <p:nvPr/>
        </p:nvSpPr>
        <p:spPr>
          <a:xfrm>
            <a:off x="2578608" y="1627632"/>
            <a:ext cx="1353312" cy="1353312"/>
          </a:xfrm>
          <a:prstGeom prst="rect">
            <a:avLst/>
          </a:prstGeom>
          <a:noFill/>
          <a:ln/>
        </p:spPr>
        <p:txBody>
          <a:bodyPr wrap="square" rtlCol="0" anchor="ctr"/>
          <a:lstStyle/>
          <a:p>
            <a:pPr algn="ctr" indent="0" marL="0">
              <a:buNone/>
            </a:pPr>
            <a:r>
              <a:rPr lang="en-US" sz="6000" b="1" dirty="0">
                <a:solidFill>
                  <a:srgbClr val="C27BA0"/>
                </a:solidFill>
                <a:latin typeface="Fira Sans" pitchFamily="34" charset="0"/>
                <a:ea typeface="Fira Sans" pitchFamily="34" charset="-122"/>
                <a:cs typeface="Fira Sans" pitchFamily="34" charset="-120"/>
              </a:rPr>
              <a:t>1</a:t>
            </a:r>
            <a:endParaRPr lang="en-US" sz="6000" dirty="0"/>
          </a:p>
        </p:txBody>
      </p:sp>
      <p:pic>
        <p:nvPicPr>
          <p:cNvPr id="7" name="Image 1" descr="C:\Users\jeesingh\.copilot\session-state\b8ab4bc6-faf5-4ebd-bea2-f997a4b9a7ea\files\deck\img\x180.png">    </p:cNvPr>
          <p:cNvPicPr>
            <a:picLocks noChangeAspect="1"/>
          </p:cNvPicPr>
          <p:nvPr/>
        </p:nvPicPr>
        <p:blipFill>
          <a:blip r:embed="rId2"/>
          <a:stretch>
            <a:fillRect/>
          </a:stretch>
        </p:blipFill>
        <p:spPr>
          <a:xfrm>
            <a:off x="2889504" y="3611880"/>
            <a:ext cx="731520" cy="731520"/>
          </a:xfrm>
          <a:prstGeom prst="rect">
            <a:avLst/>
          </a:prstGeom>
        </p:spPr>
      </p:pic>
      <p:sp>
        <p:nvSpPr>
          <p:cNvPr id="8" name="Text 4"/>
          <p:cNvSpPr/>
          <p:nvPr/>
        </p:nvSpPr>
        <p:spPr>
          <a:xfrm>
            <a:off x="2203704" y="4754880"/>
            <a:ext cx="2103120" cy="822960"/>
          </a:xfrm>
          <a:prstGeom prst="rect">
            <a:avLst/>
          </a:prstGeom>
          <a:noFill/>
          <a:ln/>
        </p:spPr>
        <p:txBody>
          <a:bodyPr wrap="square" rtlCol="0" anchor="ctr"/>
          <a:lstStyle/>
          <a:p>
            <a:pPr algn="ctr" indent="0" marL="0">
              <a:buNone/>
            </a:pPr>
            <a:r>
              <a:rPr lang="en-US" sz="1600" b="1" dirty="0">
                <a:solidFill>
                  <a:srgbClr val="FFFFFF"/>
                </a:solidFill>
                <a:latin typeface="Fira Sans" pitchFamily="34" charset="0"/>
                <a:ea typeface="Fira Sans" pitchFamily="34" charset="-122"/>
                <a:cs typeface="Fira Sans" pitchFamily="34" charset="-120"/>
              </a:rPr>
              <a:t>MCP - External</a:t>
            </a:r>
            <a:endParaRPr lang="en-US" sz="1600" dirty="0"/>
          </a:p>
          <a:p>
            <a:pPr algn="ctr" indent="0" marL="0">
              <a:buNone/>
            </a:pPr>
            <a:r>
              <a:rPr lang="en-US" sz="1600" b="1" dirty="0">
                <a:solidFill>
                  <a:srgbClr val="FFFFFF"/>
                </a:solidFill>
                <a:latin typeface="Fira Sans" pitchFamily="34" charset="0"/>
                <a:ea typeface="Fira Sans" pitchFamily="34" charset="-122"/>
                <a:cs typeface="Fira Sans" pitchFamily="34" charset="-120"/>
              </a:rPr>
              <a:t>Data for Agents</a:t>
            </a:r>
            <a:endParaRPr lang="en-US" sz="1600" dirty="0"/>
          </a:p>
        </p:txBody>
      </p:sp>
      <p:pic>
        <p:nvPicPr>
          <p:cNvPr id="9" name="Image 2" descr="C:\Users\jeesingh\.copilot\session-state\b8ab4bc6-faf5-4ebd-bea2-f997a4b9a7ea\files\deck\img\x179.png">    </p:cNvPr>
          <p:cNvPicPr>
            <a:picLocks noChangeAspect="1"/>
          </p:cNvPicPr>
          <p:nvPr/>
        </p:nvPicPr>
        <p:blipFill>
          <a:blip r:embed="rId3"/>
          <a:stretch>
            <a:fillRect/>
          </a:stretch>
        </p:blipFill>
        <p:spPr>
          <a:xfrm>
            <a:off x="3026664" y="735823"/>
            <a:ext cx="457200" cy="430306"/>
          </a:xfrm>
          <a:prstGeom prst="rect">
            <a:avLst/>
          </a:prstGeom>
        </p:spPr>
      </p:pic>
      <p:sp>
        <p:nvSpPr>
          <p:cNvPr id="10" name="Shape 5"/>
          <p:cNvSpPr/>
          <p:nvPr/>
        </p:nvSpPr>
        <p:spPr>
          <a:xfrm>
            <a:off x="7808976" y="1252728"/>
            <a:ext cx="2286000" cy="5029200"/>
          </a:xfrm>
          <a:prstGeom prst="roundRect">
            <a:avLst>
              <a:gd name="adj" fmla="val 48000"/>
            </a:avLst>
          </a:prstGeom>
          <a:solidFill>
            <a:srgbClr val="1FC2BA"/>
          </a:solidFill>
          <a:ln w="12700">
            <a:solidFill>
              <a:srgbClr val="1FC2BA"/>
            </a:solidFill>
            <a:prstDash val="solid"/>
          </a:ln>
        </p:spPr>
      </p:sp>
      <p:sp>
        <p:nvSpPr>
          <p:cNvPr id="11" name="Shape 6"/>
          <p:cNvSpPr/>
          <p:nvPr/>
        </p:nvSpPr>
        <p:spPr>
          <a:xfrm>
            <a:off x="8275320" y="1627632"/>
            <a:ext cx="1353312" cy="1353312"/>
          </a:xfrm>
          <a:prstGeom prst="ellipse">
            <a:avLst/>
          </a:prstGeom>
          <a:solidFill>
            <a:srgbClr val="FFFFFF"/>
          </a:solidFill>
          <a:ln w="12700">
            <a:solidFill>
              <a:srgbClr val="FFFFFF"/>
            </a:solidFill>
            <a:prstDash val="solid"/>
          </a:ln>
        </p:spPr>
      </p:sp>
      <p:sp>
        <p:nvSpPr>
          <p:cNvPr id="12" name="Text 7"/>
          <p:cNvSpPr/>
          <p:nvPr/>
        </p:nvSpPr>
        <p:spPr>
          <a:xfrm>
            <a:off x="8275320" y="1627632"/>
            <a:ext cx="1353312" cy="1353312"/>
          </a:xfrm>
          <a:prstGeom prst="rect">
            <a:avLst/>
          </a:prstGeom>
          <a:noFill/>
          <a:ln/>
        </p:spPr>
        <p:txBody>
          <a:bodyPr wrap="square" rtlCol="0" anchor="ctr"/>
          <a:lstStyle/>
          <a:p>
            <a:pPr algn="ctr" indent="0" marL="0">
              <a:buNone/>
            </a:pPr>
            <a:r>
              <a:rPr lang="en-US" sz="6000" b="1" dirty="0">
                <a:solidFill>
                  <a:srgbClr val="1FC2BA"/>
                </a:solidFill>
                <a:latin typeface="Fira Sans" pitchFamily="34" charset="0"/>
                <a:ea typeface="Fira Sans" pitchFamily="34" charset="-122"/>
                <a:cs typeface="Fira Sans" pitchFamily="34" charset="-120"/>
              </a:rPr>
              <a:t>2</a:t>
            </a:r>
            <a:endParaRPr lang="en-US" sz="6000" dirty="0"/>
          </a:p>
        </p:txBody>
      </p:sp>
      <p:pic>
        <p:nvPicPr>
          <p:cNvPr id="13" name="Image 3" descr="C:\Users\jeesingh\.copilot\session-state\b8ab4bc6-faf5-4ebd-bea2-f997a4b9a7ea\files\deck\img\x181.png">    </p:cNvPr>
          <p:cNvPicPr>
            <a:picLocks noChangeAspect="1"/>
          </p:cNvPicPr>
          <p:nvPr/>
        </p:nvPicPr>
        <p:blipFill>
          <a:blip r:embed="rId4"/>
          <a:stretch>
            <a:fillRect/>
          </a:stretch>
        </p:blipFill>
        <p:spPr>
          <a:xfrm>
            <a:off x="8586216" y="3611880"/>
            <a:ext cx="731520" cy="731520"/>
          </a:xfrm>
          <a:prstGeom prst="rect">
            <a:avLst/>
          </a:prstGeom>
        </p:spPr>
      </p:pic>
      <p:sp>
        <p:nvSpPr>
          <p:cNvPr id="14" name="Text 8"/>
          <p:cNvSpPr/>
          <p:nvPr/>
        </p:nvSpPr>
        <p:spPr>
          <a:xfrm>
            <a:off x="7900416" y="4754880"/>
            <a:ext cx="2103120" cy="822960"/>
          </a:xfrm>
          <a:prstGeom prst="rect">
            <a:avLst/>
          </a:prstGeom>
          <a:noFill/>
          <a:ln/>
        </p:spPr>
        <p:txBody>
          <a:bodyPr wrap="square" rtlCol="0" anchor="ctr"/>
          <a:lstStyle/>
          <a:p>
            <a:pPr algn="ctr" indent="0" marL="0">
              <a:buNone/>
            </a:pPr>
            <a:r>
              <a:rPr lang="en-US" sz="1600" b="1" dirty="0">
                <a:solidFill>
                  <a:srgbClr val="FFFFFF"/>
                </a:solidFill>
                <a:latin typeface="Fira Sans" pitchFamily="34" charset="0"/>
                <a:ea typeface="Fira Sans" pitchFamily="34" charset="-122"/>
                <a:cs typeface="Fira Sans" pitchFamily="34" charset="-120"/>
              </a:rPr>
              <a:t>Google ADK + A2A</a:t>
            </a:r>
            <a:endParaRPr lang="en-US" sz="1600" dirty="0"/>
          </a:p>
          <a:p>
            <a:pPr algn="ctr" indent="0" marL="0">
              <a:buNone/>
            </a:pPr>
            <a:r>
              <a:rPr lang="en-US" sz="1600" b="1" dirty="0">
                <a:solidFill>
                  <a:srgbClr val="FFFFFF"/>
                </a:solidFill>
                <a:latin typeface="Fira Sans" pitchFamily="34" charset="0"/>
                <a:ea typeface="Fira Sans" pitchFamily="34" charset="-122"/>
                <a:cs typeface="Fira Sans" pitchFamily="34" charset="-120"/>
              </a:rPr>
              <a:t>Protocol</a:t>
            </a:r>
            <a:endParaRPr lang="en-US" sz="1600" dirty="0"/>
          </a:p>
        </p:txBody>
      </p:sp>
      <p:sp>
        <p:nvSpPr>
          <p:cNvPr id="15" name="Shape 9"/>
          <p:cNvSpPr/>
          <p:nvPr/>
        </p:nvSpPr>
        <p:spPr>
          <a:xfrm>
            <a:off x="6099048" y="1280160"/>
            <a:ext cx="0" cy="4937760"/>
          </a:xfrm>
          <a:prstGeom prst="line">
            <a:avLst/>
          </a:prstGeom>
          <a:noFill/>
          <a:ln w="19050">
            <a:solidFill>
              <a:srgbClr val="E11D48"/>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MCP: </a:t>
            </a:r>
            <a:r>
              <a:rPr lang="en-US" sz="3000" b="1" dirty="0">
                <a:solidFill>
                  <a:srgbClr val="FFFFFF"/>
                </a:solidFill>
                <a:latin typeface="Fira Sans" pitchFamily="34" charset="0"/>
                <a:ea typeface="Fira Sans" pitchFamily="34" charset="-122"/>
                <a:cs typeface="Fira Sans" pitchFamily="34" charset="-120"/>
              </a:rPr>
              <a:t>External Data for Agents</a:t>
            </a:r>
            <a:endParaRPr lang="en-US" sz="3000" dirty="0"/>
          </a:p>
        </p:txBody>
      </p:sp>
      <p:sp>
        <p:nvSpPr>
          <p:cNvPr id="4" name="Text 1"/>
          <p:cNvSpPr/>
          <p:nvPr/>
        </p:nvSpPr>
        <p:spPr>
          <a:xfrm>
            <a:off x="502920" y="1051560"/>
            <a:ext cx="11155680" cy="685800"/>
          </a:xfrm>
          <a:prstGeom prst="rect">
            <a:avLst/>
          </a:prstGeom>
          <a:noFill/>
          <a:ln/>
        </p:spPr>
        <p:txBody>
          <a:bodyPr wrap="square" rtlCol="0" anchor="ctr"/>
          <a:lstStyle/>
          <a:p>
            <a:pPr indent="0" marL="0">
              <a:buNone/>
            </a:pPr>
            <a:r>
              <a:rPr lang="en-US" sz="1700" b="1" dirty="0">
                <a:solidFill>
                  <a:srgbClr val="FFFFFF"/>
                </a:solidFill>
                <a:latin typeface="Fira Sans" pitchFamily="34" charset="0"/>
                <a:ea typeface="Fira Sans" pitchFamily="34" charset="-122"/>
                <a:cs typeface="Fira Sans" pitchFamily="34" charset="-120"/>
              </a:rPr>
              <a:t>MCP </a:t>
            </a:r>
            <a:r>
              <a:rPr lang="en-US" sz="1700" b="1" dirty="0">
                <a:solidFill>
                  <a:srgbClr val="FFAB40"/>
                </a:solidFill>
                <a:latin typeface="Fira Sans" pitchFamily="34" charset="0"/>
                <a:ea typeface="Fira Sans" pitchFamily="34" charset="-122"/>
                <a:cs typeface="Fira Sans" pitchFamily="34" charset="-120"/>
              </a:rPr>
              <a:t>Model Context Protocol</a:t>
            </a:r>
            <a:r>
              <a:rPr lang="en-US" sz="1700" dirty="0">
                <a:solidFill>
                  <a:srgbClr val="FFFFFF"/>
                </a:solidFill>
                <a:latin typeface="Fira Sans" pitchFamily="34" charset="0"/>
                <a:ea typeface="Fira Sans" pitchFamily="34" charset="-122"/>
                <a:cs typeface="Fira Sans" pitchFamily="34" charset="-120"/>
              </a:rPr>
              <a:t> is a standard that lets agents call external tools without knowing where the data comes from.</a:t>
            </a:r>
            <a:endParaRPr lang="en-US" sz="1700" dirty="0"/>
          </a:p>
        </p:txBody>
      </p:sp>
      <p:sp>
        <p:nvSpPr>
          <p:cNvPr id="5" name="Shape 2"/>
          <p:cNvSpPr/>
          <p:nvPr/>
        </p:nvSpPr>
        <p:spPr>
          <a:xfrm>
            <a:off x="502920" y="1920240"/>
            <a:ext cx="7680960" cy="1143000"/>
          </a:xfrm>
          <a:prstGeom prst="rect">
            <a:avLst/>
          </a:prstGeom>
          <a:solidFill>
            <a:srgbClr val="333333"/>
          </a:solidFill>
          <a:ln w="12700">
            <a:solidFill>
              <a:srgbClr val="333333"/>
            </a:solidFill>
            <a:prstDash val="solid"/>
          </a:ln>
        </p:spPr>
      </p:sp>
      <p:sp>
        <p:nvSpPr>
          <p:cNvPr id="6" name="Text 3"/>
          <p:cNvSpPr/>
          <p:nvPr/>
        </p:nvSpPr>
        <p:spPr>
          <a:xfrm>
            <a:off x="576072" y="1975104"/>
            <a:ext cx="7534656" cy="1033272"/>
          </a:xfrm>
          <a:prstGeom prst="rect">
            <a:avLst/>
          </a:prstGeom>
          <a:noFill/>
          <a:ln/>
        </p:spPr>
        <p:txBody>
          <a:bodyPr wrap="square" lIns="635" tIns="635" rIns="635" bIns="635" rtlCol="0" anchor="t"/>
          <a:lstStyle/>
          <a:p>
            <a:pPr indent="0" marL="0">
              <a:buNone/>
            </a:pPr>
            <a:r>
              <a:rPr lang="en-US" sz="1300" dirty="0">
                <a:solidFill>
                  <a:srgbClr val="FFFFFF"/>
                </a:solidFill>
                <a:latin typeface="Consolas" pitchFamily="34" charset="0"/>
                <a:ea typeface="Consolas" pitchFamily="34" charset="-122"/>
                <a:cs typeface="Consolas" pitchFamily="34" charset="-120"/>
              </a:rPr>
              <a:t>Agent:  </a:t>
            </a:r>
            <a:r>
              <a:rPr lang="en-US" sz="1300" dirty="0">
                <a:solidFill>
                  <a:srgbClr val="A2FCA2"/>
                </a:solidFill>
                <a:latin typeface="Consolas" pitchFamily="34" charset="0"/>
                <a:ea typeface="Consolas" pitchFamily="34" charset="-122"/>
                <a:cs typeface="Consolas" pitchFamily="34" charset="-120"/>
              </a:rPr>
              <a:t>"What tools do you have?"</a:t>
            </a:r>
            <a:r>
              <a:rPr lang="en-US" sz="1300" dirty="0">
                <a:solidFill>
                  <a:srgbClr val="FFFFFF"/>
                </a:solidFill>
                <a:latin typeface="Consolas" pitchFamily="34" charset="0"/>
                <a:ea typeface="Consolas" pitchFamily="34" charset="-122"/>
                <a:cs typeface="Consolas" pitchFamily="34" charset="-120"/>
              </a:rPr>
              <a:t>          -&gt; tools/list</a:t>
            </a:r>
            <a:endParaRPr lang="en-US" sz="1300" dirty="0"/>
          </a:p>
          <a:p>
            <a:pPr indent="0" marL="0">
              <a:buNone/>
            </a:pPr>
            <a:r>
              <a:rPr lang="en-US" sz="1300" dirty="0">
                <a:solidFill>
                  <a:srgbClr val="FFFFFF"/>
                </a:solidFill>
                <a:latin typeface="Consolas" pitchFamily="34" charset="0"/>
                <a:ea typeface="Consolas" pitchFamily="34" charset="-122"/>
                <a:cs typeface="Consolas" pitchFamily="34" charset="-120"/>
              </a:rPr>
              <a:t>Server: </a:t>
            </a:r>
            <a:r>
              <a:rPr lang="en-US" sz="1300" dirty="0">
                <a:solidFill>
                  <a:srgbClr val="A2FCA2"/>
                </a:solidFill>
                <a:latin typeface="Consolas" pitchFamily="34" charset="0"/>
                <a:ea typeface="Consolas" pitchFamily="34" charset="-122"/>
                <a:cs typeface="Consolas" pitchFamily="34" charset="-120"/>
              </a:rPr>
              <a:t>"get_market_price, ..."</a:t>
            </a:r>
            <a:r>
              <a:rPr lang="en-US" sz="1300" dirty="0">
                <a:solidFill>
                  <a:srgbClr val="FFFFFF"/>
                </a:solidFill>
                <a:latin typeface="Consolas" pitchFamily="34" charset="0"/>
                <a:ea typeface="Consolas" pitchFamily="34" charset="-122"/>
                <a:cs typeface="Consolas" pitchFamily="34" charset="-120"/>
              </a:rPr>
              <a:t>             -&gt; tool schemas (JSON Schema)</a:t>
            </a:r>
            <a:endParaRPr lang="en-US" sz="1300" dirty="0"/>
          </a:p>
          <a:p>
            <a:pPr indent="0" marL="0">
              <a:buNone/>
            </a:pPr>
            <a:r>
              <a:rPr lang="en-US" sz="1300" dirty="0">
                <a:solidFill>
                  <a:srgbClr val="FFFFFF"/>
                </a:solidFill>
                <a:latin typeface="Consolas" pitchFamily="34" charset="0"/>
                <a:ea typeface="Consolas" pitchFamily="34" charset="-122"/>
                <a:cs typeface="Consolas" pitchFamily="34" charset="-120"/>
              </a:rPr>
              <a:t>Agent:  </a:t>
            </a:r>
            <a:r>
              <a:rPr lang="en-US" sz="1300" dirty="0">
                <a:solidFill>
                  <a:srgbClr val="A2FCA2"/>
                </a:solidFill>
                <a:latin typeface="Consolas" pitchFamily="34" charset="0"/>
                <a:ea typeface="Consolas" pitchFamily="34" charset="-122"/>
                <a:cs typeface="Consolas" pitchFamily="34" charset="-120"/>
              </a:rPr>
              <a:t>"Call get_market_price(...)"</a:t>
            </a:r>
            <a:r>
              <a:rPr lang="en-US" sz="1300" dirty="0">
                <a:solidFill>
                  <a:srgbClr val="FFFFFF"/>
                </a:solidFill>
                <a:latin typeface="Consolas" pitchFamily="34" charset="0"/>
                <a:ea typeface="Consolas" pitchFamily="34" charset="-122"/>
                <a:cs typeface="Consolas" pitchFamily="34" charset="-120"/>
              </a:rPr>
              <a:t>        -&gt; tools/call</a:t>
            </a:r>
            <a:endParaRPr lang="en-US" sz="1300" dirty="0"/>
          </a:p>
          <a:p>
            <a:pPr indent="0" marL="0">
              <a:buNone/>
            </a:pPr>
            <a:r>
              <a:rPr lang="en-US" sz="1300" dirty="0">
                <a:solidFill>
                  <a:srgbClr val="FFFFFF"/>
                </a:solidFill>
                <a:latin typeface="Consolas" pitchFamily="34" charset="0"/>
                <a:ea typeface="Consolas" pitchFamily="34" charset="-122"/>
                <a:cs typeface="Consolas" pitchFamily="34" charset="-120"/>
              </a:rPr>
              <a:t>Server: {estimated_value: 462000}           -&gt; structured result</a:t>
            </a:r>
            <a:endParaRPr lang="en-US" sz="1300" dirty="0"/>
          </a:p>
        </p:txBody>
      </p:sp>
      <p:sp>
        <p:nvSpPr>
          <p:cNvPr id="7" name="Text 4"/>
          <p:cNvSpPr/>
          <p:nvPr/>
        </p:nvSpPr>
        <p:spPr>
          <a:xfrm>
            <a:off x="502920" y="342900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By the end of this module:</a:t>
            </a:r>
            <a:endParaRPr lang="en-US" sz="1400" dirty="0"/>
          </a:p>
        </p:txBody>
      </p:sp>
      <p:sp>
        <p:nvSpPr>
          <p:cNvPr id="8" name="Text 5"/>
          <p:cNvSpPr/>
          <p:nvPr/>
        </p:nvSpPr>
        <p:spPr>
          <a:xfrm>
            <a:off x="502920" y="3794760"/>
            <a:ext cx="10515600" cy="2103120"/>
          </a:xfrm>
          <a:prstGeom prst="rect">
            <a:avLst/>
          </a:prstGeom>
          <a:noFill/>
          <a:ln/>
        </p:spPr>
        <p:txBody>
          <a:bodyPr wrap="square" lIns="635" tIns="635" rIns="635" bIns="635" rtlCol="0" anchor="t"/>
          <a:lstStyle/>
          <a:p>
            <a:pPr lvl="1" marL="685800" indent="-342900">
              <a:spcAft>
                <a:spcPts val="800"/>
              </a:spcAft>
              <a:buSzPct val="100000"/>
              <a:buChar char="•"/>
            </a:pPr>
            <a:r>
              <a:rPr lang="en-US" sz="1600" dirty="0">
                <a:solidFill>
                  <a:srgbClr val="FFFFFF"/>
                </a:solidFill>
                <a:latin typeface="Fira Sans" pitchFamily="34" charset="0"/>
                <a:ea typeface="Fira Sans" pitchFamily="34" charset="-122"/>
                <a:cs typeface="Fira Sans" pitchFamily="34" charset="-120"/>
              </a:rPr>
              <a:t>You'll understand the MCP protocol (handshake, tools, resources, prompts)</a:t>
            </a:r>
            <a:endParaRPr lang="en-US" sz="1600" dirty="0"/>
          </a:p>
          <a:p>
            <a:pPr lvl="1" marL="685800" indent="-342900">
              <a:spcAft>
                <a:spcPts val="800"/>
              </a:spcAft>
              <a:buSzPct val="100000"/>
              <a:buChar char="•"/>
            </a:pPr>
            <a:r>
              <a:rPr lang="en-US" sz="1600" dirty="0">
                <a:solidFill>
                  <a:srgbClr val="FFFFFF"/>
                </a:solidFill>
                <a:latin typeface="Fira Sans" pitchFamily="34" charset="0"/>
                <a:ea typeface="Fira Sans" pitchFamily="34" charset="-122"/>
                <a:cs typeface="Fira Sans" pitchFamily="34" charset="-120"/>
              </a:rPr>
              <a:t>You'll have seen a live agent use GitHub's official MCP server — tools and a resource</a:t>
            </a:r>
            <a:endParaRPr lang="en-US" sz="1600" dirty="0"/>
          </a:p>
          <a:p>
            <a:pPr lvl="1" marL="685800" indent="-342900">
              <a:spcAft>
                <a:spcPts val="800"/>
              </a:spcAft>
              <a:buSzPct val="100000"/>
              <a:buChar char="•"/>
            </a:pPr>
            <a:r>
              <a:rPr lang="en-US" sz="1600" dirty="0">
                <a:solidFill>
                  <a:srgbClr val="FFFFFF"/>
                </a:solidFill>
                <a:latin typeface="Fira Sans" pitchFamily="34" charset="0"/>
                <a:ea typeface="Fira Sans" pitchFamily="34" charset="-122"/>
                <a:cs typeface="Fira Sans" pitchFamily="34" charset="-120"/>
              </a:rPr>
              <a:t>You'll have built and inspected custom MCP servers</a:t>
            </a:r>
            <a:endParaRPr lang="en-US" sz="1600" dirty="0"/>
          </a:p>
          <a:p>
            <a:pPr lvl="1" marL="685800" indent="-342900">
              <a:spcAft>
                <a:spcPts val="800"/>
              </a:spcAft>
              <a:buSzPct val="100000"/>
              <a:buChar char="•"/>
            </a:pPr>
            <a:r>
              <a:rPr lang="en-US" sz="1600" dirty="0">
                <a:solidFill>
                  <a:srgbClr val="FFFFFF"/>
                </a:solidFill>
                <a:latin typeface="Fira Sans" pitchFamily="34" charset="0"/>
                <a:ea typeface="Fira Sans" pitchFamily="34" charset="-122"/>
                <a:cs typeface="Fira Sans" pitchFamily="34" charset="-120"/>
              </a:rPr>
              <a:t>You'll understand stdio vs SSE vs Streamable HTTP transports — and where auth fits</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API vs CLI vs MCP: </a:t>
            </a:r>
            <a:r>
              <a:rPr lang="en-US" sz="3000" b="1" dirty="0">
                <a:solidFill>
                  <a:srgbClr val="FFFFFF"/>
                </a:solidFill>
                <a:latin typeface="Fira Sans" pitchFamily="34" charset="0"/>
                <a:ea typeface="Fira Sans" pitchFamily="34" charset="-122"/>
                <a:cs typeface="Fira Sans" pitchFamily="34" charset="-120"/>
              </a:rPr>
              <a:t>Three Paths to External Systems</a:t>
            </a:r>
            <a:endParaRPr lang="en-US" sz="3000" dirty="0"/>
          </a:p>
        </p:txBody>
      </p:sp>
      <p:sp>
        <p:nvSpPr>
          <p:cNvPr id="4" name="Shape 1"/>
          <p:cNvSpPr/>
          <p:nvPr/>
        </p:nvSpPr>
        <p:spPr>
          <a:xfrm>
            <a:off x="502920" y="1005840"/>
            <a:ext cx="7863840" cy="457200"/>
          </a:xfrm>
          <a:prstGeom prst="rect">
            <a:avLst/>
          </a:prstGeom>
          <a:solidFill>
            <a:srgbClr val="FFFFFF"/>
          </a:solidFill>
          <a:ln w="12700">
            <a:solidFill>
              <a:srgbClr val="FFFFFF"/>
            </a:solidFill>
            <a:prstDash val="solid"/>
          </a:ln>
        </p:spPr>
      </p:sp>
      <p:sp>
        <p:nvSpPr>
          <p:cNvPr id="5" name="Text 2"/>
          <p:cNvSpPr/>
          <p:nvPr/>
        </p:nvSpPr>
        <p:spPr>
          <a:xfrm>
            <a:off x="640080" y="1051560"/>
            <a:ext cx="7589520" cy="365760"/>
          </a:xfrm>
          <a:prstGeom prst="rect">
            <a:avLst/>
          </a:prstGeom>
          <a:noFill/>
          <a:ln/>
        </p:spPr>
        <p:txBody>
          <a:bodyPr wrap="square" lIns="254" tIns="254" rIns="254" bIns="254" rtlCol="0" anchor="ctr"/>
          <a:lstStyle/>
          <a:p>
            <a:pPr indent="0" marL="0">
              <a:buNone/>
            </a:pPr>
            <a:r>
              <a:rPr lang="en-US" sz="1400" dirty="0">
                <a:solidFill>
                  <a:srgbClr val="1E293B"/>
                </a:solidFill>
                <a:latin typeface="Fira Sans" pitchFamily="34" charset="0"/>
                <a:ea typeface="Fira Sans" pitchFamily="34" charset="-122"/>
                <a:cs typeface="Fira Sans" pitchFamily="34" charset="-120"/>
              </a:rPr>
              <a:t>"Agents are only as useful as the systems they can reach." — Anthropic</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0515600" cy="914400"/>
        </p:xfrm>
        <a:graphic>
          <a:graphicData uri="http://schemas.openxmlformats.org/drawingml/2006/table">
            <a:tbl>
              <a:tblPr/>
              <a:tblGrid>
                <a:gridCol w="1737360"/>
                <a:gridCol w="4297680"/>
                <a:gridCol w="4480560"/>
              </a:tblGrid>
              <a:tr h="0">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Path</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How it works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Limitation</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Direct API</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Agent calls HTTP endpoints directly</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M×N integration problem — each pair is bespoke</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CLI</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Agent runs shell commands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No reach to web/mobile/cloud — needs a filesystem</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MCP</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Standard protocol — discovery + invocation + auth</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Upfront investment, but portable across all clients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Text 3"/>
          <p:cNvSpPr/>
          <p:nvPr/>
        </p:nvSpPr>
        <p:spPr>
          <a:xfrm>
            <a:off x="502920" y="35661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WHY MCP WINS FOR PRODUCTION</a:t>
            </a:r>
            <a:endParaRPr lang="en-US" sz="1400" dirty="0"/>
          </a:p>
        </p:txBody>
      </p:sp>
      <p:sp>
        <p:nvSpPr>
          <p:cNvPr id="8" name="Text 4"/>
          <p:cNvSpPr/>
          <p:nvPr/>
        </p:nvSpPr>
        <p:spPr>
          <a:xfrm>
            <a:off x="502920" y="3931920"/>
            <a:ext cx="10515600" cy="1645920"/>
          </a:xfrm>
          <a:prstGeom prst="rect">
            <a:avLst/>
          </a:prstGeom>
          <a:noFill/>
          <a:ln/>
        </p:spPr>
        <p:txBody>
          <a:bodyPr wrap="square" lIns="635" tIns="635" rIns="635" bIns="635" rtlCol="0" anchor="t"/>
          <a:lstStyle/>
          <a:p>
            <a:pPr lvl="1" marL="685800" indent="-342900">
              <a:spcAft>
                <a:spcPts val="800"/>
              </a:spcAft>
              <a:buSzPct val="100000"/>
              <a:buChar char="•"/>
            </a:pPr>
            <a:r>
              <a:rPr lang="en-US" sz="1600" dirty="0">
                <a:solidFill>
                  <a:srgbClr val="FFFFFF"/>
                </a:solidFill>
                <a:latin typeface="Fira Sans" pitchFamily="34" charset="0"/>
                <a:ea typeface="Fira Sans" pitchFamily="34" charset="-122"/>
                <a:cs typeface="Fira Sans" pitchFamily="34" charset="-120"/>
              </a:rPr>
              <a:t>One remote server reaches any compatible client (Claude, ChatGPT, Cursor, VS Code, Google ADK)</a:t>
            </a:r>
            <a:endParaRPr lang="en-US" sz="1600" dirty="0"/>
          </a:p>
          <a:p>
            <a:pPr lvl="1" marL="685800" indent="-342900">
              <a:spcAft>
                <a:spcPts val="800"/>
              </a:spcAft>
              <a:buSzPct val="100000"/>
              <a:buChar char="•"/>
            </a:pPr>
            <a:r>
              <a:rPr lang="en-US" sz="1600" dirty="0">
                <a:solidFill>
                  <a:srgbClr val="FFFFFF"/>
                </a:solidFill>
                <a:latin typeface="Fira Sans" pitchFamily="34" charset="0"/>
                <a:ea typeface="Fira Sans" pitchFamily="34" charset="-122"/>
                <a:cs typeface="Fira Sans" pitchFamily="34" charset="-120"/>
              </a:rPr>
              <a:t>Auth, discovery, and rich semantics are standardized</a:t>
            </a:r>
            <a:endParaRPr lang="en-US" sz="1600" dirty="0"/>
          </a:p>
          <a:p>
            <a:pPr lvl="1" marL="685800" indent="-342900">
              <a:spcAft>
                <a:spcPts val="800"/>
              </a:spcAft>
              <a:buSzPct val="100000"/>
              <a:buChar char="•"/>
            </a:pPr>
            <a:r>
              <a:rPr lang="en-US" sz="1600" dirty="0">
                <a:solidFill>
                  <a:srgbClr val="FFFFFF"/>
                </a:solidFill>
                <a:latin typeface="Fira Sans" pitchFamily="34" charset="0"/>
                <a:ea typeface="Fira Sans" pitchFamily="34" charset="-122"/>
                <a:cs typeface="Fira Sans" pitchFamily="34" charset="-120"/>
              </a:rPr>
              <a:t>Build once, use everywhere — no per-client integration code</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What is the Model Context Protocol (MCP)?</a:t>
            </a:r>
            <a:endParaRPr lang="en-US" sz="3000" dirty="0"/>
          </a:p>
        </p:txBody>
      </p:sp>
      <p:pic>
        <p:nvPicPr>
          <p:cNvPr id="4" name="Image 1" descr="C:\Users\jeesingh\.copilot\session-state\b8ab4bc6-faf5-4ebd-bea2-f997a4b9a7ea\files\deck\img\x207.png">    </p:cNvPr>
          <p:cNvPicPr>
            <a:picLocks noChangeAspect="1"/>
          </p:cNvPicPr>
          <p:nvPr/>
        </p:nvPicPr>
        <p:blipFill>
          <a:blip r:embed="rId2"/>
          <a:stretch>
            <a:fillRect/>
          </a:stretch>
        </p:blipFill>
        <p:spPr>
          <a:xfrm>
            <a:off x="1713230" y="1099820"/>
            <a:ext cx="8343900" cy="3260090"/>
          </a:xfrm>
          <a:prstGeom prst="rect">
            <a:avLst/>
          </a:prstGeom>
        </p:spPr>
      </p:pic>
      <p:sp>
        <p:nvSpPr>
          <p:cNvPr id="5" name="Text 1"/>
          <p:cNvSpPr/>
          <p:nvPr/>
        </p:nvSpPr>
        <p:spPr>
          <a:xfrm>
            <a:off x="502920" y="4526280"/>
            <a:ext cx="11155680" cy="1737360"/>
          </a:xfrm>
          <a:prstGeom prst="rect">
            <a:avLst/>
          </a:prstGeom>
          <a:noFill/>
          <a:ln/>
        </p:spPr>
        <p:txBody>
          <a:bodyPr wrap="square" lIns="635" tIns="635" rIns="635" bIns="635" rtlCol="0" anchor="t"/>
          <a:lstStyle/>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MCP (Model Context Protocol) is an open-source standard for connecting AI applications to external systems.</a:t>
            </a:r>
            <a:endParaRPr lang="en-US" sz="1400" dirty="0"/>
          </a:p>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Using MCP, AI applications like Claude or ChatGPT can connect to data sources (local files, databases), tools (search engines, calculators) and workflows (specialized prompts).</a:t>
            </a:r>
            <a:endParaRPr lang="en-US" sz="1400" dirty="0"/>
          </a:p>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Think of MCP like a USB-C port for AI applications: one standard way to plug AI applications into external systems.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MCP: </a:t>
            </a:r>
            <a:r>
              <a:rPr lang="en-US" sz="3000" b="1" dirty="0">
                <a:solidFill>
                  <a:srgbClr val="FFFFFF"/>
                </a:solidFill>
                <a:latin typeface="Fira Sans" pitchFamily="34" charset="0"/>
                <a:ea typeface="Fira Sans" pitchFamily="34" charset="-122"/>
                <a:cs typeface="Fira Sans" pitchFamily="34" charset="-120"/>
              </a:rPr>
              <a:t>Core Operations and Benefits</a:t>
            </a:r>
            <a:endParaRPr lang="en-US" sz="3000" dirty="0"/>
          </a:p>
        </p:txBody>
      </p:sp>
      <p:sp>
        <p:nvSpPr>
          <p:cNvPr id="4" name="Shape 1"/>
          <p:cNvSpPr/>
          <p:nvPr/>
        </p:nvSpPr>
        <p:spPr>
          <a:xfrm>
            <a:off x="365760" y="1051560"/>
            <a:ext cx="7223760" cy="1234440"/>
          </a:xfrm>
          <a:prstGeom prst="rect">
            <a:avLst/>
          </a:prstGeom>
          <a:solidFill>
            <a:srgbClr val="FFFFFF"/>
          </a:solidFill>
          <a:ln w="12700">
            <a:solidFill>
              <a:srgbClr val="FFFFFF"/>
            </a:solidFill>
            <a:prstDash val="solid"/>
          </a:ln>
        </p:spPr>
      </p:sp>
      <p:sp>
        <p:nvSpPr>
          <p:cNvPr id="5" name="Shape 2"/>
          <p:cNvSpPr/>
          <p:nvPr/>
        </p:nvSpPr>
        <p:spPr>
          <a:xfrm>
            <a:off x="365760" y="1051560"/>
            <a:ext cx="73152" cy="1234440"/>
          </a:xfrm>
          <a:prstGeom prst="rect">
            <a:avLst/>
          </a:prstGeom>
          <a:solidFill>
            <a:srgbClr val="0F766E"/>
          </a:solidFill>
          <a:ln w="12700">
            <a:solidFill>
              <a:srgbClr val="0F766E"/>
            </a:solidFill>
            <a:prstDash val="solid"/>
          </a:ln>
        </p:spPr>
      </p:sp>
      <p:sp>
        <p:nvSpPr>
          <p:cNvPr id="6" name="Text 3"/>
          <p:cNvSpPr/>
          <p:nvPr/>
        </p:nvSpPr>
        <p:spPr>
          <a:xfrm>
            <a:off x="594360" y="1097280"/>
            <a:ext cx="6858000" cy="1143000"/>
          </a:xfrm>
          <a:prstGeom prst="rect">
            <a:avLst/>
          </a:prstGeom>
          <a:noFill/>
          <a:ln/>
        </p:spPr>
        <p:txBody>
          <a:bodyPr wrap="square" rtlCol="0" anchor="ctr"/>
          <a:lstStyle/>
          <a:p>
            <a:pPr indent="0" marL="0">
              <a:buNone/>
            </a:pPr>
            <a:r>
              <a:rPr lang="en-US" sz="1600" b="1" dirty="0">
                <a:solidFill>
                  <a:srgbClr val="0F766E"/>
                </a:solidFill>
                <a:latin typeface="Fira Sans" pitchFamily="34" charset="0"/>
                <a:ea typeface="Fira Sans" pitchFamily="34" charset="-122"/>
                <a:cs typeface="Fira Sans" pitchFamily="34" charset="-120"/>
              </a:rPr>
              <a:t>MCP</a:t>
            </a:r>
            <a:r>
              <a:rPr lang="en-US" sz="1600" dirty="0">
                <a:solidFill>
                  <a:srgbClr val="1E293B"/>
                </a:solidFill>
                <a:latin typeface="Fira Sans" pitchFamily="34" charset="0"/>
                <a:ea typeface="Fira Sans" pitchFamily="34" charset="-122"/>
                <a:cs typeface="Fira Sans" pitchFamily="34" charset="-120"/>
              </a:rPr>
              <a:t> (Model Context Protocol) is a thin RPC layer over </a:t>
            </a:r>
            <a:r>
              <a:rPr lang="en-US" sz="1600" b="1" dirty="0">
                <a:solidFill>
                  <a:srgbClr val="1E293B"/>
                </a:solidFill>
                <a:latin typeface="Fira Sans" pitchFamily="34" charset="0"/>
                <a:ea typeface="Fira Sans" pitchFamily="34" charset="-122"/>
                <a:cs typeface="Fira Sans" pitchFamily="34" charset="-120"/>
              </a:rPr>
              <a:t>JSON-RPC 2.0</a:t>
            </a:r>
            <a:r>
              <a:rPr lang="en-US" sz="1600" dirty="0">
                <a:solidFill>
                  <a:srgbClr val="1E293B"/>
                </a:solidFill>
                <a:latin typeface="Fira Sans" pitchFamily="34" charset="0"/>
                <a:ea typeface="Fira Sans" pitchFamily="34" charset="-122"/>
                <a:cs typeface="Fira Sans" pitchFamily="34" charset="-120"/>
              </a:rPr>
              <a:t> that standardizes three operations between an agent host and an external tool server.</a:t>
            </a:r>
            <a:endParaRPr lang="en-US" sz="1600" dirty="0"/>
          </a:p>
        </p:txBody>
      </p:sp>
      <p:sp>
        <p:nvSpPr>
          <p:cNvPr id="7" name="Shape 4"/>
          <p:cNvSpPr/>
          <p:nvPr/>
        </p:nvSpPr>
        <p:spPr>
          <a:xfrm>
            <a:off x="365760" y="2468880"/>
            <a:ext cx="548640" cy="777240"/>
          </a:xfrm>
          <a:prstGeom prst="rect">
            <a:avLst/>
          </a:prstGeom>
          <a:solidFill>
            <a:srgbClr val="0F766E"/>
          </a:solidFill>
          <a:ln w="12700">
            <a:solidFill>
              <a:srgbClr val="0F766E"/>
            </a:solidFill>
            <a:prstDash val="solid"/>
          </a:ln>
        </p:spPr>
      </p:sp>
      <p:sp>
        <p:nvSpPr>
          <p:cNvPr id="8" name="Text 5"/>
          <p:cNvSpPr/>
          <p:nvPr/>
        </p:nvSpPr>
        <p:spPr>
          <a:xfrm>
            <a:off x="365760" y="2468880"/>
            <a:ext cx="548640" cy="777240"/>
          </a:xfrm>
          <a:prstGeom prst="rect">
            <a:avLst/>
          </a:prstGeom>
          <a:noFill/>
          <a:ln/>
        </p:spPr>
        <p:txBody>
          <a:bodyPr wrap="square" rtlCol="0" anchor="ctr"/>
          <a:lstStyle/>
          <a:p>
            <a:pPr algn="ctr" indent="0" marL="0">
              <a:buNone/>
            </a:pPr>
            <a:r>
              <a:rPr lang="en-US" sz="2200" b="1" dirty="0">
                <a:solidFill>
                  <a:srgbClr val="FFFFFF"/>
                </a:solidFill>
                <a:latin typeface="Fira Sans" pitchFamily="34" charset="0"/>
                <a:ea typeface="Fira Sans" pitchFamily="34" charset="-122"/>
                <a:cs typeface="Fira Sans" pitchFamily="34" charset="-120"/>
              </a:rPr>
              <a:t>1</a:t>
            </a:r>
            <a:endParaRPr lang="en-US" sz="2200" dirty="0"/>
          </a:p>
        </p:txBody>
      </p:sp>
      <p:sp>
        <p:nvSpPr>
          <p:cNvPr id="9" name="Shape 6"/>
          <p:cNvSpPr/>
          <p:nvPr/>
        </p:nvSpPr>
        <p:spPr>
          <a:xfrm>
            <a:off x="914400" y="2468880"/>
            <a:ext cx="6675120" cy="777240"/>
          </a:xfrm>
          <a:prstGeom prst="rect">
            <a:avLst/>
          </a:prstGeom>
          <a:solidFill>
            <a:srgbClr val="FFFFFF"/>
          </a:solidFill>
          <a:ln w="12700">
            <a:solidFill>
              <a:srgbClr val="0F766E"/>
            </a:solidFill>
            <a:prstDash val="solid"/>
          </a:ln>
        </p:spPr>
      </p:sp>
      <p:sp>
        <p:nvSpPr>
          <p:cNvPr id="10" name="Text 7"/>
          <p:cNvSpPr/>
          <p:nvPr/>
        </p:nvSpPr>
        <p:spPr>
          <a:xfrm>
            <a:off x="1051560" y="2468880"/>
            <a:ext cx="6400800" cy="777240"/>
          </a:xfrm>
          <a:prstGeom prst="rect">
            <a:avLst/>
          </a:prstGeom>
          <a:noFill/>
          <a:ln/>
        </p:spPr>
        <p:txBody>
          <a:bodyPr wrap="square" rtlCol="0" anchor="ctr"/>
          <a:lstStyle/>
          <a:p>
            <a:pPr indent="0" marL="0">
              <a:buNone/>
            </a:pPr>
            <a:r>
              <a:rPr lang="en-US" sz="1600" b="1" dirty="0">
                <a:solidFill>
                  <a:srgbClr val="0F766E"/>
                </a:solidFill>
                <a:latin typeface="Fira Sans" pitchFamily="34" charset="0"/>
                <a:ea typeface="Fira Sans" pitchFamily="34" charset="-122"/>
                <a:cs typeface="Fira Sans" pitchFamily="34" charset="-120"/>
              </a:rPr>
              <a:t>initialize</a:t>
            </a:r>
            <a:endParaRPr lang="en-US" sz="1600" dirty="0"/>
          </a:p>
          <a:p>
            <a:pPr indent="0" marL="0">
              <a:buNone/>
            </a:pPr>
            <a:r>
              <a:rPr lang="en-US" sz="1300" dirty="0">
                <a:solidFill>
                  <a:srgbClr val="475569"/>
                </a:solidFill>
                <a:latin typeface="Fira Sans" pitchFamily="34" charset="0"/>
                <a:ea typeface="Fira Sans" pitchFamily="34" charset="-122"/>
                <a:cs typeface="Fira Sans" pitchFamily="34" charset="-120"/>
              </a:rPr>
              <a:t>Handshake, version and capability negotiation</a:t>
            </a:r>
            <a:endParaRPr lang="en-US" sz="1600" dirty="0"/>
          </a:p>
        </p:txBody>
      </p:sp>
      <p:sp>
        <p:nvSpPr>
          <p:cNvPr id="11" name="Shape 8"/>
          <p:cNvSpPr/>
          <p:nvPr/>
        </p:nvSpPr>
        <p:spPr>
          <a:xfrm>
            <a:off x="365760" y="3383280"/>
            <a:ext cx="548640" cy="777240"/>
          </a:xfrm>
          <a:prstGeom prst="rect">
            <a:avLst/>
          </a:prstGeom>
          <a:solidFill>
            <a:srgbClr val="2563EB"/>
          </a:solidFill>
          <a:ln w="12700">
            <a:solidFill>
              <a:srgbClr val="2563EB"/>
            </a:solidFill>
            <a:prstDash val="solid"/>
          </a:ln>
        </p:spPr>
      </p:sp>
      <p:sp>
        <p:nvSpPr>
          <p:cNvPr id="12" name="Text 9"/>
          <p:cNvSpPr/>
          <p:nvPr/>
        </p:nvSpPr>
        <p:spPr>
          <a:xfrm>
            <a:off x="365760" y="3383280"/>
            <a:ext cx="548640" cy="777240"/>
          </a:xfrm>
          <a:prstGeom prst="rect">
            <a:avLst/>
          </a:prstGeom>
          <a:noFill/>
          <a:ln/>
        </p:spPr>
        <p:txBody>
          <a:bodyPr wrap="square" rtlCol="0" anchor="ctr"/>
          <a:lstStyle/>
          <a:p>
            <a:pPr algn="ctr" indent="0" marL="0">
              <a:buNone/>
            </a:pPr>
            <a:r>
              <a:rPr lang="en-US" sz="2200" b="1" dirty="0">
                <a:solidFill>
                  <a:srgbClr val="FFFFFF"/>
                </a:solidFill>
                <a:latin typeface="Fira Sans" pitchFamily="34" charset="0"/>
                <a:ea typeface="Fira Sans" pitchFamily="34" charset="-122"/>
                <a:cs typeface="Fira Sans" pitchFamily="34" charset="-120"/>
              </a:rPr>
              <a:t>2</a:t>
            </a:r>
            <a:endParaRPr lang="en-US" sz="2200" dirty="0"/>
          </a:p>
        </p:txBody>
      </p:sp>
      <p:sp>
        <p:nvSpPr>
          <p:cNvPr id="13" name="Shape 10"/>
          <p:cNvSpPr/>
          <p:nvPr/>
        </p:nvSpPr>
        <p:spPr>
          <a:xfrm>
            <a:off x="914400" y="3383280"/>
            <a:ext cx="6675120" cy="777240"/>
          </a:xfrm>
          <a:prstGeom prst="rect">
            <a:avLst/>
          </a:prstGeom>
          <a:solidFill>
            <a:srgbClr val="FFFFFF"/>
          </a:solidFill>
          <a:ln w="12700">
            <a:solidFill>
              <a:srgbClr val="2563EB"/>
            </a:solidFill>
            <a:prstDash val="solid"/>
          </a:ln>
        </p:spPr>
      </p:sp>
      <p:sp>
        <p:nvSpPr>
          <p:cNvPr id="14" name="Text 11"/>
          <p:cNvSpPr/>
          <p:nvPr/>
        </p:nvSpPr>
        <p:spPr>
          <a:xfrm>
            <a:off x="1051560" y="3383280"/>
            <a:ext cx="6400800" cy="777240"/>
          </a:xfrm>
          <a:prstGeom prst="rect">
            <a:avLst/>
          </a:prstGeom>
          <a:noFill/>
          <a:ln/>
        </p:spPr>
        <p:txBody>
          <a:bodyPr wrap="square" rtlCol="0" anchor="ctr"/>
          <a:lstStyle/>
          <a:p>
            <a:pPr indent="0" marL="0">
              <a:buNone/>
            </a:pPr>
            <a:r>
              <a:rPr lang="en-US" sz="1600" b="1" dirty="0">
                <a:solidFill>
                  <a:srgbClr val="2563EB"/>
                </a:solidFill>
                <a:latin typeface="Fira Sans" pitchFamily="34" charset="0"/>
                <a:ea typeface="Fira Sans" pitchFamily="34" charset="-122"/>
                <a:cs typeface="Fira Sans" pitchFamily="34" charset="-120"/>
              </a:rPr>
              <a:t>tools/list</a:t>
            </a:r>
            <a:endParaRPr lang="en-US" sz="1600" dirty="0"/>
          </a:p>
          <a:p>
            <a:pPr indent="0" marL="0">
              <a:buNone/>
            </a:pPr>
            <a:r>
              <a:rPr lang="en-US" sz="1300" dirty="0">
                <a:solidFill>
                  <a:srgbClr val="475569"/>
                </a:solidFill>
                <a:latin typeface="Fira Sans" pitchFamily="34" charset="0"/>
                <a:ea typeface="Fira Sans" pitchFamily="34" charset="-122"/>
                <a:cs typeface="Fira Sans" pitchFamily="34" charset="-120"/>
              </a:rPr>
              <a:t>The server advertises typed tool schemas</a:t>
            </a:r>
            <a:endParaRPr lang="en-US" sz="1600" dirty="0"/>
          </a:p>
        </p:txBody>
      </p:sp>
      <p:sp>
        <p:nvSpPr>
          <p:cNvPr id="15" name="Shape 12"/>
          <p:cNvSpPr/>
          <p:nvPr/>
        </p:nvSpPr>
        <p:spPr>
          <a:xfrm>
            <a:off x="365760" y="4297680"/>
            <a:ext cx="548640" cy="777240"/>
          </a:xfrm>
          <a:prstGeom prst="rect">
            <a:avLst/>
          </a:prstGeom>
          <a:solidFill>
            <a:srgbClr val="7C3AED"/>
          </a:solidFill>
          <a:ln w="12700">
            <a:solidFill>
              <a:srgbClr val="7C3AED"/>
            </a:solidFill>
            <a:prstDash val="solid"/>
          </a:ln>
        </p:spPr>
      </p:sp>
      <p:sp>
        <p:nvSpPr>
          <p:cNvPr id="16" name="Text 13"/>
          <p:cNvSpPr/>
          <p:nvPr/>
        </p:nvSpPr>
        <p:spPr>
          <a:xfrm>
            <a:off x="365760" y="4297680"/>
            <a:ext cx="548640" cy="777240"/>
          </a:xfrm>
          <a:prstGeom prst="rect">
            <a:avLst/>
          </a:prstGeom>
          <a:noFill/>
          <a:ln/>
        </p:spPr>
        <p:txBody>
          <a:bodyPr wrap="square" rtlCol="0" anchor="ctr"/>
          <a:lstStyle/>
          <a:p>
            <a:pPr algn="ctr" indent="0" marL="0">
              <a:buNone/>
            </a:pPr>
            <a:r>
              <a:rPr lang="en-US" sz="2200" b="1" dirty="0">
                <a:solidFill>
                  <a:srgbClr val="FFFFFF"/>
                </a:solidFill>
                <a:latin typeface="Fira Sans" pitchFamily="34" charset="0"/>
                <a:ea typeface="Fira Sans" pitchFamily="34" charset="-122"/>
                <a:cs typeface="Fira Sans" pitchFamily="34" charset="-120"/>
              </a:rPr>
              <a:t>3</a:t>
            </a:r>
            <a:endParaRPr lang="en-US" sz="2200" dirty="0"/>
          </a:p>
        </p:txBody>
      </p:sp>
      <p:sp>
        <p:nvSpPr>
          <p:cNvPr id="17" name="Shape 14"/>
          <p:cNvSpPr/>
          <p:nvPr/>
        </p:nvSpPr>
        <p:spPr>
          <a:xfrm>
            <a:off x="914400" y="4297680"/>
            <a:ext cx="6675120" cy="777240"/>
          </a:xfrm>
          <a:prstGeom prst="rect">
            <a:avLst/>
          </a:prstGeom>
          <a:solidFill>
            <a:srgbClr val="FFFFFF"/>
          </a:solidFill>
          <a:ln w="12700">
            <a:solidFill>
              <a:srgbClr val="7C3AED"/>
            </a:solidFill>
            <a:prstDash val="solid"/>
          </a:ln>
        </p:spPr>
      </p:sp>
      <p:sp>
        <p:nvSpPr>
          <p:cNvPr id="18" name="Text 15"/>
          <p:cNvSpPr/>
          <p:nvPr/>
        </p:nvSpPr>
        <p:spPr>
          <a:xfrm>
            <a:off x="1051560" y="4297680"/>
            <a:ext cx="6400800" cy="777240"/>
          </a:xfrm>
          <a:prstGeom prst="rect">
            <a:avLst/>
          </a:prstGeom>
          <a:noFill/>
          <a:ln/>
        </p:spPr>
        <p:txBody>
          <a:bodyPr wrap="square" rtlCol="0" anchor="ctr"/>
          <a:lstStyle/>
          <a:p>
            <a:pPr indent="0" marL="0">
              <a:buNone/>
            </a:pPr>
            <a:r>
              <a:rPr lang="en-US" sz="1600" b="1" dirty="0">
                <a:solidFill>
                  <a:srgbClr val="7C3AED"/>
                </a:solidFill>
                <a:latin typeface="Fira Sans" pitchFamily="34" charset="0"/>
                <a:ea typeface="Fira Sans" pitchFamily="34" charset="-122"/>
                <a:cs typeface="Fira Sans" pitchFamily="34" charset="-120"/>
              </a:rPr>
              <a:t>tools/call</a:t>
            </a:r>
            <a:endParaRPr lang="en-US" sz="1600" dirty="0"/>
          </a:p>
          <a:p>
            <a:pPr indent="0" marL="0">
              <a:buNone/>
            </a:pPr>
            <a:r>
              <a:rPr lang="en-US" sz="1300" dirty="0">
                <a:solidFill>
                  <a:srgbClr val="475569"/>
                </a:solidFill>
                <a:latin typeface="Fira Sans" pitchFamily="34" charset="0"/>
                <a:ea typeface="Fira Sans" pitchFamily="34" charset="-122"/>
                <a:cs typeface="Fira Sans" pitchFamily="34" charset="-120"/>
              </a:rPr>
              <a:t>The host invokes a tool by name with validated arguments</a:t>
            </a:r>
            <a:endParaRPr lang="en-US" sz="1600" dirty="0"/>
          </a:p>
        </p:txBody>
      </p:sp>
      <p:sp>
        <p:nvSpPr>
          <p:cNvPr id="19" name="Text 16"/>
          <p:cNvSpPr/>
          <p:nvPr/>
        </p:nvSpPr>
        <p:spPr>
          <a:xfrm>
            <a:off x="365760" y="5257800"/>
            <a:ext cx="7223760" cy="365760"/>
          </a:xfrm>
          <a:prstGeom prst="rect">
            <a:avLst/>
          </a:prstGeom>
          <a:noFill/>
          <a:ln/>
        </p:spPr>
        <p:txBody>
          <a:bodyPr wrap="square" rtlCol="0" anchor="ctr"/>
          <a:lstStyle/>
          <a:p>
            <a:pPr indent="0" marL="0">
              <a:buNone/>
            </a:pPr>
            <a:r>
              <a:rPr lang="en-US" sz="1300" i="1" dirty="0">
                <a:solidFill>
                  <a:srgbClr val="FFFFFF"/>
                </a:solidFill>
                <a:latin typeface="Fira Sans" pitchFamily="34" charset="0"/>
                <a:ea typeface="Fira Sans" pitchFamily="34" charset="-122"/>
                <a:cs typeface="Fira Sans" pitchFamily="34" charset="-120"/>
              </a:rPr>
              <a:t>Everything else — resources, prompts, streaming — is layered on this base.</a:t>
            </a:r>
            <a:endParaRPr lang="en-US" sz="1300" dirty="0"/>
          </a:p>
        </p:txBody>
      </p:sp>
      <p:sp>
        <p:nvSpPr>
          <p:cNvPr id="20" name="Shape 17"/>
          <p:cNvSpPr/>
          <p:nvPr/>
        </p:nvSpPr>
        <p:spPr>
          <a:xfrm>
            <a:off x="7818120" y="1051560"/>
            <a:ext cx="3977640" cy="4617720"/>
          </a:xfrm>
          <a:prstGeom prst="rect">
            <a:avLst/>
          </a:prstGeom>
          <a:solidFill>
            <a:srgbClr val="CCFBF1"/>
          </a:solidFill>
          <a:ln w="12700">
            <a:solidFill>
              <a:srgbClr val="CCFBF1"/>
            </a:solidFill>
            <a:prstDash val="solid"/>
          </a:ln>
        </p:spPr>
      </p:sp>
      <p:sp>
        <p:nvSpPr>
          <p:cNvPr id="21" name="Text 18"/>
          <p:cNvSpPr/>
          <p:nvPr/>
        </p:nvSpPr>
        <p:spPr>
          <a:xfrm>
            <a:off x="8001000" y="1188720"/>
            <a:ext cx="3611880" cy="4389120"/>
          </a:xfrm>
          <a:prstGeom prst="rect">
            <a:avLst/>
          </a:prstGeom>
          <a:noFill/>
          <a:ln/>
        </p:spPr>
        <p:txBody>
          <a:bodyPr wrap="square" rtlCol="0" anchor="t"/>
          <a:lstStyle/>
          <a:p>
            <a:pPr indent="0" marL="0">
              <a:buNone/>
            </a:pPr>
            <a:r>
              <a:rPr lang="en-US" sz="1800" b="1" dirty="0">
                <a:solidFill>
                  <a:srgbClr val="0F766E"/>
                </a:solidFill>
                <a:latin typeface="Fira Sans" pitchFamily="34" charset="0"/>
                <a:ea typeface="Fira Sans" pitchFamily="34" charset="-122"/>
                <a:cs typeface="Fira Sans" pitchFamily="34" charset="-120"/>
              </a:rPr>
              <a:t>Why it matters</a:t>
            </a:r>
            <a:endParaRPr lang="en-US" sz="1300" dirty="0"/>
          </a:p>
          <a:p>
            <a:pPr indent="0" marL="0">
              <a:buNone/>
            </a:pPr>
            <a:r>
              <a:rPr lang="en-US" sz="800" dirty="0">
                <a:solidFill>
                  <a:srgbClr val="1E293B"/>
                </a:solidFill>
                <a:latin typeface="Fira Sans" pitchFamily="34" charset="0"/>
                <a:ea typeface="Fira Sans" pitchFamily="34" charset="-122"/>
                <a:cs typeface="Fira Sans" pitchFamily="34" charset="-120"/>
              </a:rPr>
              <a:t> </a:t>
            </a:r>
            <a:endParaRPr lang="en-US" sz="1300" dirty="0"/>
          </a:p>
          <a:p>
            <a:pPr indent="0" marL="0">
              <a:buNone/>
            </a:pPr>
            <a:r>
              <a:rPr lang="en-US" sz="1300" b="1" dirty="0">
                <a:solidFill>
                  <a:srgbClr val="0F766E"/>
                </a:solidFill>
                <a:latin typeface="Fira Sans" pitchFamily="34" charset="0"/>
                <a:ea typeface="Fira Sans" pitchFamily="34" charset="-122"/>
                <a:cs typeface="Fira Sans" pitchFamily="34" charset="-120"/>
              </a:rPr>
              <a:t>N + M, not N × M</a:t>
            </a:r>
            <a:endParaRPr lang="en-US" sz="1300" dirty="0"/>
          </a:p>
          <a:p>
            <a:pPr indent="0" marL="0">
              <a:buNone/>
            </a:pPr>
            <a:r>
              <a:rPr lang="en-US" sz="1300" dirty="0">
                <a:solidFill>
                  <a:srgbClr val="1E293B"/>
                </a:solidFill>
                <a:latin typeface="Fira Sans" pitchFamily="34" charset="0"/>
                <a:ea typeface="Fira Sans" pitchFamily="34" charset="-122"/>
                <a:cs typeface="Fira Sans" pitchFamily="34" charset="-120"/>
              </a:rPr>
              <a:t>One pricing server wired once, used by every agent in your stack regardless of language.</a:t>
            </a:r>
            <a:endParaRPr lang="en-US" sz="1300" dirty="0"/>
          </a:p>
          <a:p>
            <a:pPr indent="0" marL="0">
              <a:buNone/>
            </a:pPr>
            <a:r>
              <a:rPr lang="en-US" sz="800" dirty="0">
                <a:solidFill>
                  <a:srgbClr val="1E293B"/>
                </a:solidFill>
                <a:latin typeface="Fira Sans" pitchFamily="34" charset="0"/>
                <a:ea typeface="Fira Sans" pitchFamily="34" charset="-122"/>
                <a:cs typeface="Fira Sans" pitchFamily="34" charset="-120"/>
              </a:rPr>
              <a:t> </a:t>
            </a:r>
            <a:endParaRPr lang="en-US" sz="1300" dirty="0"/>
          </a:p>
          <a:p>
            <a:pPr indent="0" marL="0">
              <a:buNone/>
            </a:pPr>
            <a:r>
              <a:rPr lang="en-US" sz="1300" b="1" dirty="0">
                <a:solidFill>
                  <a:srgbClr val="0F766E"/>
                </a:solidFill>
                <a:latin typeface="Fira Sans" pitchFamily="34" charset="0"/>
                <a:ea typeface="Fira Sans" pitchFamily="34" charset="-122"/>
                <a:cs typeface="Fira Sans" pitchFamily="34" charset="-120"/>
              </a:rPr>
              <a:t>Out-of-process tools</a:t>
            </a:r>
            <a:endParaRPr lang="en-US" sz="1300" dirty="0"/>
          </a:p>
          <a:p>
            <a:pPr indent="0" marL="0">
              <a:buNone/>
            </a:pPr>
            <a:r>
              <a:rPr lang="en-US" sz="1300" dirty="0">
                <a:solidFill>
                  <a:srgbClr val="1E293B"/>
                </a:solidFill>
                <a:latin typeface="Fira Sans" pitchFamily="34" charset="0"/>
                <a:ea typeface="Fira Sans" pitchFamily="34" charset="-122"/>
                <a:cs typeface="Fira Sans" pitchFamily="34" charset="-120"/>
              </a:rPr>
              <a:t>A tool crash does not crash the agent. The server is isolated compute.</a:t>
            </a:r>
            <a:endParaRPr lang="en-US" sz="1300" dirty="0"/>
          </a:p>
          <a:p>
            <a:pPr indent="0" marL="0">
              <a:buNone/>
            </a:pPr>
            <a:r>
              <a:rPr lang="en-US" sz="800" dirty="0">
                <a:solidFill>
                  <a:srgbClr val="1E293B"/>
                </a:solidFill>
                <a:latin typeface="Fira Sans" pitchFamily="34" charset="0"/>
                <a:ea typeface="Fira Sans" pitchFamily="34" charset="-122"/>
                <a:cs typeface="Fira Sans" pitchFamily="34" charset="-120"/>
              </a:rPr>
              <a:t> </a:t>
            </a:r>
            <a:endParaRPr lang="en-US" sz="1300" dirty="0"/>
          </a:p>
          <a:p>
            <a:pPr indent="0" marL="0">
              <a:buNone/>
            </a:pPr>
            <a:r>
              <a:rPr lang="en-US" sz="1300" b="1" dirty="0">
                <a:solidFill>
                  <a:srgbClr val="0F766E"/>
                </a:solidFill>
                <a:latin typeface="Fira Sans" pitchFamily="34" charset="0"/>
                <a:ea typeface="Fira Sans" pitchFamily="34" charset="-122"/>
                <a:cs typeface="Fira Sans" pitchFamily="34" charset="-120"/>
              </a:rPr>
              <a:t>Same shape you know</a:t>
            </a:r>
            <a:endParaRPr lang="en-US" sz="1300" dirty="0"/>
          </a:p>
          <a:p>
            <a:pPr indent="0" marL="0">
              <a:buNone/>
            </a:pPr>
            <a:r>
              <a:rPr lang="en-US" sz="1300" dirty="0">
                <a:solidFill>
                  <a:srgbClr val="1E293B"/>
                </a:solidFill>
                <a:latin typeface="Fira Sans" pitchFamily="34" charset="0"/>
                <a:ea typeface="Fira Sans" pitchFamily="34" charset="-122"/>
                <a:cs typeface="Fira Sans" pitchFamily="34" charset="-120"/>
              </a:rPr>
              <a:t>If you know OpenAI function calling or Anthropic tool use, MCP is the same shape — but the registry is reusable and lives out of process.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Participants</a:t>
            </a:r>
            <a:endParaRPr lang="en-US" sz="3000" dirty="0"/>
          </a:p>
        </p:txBody>
      </p:sp>
      <p:sp>
        <p:nvSpPr>
          <p:cNvPr id="4" name="Text 1"/>
          <p:cNvSpPr/>
          <p:nvPr/>
        </p:nvSpPr>
        <p:spPr>
          <a:xfrm>
            <a:off x="502920" y="960120"/>
            <a:ext cx="11155680" cy="1234440"/>
          </a:xfrm>
          <a:prstGeom prst="rect">
            <a:avLst/>
          </a:prstGeom>
          <a:noFill/>
          <a:ln/>
        </p:spPr>
        <p:txBody>
          <a:bodyPr wrap="square" lIns="635" tIns="635" rIns="635" bIns="635" rtlCol="0" anchor="t"/>
          <a:lstStyle/>
          <a:p>
            <a:pPr marL="342900" indent="-342900">
              <a:spcAft>
                <a:spcPts val="400"/>
              </a:spcAft>
              <a:buSzPct val="100000"/>
              <a:buChar char="•"/>
            </a:pPr>
            <a:r>
              <a:rPr lang="en-US" sz="1500" b="1" dirty="0">
                <a:solidFill>
                  <a:srgbClr val="FFFFFF"/>
                </a:solidFill>
                <a:latin typeface="Fira Sans" pitchFamily="34" charset="0"/>
                <a:ea typeface="Fira Sans" pitchFamily="34" charset="-122"/>
                <a:cs typeface="Fira Sans" pitchFamily="34" charset="-120"/>
              </a:rPr>
              <a:t>MCP Host: </a:t>
            </a:r>
            <a:r>
              <a:rPr lang="en-US" sz="1500" dirty="0">
                <a:solidFill>
                  <a:srgbClr val="FFFFFF"/>
                </a:solidFill>
                <a:latin typeface="Fira Sans" pitchFamily="34" charset="0"/>
                <a:ea typeface="Fira Sans" pitchFamily="34" charset="-122"/>
                <a:cs typeface="Fira Sans" pitchFamily="34" charset="-120"/>
              </a:rPr>
              <a:t>The AI application that coordinates and manages one or multiple MCP clients</a:t>
            </a:r>
            <a:endParaRPr lang="en-US" sz="1500" dirty="0"/>
          </a:p>
          <a:p>
            <a:pPr marL="342900" indent="-342900">
              <a:spcAft>
                <a:spcPts val="400"/>
              </a:spcAft>
              <a:buSzPct val="100000"/>
              <a:buChar char="•"/>
            </a:pPr>
            <a:r>
              <a:rPr lang="en-US" sz="1500" b="1" dirty="0">
                <a:solidFill>
                  <a:srgbClr val="FFFFFF"/>
                </a:solidFill>
                <a:latin typeface="Fira Sans" pitchFamily="34" charset="0"/>
                <a:ea typeface="Fira Sans" pitchFamily="34" charset="-122"/>
                <a:cs typeface="Fira Sans" pitchFamily="34" charset="-120"/>
              </a:rPr>
              <a:t>MCP Client: </a:t>
            </a:r>
            <a:r>
              <a:rPr lang="en-US" sz="1500" dirty="0">
                <a:solidFill>
                  <a:srgbClr val="FFFFFF"/>
                </a:solidFill>
                <a:latin typeface="Fira Sans" pitchFamily="34" charset="0"/>
                <a:ea typeface="Fira Sans" pitchFamily="34" charset="-122"/>
                <a:cs typeface="Fira Sans" pitchFamily="34" charset="-120"/>
              </a:rPr>
              <a:t>A component that maintains a connection to an MCP server and obtains context from it for the host</a:t>
            </a:r>
            <a:endParaRPr lang="en-US" sz="1500" dirty="0"/>
          </a:p>
          <a:p>
            <a:pPr marL="342900" indent="-342900">
              <a:spcAft>
                <a:spcPts val="400"/>
              </a:spcAft>
              <a:buSzPct val="100000"/>
              <a:buChar char="•"/>
            </a:pPr>
            <a:r>
              <a:rPr lang="en-US" sz="1500" b="1" dirty="0">
                <a:solidFill>
                  <a:srgbClr val="FFFFFF"/>
                </a:solidFill>
                <a:latin typeface="Fira Sans" pitchFamily="34" charset="0"/>
                <a:ea typeface="Fira Sans" pitchFamily="34" charset="-122"/>
                <a:cs typeface="Fira Sans" pitchFamily="34" charset="-120"/>
              </a:rPr>
              <a:t>MCP Server: </a:t>
            </a:r>
            <a:r>
              <a:rPr lang="en-US" sz="1500" dirty="0">
                <a:solidFill>
                  <a:srgbClr val="FFFFFF"/>
                </a:solidFill>
                <a:latin typeface="Fira Sans" pitchFamily="34" charset="0"/>
                <a:ea typeface="Fira Sans" pitchFamily="34" charset="-122"/>
                <a:cs typeface="Fira Sans" pitchFamily="34" charset="-120"/>
              </a:rPr>
              <a:t>A program that provides context to MCP clients</a:t>
            </a:r>
            <a:endParaRPr lang="en-US" sz="1500" dirty="0"/>
          </a:p>
        </p:txBody>
      </p:sp>
      <p:sp>
        <p:nvSpPr>
          <p:cNvPr id="5" name="Text 2"/>
          <p:cNvSpPr/>
          <p:nvPr/>
        </p:nvSpPr>
        <p:spPr>
          <a:xfrm>
            <a:off x="502920" y="2240280"/>
            <a:ext cx="11155680" cy="868680"/>
          </a:xfrm>
          <a:prstGeom prst="rect">
            <a:avLst/>
          </a:prstGeom>
          <a:noFill/>
          <a:ln/>
        </p:spPr>
        <p:txBody>
          <a:bodyPr wrap="square" lIns="635" tIns="635" rIns="635" bIns="635" rtlCol="0" anchor="t"/>
          <a:lstStyle/>
          <a:p>
            <a:pPr algn="l" indent="0" marL="0">
              <a:buNone/>
            </a:pPr>
            <a:r>
              <a:rPr lang="en-US" sz="1400" dirty="0">
                <a:solidFill>
                  <a:srgbClr val="FFFFFF"/>
                </a:solidFill>
                <a:latin typeface="Fira Sans" pitchFamily="34" charset="0"/>
                <a:ea typeface="Fira Sans" pitchFamily="34" charset="-122"/>
                <a:cs typeface="Fira Sans" pitchFamily="34" charset="-120"/>
              </a:rPr>
              <a:t>For example: VS Code is an MCP host. When it connects to the Sentry MCP server, it creates an MCP client for that connection; when it also connects to the local filesystem server, it creates a second client. One host, one client per server.</a:t>
            </a:r>
            <a:endParaRPr lang="en-US" sz="1400" dirty="0"/>
          </a:p>
        </p:txBody>
      </p:sp>
      <p:pic>
        <p:nvPicPr>
          <p:cNvPr id="6" name="Image 1" descr="C:\Users\jeesingh\.copilot\session-state\b8ab4bc6-faf5-4ebd-bea2-f997a4b9a7ea\files\deck\img\x239.png">    </p:cNvPr>
          <p:cNvPicPr>
            <a:picLocks noChangeAspect="1"/>
          </p:cNvPicPr>
          <p:nvPr/>
        </p:nvPicPr>
        <p:blipFill>
          <a:blip r:embed="rId2"/>
          <a:stretch>
            <a:fillRect/>
          </a:stretch>
        </p:blipFill>
        <p:spPr>
          <a:xfrm>
            <a:off x="1651000" y="3810000"/>
            <a:ext cx="7620000" cy="25019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MCP: </a:t>
            </a:r>
            <a:r>
              <a:rPr lang="en-US" sz="3000" b="1" dirty="0">
                <a:solidFill>
                  <a:srgbClr val="FFFFFF"/>
                </a:solidFill>
                <a:latin typeface="Fira Sans" pitchFamily="34" charset="0"/>
                <a:ea typeface="Fira Sans" pitchFamily="34" charset="-122"/>
                <a:cs typeface="Fira Sans" pitchFamily="34" charset="-120"/>
              </a:rPr>
              <a:t>Agent ↔ Server Sequence</a:t>
            </a:r>
            <a:endParaRPr lang="en-US" sz="3000" dirty="0"/>
          </a:p>
        </p:txBody>
      </p:sp>
      <p:pic>
        <p:nvPicPr>
          <p:cNvPr id="4" name="Image 1" descr="C:\Users\jeesingh\.copilot\session-state\b8ab4bc6-faf5-4ebd-bea2-f997a4b9a7ea\files\deck\img\x246.png">    </p:cNvPr>
          <p:cNvPicPr>
            <a:picLocks noChangeAspect="1"/>
          </p:cNvPicPr>
          <p:nvPr/>
        </p:nvPicPr>
        <p:blipFill>
          <a:blip r:embed="rId2"/>
          <a:stretch>
            <a:fillRect/>
          </a:stretch>
        </p:blipFill>
        <p:spPr>
          <a:xfrm>
            <a:off x="1905000" y="1073150"/>
            <a:ext cx="7493000" cy="503555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MCP Primitives &amp; Content Types: </a:t>
            </a:r>
            <a:r>
              <a:rPr lang="en-US" sz="3000" b="1" dirty="0">
                <a:solidFill>
                  <a:srgbClr val="FFFFFF"/>
                </a:solidFill>
                <a:latin typeface="Fira Sans" pitchFamily="34" charset="0"/>
                <a:ea typeface="Fira Sans" pitchFamily="34" charset="-122"/>
                <a:cs typeface="Fira Sans" pitchFamily="34" charset="-120"/>
              </a:rPr>
              <a:t>Four Primitives, Three Content Types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11155680" cy="914400"/>
        </p:xfrm>
        <a:graphic>
          <a:graphicData uri="http://schemas.openxmlformats.org/drawingml/2006/table">
            <a:tbl>
              <a:tblPr/>
              <a:tblGrid>
                <a:gridCol w="1463040"/>
                <a:gridCol w="2926080"/>
                <a:gridCol w="3108960"/>
                <a:gridCol w="365760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Primitive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Direction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Decorator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When to pick it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b="1" dirty="0">
                          <a:solidFill>
                            <a:srgbClr val="0F766E"/>
                          </a:solidFill>
                          <a:latin typeface="Fira Sans" pitchFamily="34" charset="0"/>
                          <a:ea typeface="Fira Sans" pitchFamily="34" charset="-122"/>
                          <a:cs typeface="Fira Sans" pitchFamily="34" charset="-120"/>
                        </a:rPr>
                        <a:t>Tool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Model invokes with arguments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Consolas" pitchFamily="34" charset="0"/>
                          <a:ea typeface="Consolas" pitchFamily="34" charset="-122"/>
                          <a:cs typeface="Consolas" pitchFamily="34" charset="-120"/>
                        </a:rPr>
                        <a:t>@mcp.tool()</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Side-effecting action that needs parameters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2563EB"/>
                          </a:solidFill>
                          <a:latin typeface="Fira Sans" pitchFamily="34" charset="0"/>
                          <a:ea typeface="Fira Sans" pitchFamily="34" charset="-122"/>
                          <a:cs typeface="Fira Sans" pitchFamily="34" charset="-120"/>
                        </a:rPr>
                        <a:t>Resource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Host fetches by URI</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Consolas" pitchFamily="34" charset="0"/>
                          <a:ea typeface="Consolas" pitchFamily="34" charset="-122"/>
                          <a:cs typeface="Consolas" pitchFamily="34" charset="-120"/>
                        </a:rPr>
                        <a:t>@mcp.resource("scheme://path")</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Read-only document, static or computed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b="1" dirty="0">
                          <a:solidFill>
                            <a:srgbClr val="7C3AED"/>
                          </a:solidFill>
                          <a:latin typeface="Fira Sans" pitchFamily="34" charset="0"/>
                          <a:ea typeface="Fira Sans" pitchFamily="34" charset="-122"/>
                          <a:cs typeface="Fira Sans" pitchFamily="34" charset="-120"/>
                        </a:rPr>
                        <a:t>Prompt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User selects a template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Consolas" pitchFamily="34" charset="0"/>
                          <a:ea typeface="Consolas" pitchFamily="34" charset="-122"/>
                          <a:cs typeface="Consolas" pitchFamily="34" charset="-120"/>
                        </a:rPr>
                        <a:t>@mcp.prompt("name")</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Parameterized reusable instructions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D97706"/>
                          </a:solidFill>
                          <a:latin typeface="Fira Sans" pitchFamily="34" charset="0"/>
                          <a:ea typeface="Fira Sans" pitchFamily="34" charset="-122"/>
                          <a:cs typeface="Fira Sans" pitchFamily="34" charset="-120"/>
                        </a:rPr>
                        <a:t>Sampling</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Server asks host to call the LLM</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(host-side capability)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Server needs LLM reasoning without holding API keys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5" name="Text 1"/>
          <p:cNvSpPr/>
          <p:nvPr/>
        </p:nvSpPr>
        <p:spPr>
          <a:xfrm>
            <a:off x="502920" y="3337560"/>
            <a:ext cx="10972800" cy="320040"/>
          </a:xfrm>
          <a:prstGeom prst="rect">
            <a:avLst/>
          </a:prstGeom>
          <a:noFill/>
          <a:ln/>
        </p:spPr>
        <p:txBody>
          <a:bodyPr wrap="square" lIns="635" tIns="635" rIns="635" bIns="635" rtlCol="0" anchor="t"/>
          <a:lstStyle/>
          <a:p>
            <a:pPr algn="l" indent="0" marL="0">
              <a:buNone/>
            </a:pPr>
            <a:r>
              <a:rPr lang="en-US" sz="1300" i="1" dirty="0">
                <a:solidFill>
                  <a:srgbClr val="FFFFFF"/>
                </a:solidFill>
                <a:latin typeface="Fira Sans" pitchFamily="34" charset="0"/>
                <a:ea typeface="Fira Sans" pitchFamily="34" charset="-122"/>
                <a:cs typeface="Fira Sans" pitchFamily="34" charset="-120"/>
              </a:rPr>
              <a:t>Tools are most of MCP usage. Resources and prompts are what the host and the user control.</a:t>
            </a:r>
            <a:endParaRPr lang="en-US" sz="1300" dirty="0"/>
          </a:p>
        </p:txBody>
      </p:sp>
      <p:sp>
        <p:nvSpPr>
          <p:cNvPr id="6" name="Text 2"/>
          <p:cNvSpPr/>
          <p:nvPr/>
        </p:nvSpPr>
        <p:spPr>
          <a:xfrm>
            <a:off x="502920" y="37947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CONTENT TYPES — WHAT A TOOL CAN RETURN</a:t>
            </a:r>
            <a:endParaRPr lang="en-US" sz="140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502920" y="4160520"/>
          <a:ext cx="11155680" cy="914400"/>
        </p:xfrm>
        <a:graphic>
          <a:graphicData uri="http://schemas.openxmlformats.org/drawingml/2006/table">
            <a:tbl>
              <a:tblPr/>
              <a:tblGrid>
                <a:gridCol w="2194560"/>
                <a:gridCol w="5120640"/>
                <a:gridCol w="384048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Type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JSON shape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When to use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TextContent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Consolas" pitchFamily="34" charset="0"/>
                          <a:ea typeface="Consolas" pitchFamily="34" charset="-122"/>
                          <a:cs typeface="Consolas" pitchFamily="34" charset="-120"/>
                        </a:rPr>
                        <a:t>{"type": "text", "text": "..."}</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Most common — tool results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ImageContent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Consolas" pitchFamily="34" charset="0"/>
                          <a:ea typeface="Consolas" pitchFamily="34" charset="-122"/>
                          <a:cs typeface="Consolas" pitchFamily="34" charset="-120"/>
                        </a:rPr>
                        <a:t>{"type": "image", "data": "base64..."}</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Charts, screenshots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EmbeddedResource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Consolas" pitchFamily="34" charset="0"/>
                          <a:ea typeface="Consolas" pitchFamily="34" charset="-122"/>
                          <a:cs typeface="Consolas" pitchFamily="34" charset="-120"/>
                        </a:rPr>
                        <a:t>{"type": "resource", "resource": {...}}</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References to stored data</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Three Transports: </a:t>
            </a:r>
            <a:r>
              <a:rPr lang="en-US" sz="3000" b="1" dirty="0">
                <a:solidFill>
                  <a:srgbClr val="FFFFFF"/>
                </a:solidFill>
                <a:latin typeface="Fira Sans" pitchFamily="34" charset="0"/>
                <a:ea typeface="Fira Sans" pitchFamily="34" charset="-122"/>
                <a:cs typeface="Fira Sans" pitchFamily="34" charset="-120"/>
              </a:rPr>
              <a:t>stdio, SSE, Streamable HTTP</a:t>
            </a:r>
            <a:endParaRPr lang="en-US" sz="3000" dirty="0"/>
          </a:p>
        </p:txBody>
      </p:sp>
      <p:sp>
        <p:nvSpPr>
          <p:cNvPr id="4" name="Text 1"/>
          <p:cNvSpPr/>
          <p:nvPr/>
        </p:nvSpPr>
        <p:spPr>
          <a:xfrm>
            <a:off x="502920" y="868680"/>
            <a:ext cx="10972800" cy="320040"/>
          </a:xfrm>
          <a:prstGeom prst="rect">
            <a:avLst/>
          </a:prstGeom>
          <a:noFill/>
          <a:ln/>
        </p:spPr>
        <p:txBody>
          <a:bodyPr wrap="square" lIns="635" tIns="635" rIns="635" bIns="635" rtlCol="0" anchor="t"/>
          <a:lstStyle/>
          <a:p>
            <a:pPr algn="l" indent="0" marL="0">
              <a:buNone/>
            </a:pPr>
            <a:r>
              <a:rPr lang="en-US" sz="1400" dirty="0">
                <a:solidFill>
                  <a:srgbClr val="FFFFFF"/>
                </a:solidFill>
                <a:latin typeface="Fira Sans" pitchFamily="34" charset="0"/>
                <a:ea typeface="Fira Sans" pitchFamily="34" charset="-122"/>
                <a:cs typeface="Fira Sans" pitchFamily="34" charset="-120"/>
              </a:rPr>
              <a:t>Same protocol, different carrier. Switch with a runtime flag — tool functions change nothing.</a:t>
            </a:r>
            <a:endParaRPr lang="en-US" sz="1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02920" y="1280160"/>
          <a:ext cx="11155680" cy="914400"/>
        </p:xfrm>
        <a:graphic>
          <a:graphicData uri="http://schemas.openxmlformats.org/drawingml/2006/table">
            <a:tbl>
              <a:tblPr/>
              <a:tblGrid>
                <a:gridCol w="1737360"/>
                <a:gridCol w="2926080"/>
                <a:gridCol w="649224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Transport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Shape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When to use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b="1" dirty="0">
                          <a:solidFill>
                            <a:srgbClr val="0F766E"/>
                          </a:solidFill>
                          <a:latin typeface="Fira Sans" pitchFamily="34" charset="0"/>
                          <a:ea typeface="Fira Sans" pitchFamily="34" charset="-122"/>
                          <a:cs typeface="Fira Sans" pitchFamily="34" charset="-120"/>
                        </a:rPr>
                        <a:t>stdio</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Subprocess pipes — lowest latency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Local dev, integration tests, single-tenant desktop apps. Spawn the server, pipe stdin/stdout, kill on exit.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D97706"/>
                          </a:solidFill>
                          <a:latin typeface="Fira Sans" pitchFamily="34" charset="0"/>
                          <a:ea typeface="Fira Sans" pitchFamily="34" charset="-122"/>
                          <a:cs typeface="Fira Sans" pitchFamily="34" charset="-120"/>
                        </a:rPr>
                        <a:t>SSE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Server-sent events over HTTP</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Legacy remote deployments. Two endpoints (/sse + /messages). Use only if you inherited it.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b="1" dirty="0">
                          <a:solidFill>
                            <a:srgbClr val="2563EB"/>
                          </a:solidFill>
                          <a:latin typeface="Fira Sans" pitchFamily="34" charset="0"/>
                          <a:ea typeface="Fira Sans" pitchFamily="34" charset="-122"/>
                          <a:cs typeface="Fira Sans" pitchFamily="34" charset="-120"/>
                        </a:rPr>
                        <a:t>Streamable HTTP</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One HTTP endpoint; responses can stream</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The spec's recommended remote transport. Use for new deployments — and it's where MCP's authorization spec applies.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2"/>
          <p:cNvSpPr/>
          <p:nvPr/>
        </p:nvSpPr>
        <p:spPr>
          <a:xfrm>
            <a:off x="502920" y="3154680"/>
            <a:ext cx="4663440" cy="2971800"/>
          </a:xfrm>
          <a:prstGeom prst="rect">
            <a:avLst/>
          </a:prstGeom>
          <a:solidFill>
            <a:srgbClr val="333333"/>
          </a:solidFill>
          <a:ln w="12700">
            <a:solidFill>
              <a:srgbClr val="333333"/>
            </a:solidFill>
            <a:prstDash val="solid"/>
          </a:ln>
        </p:spPr>
      </p:sp>
      <p:sp>
        <p:nvSpPr>
          <p:cNvPr id="7" name="Text 3"/>
          <p:cNvSpPr/>
          <p:nvPr/>
        </p:nvSpPr>
        <p:spPr>
          <a:xfrm>
            <a:off x="576072" y="3209544"/>
            <a:ext cx="4517136" cy="2862072"/>
          </a:xfrm>
          <a:prstGeom prst="rect">
            <a:avLst/>
          </a:prstGeom>
          <a:noFill/>
          <a:ln/>
        </p:spPr>
        <p:txBody>
          <a:bodyPr wrap="square" lIns="635" tIns="635" rIns="635" bIns="635" rtlCol="0" anchor="t"/>
          <a:lstStyle/>
          <a:p>
            <a:pPr indent="0" marL="0">
              <a:buNone/>
            </a:pPr>
            <a:r>
              <a:rPr lang="en-US" sz="1100" dirty="0">
                <a:solidFill>
                  <a:srgbClr val="9CA3AF"/>
                </a:solidFill>
                <a:latin typeface="Consolas" pitchFamily="34" charset="0"/>
                <a:ea typeface="Consolas" pitchFamily="34" charset="-122"/>
                <a:cs typeface="Consolas" pitchFamily="34" charset="-120"/>
              </a:rPr>
              <a:t># stdio - subprocess, single tenant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mcp.run()                                  </a:t>
            </a:r>
            <a:r>
              <a:rPr lang="en-US" sz="1100" dirty="0">
                <a:solidFill>
                  <a:srgbClr val="9CA3AF"/>
                </a:solidFill>
                <a:latin typeface="Consolas" pitchFamily="34" charset="0"/>
                <a:ea typeface="Consolas" pitchFamily="34" charset="-122"/>
                <a:cs typeface="Consolas" pitchFamily="34" charset="-120"/>
              </a:rPr>
              <a:t> # default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Streamable HTTP - multi tenant, new standard</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mcp.settings.host = </a:t>
            </a:r>
            <a:r>
              <a:rPr lang="en-US" sz="1100" dirty="0">
                <a:solidFill>
                  <a:srgbClr val="A2FCA2"/>
                </a:solidFill>
                <a:latin typeface="Consolas" pitchFamily="34" charset="0"/>
                <a:ea typeface="Consolas" pitchFamily="34" charset="-122"/>
                <a:cs typeface="Consolas" pitchFamily="34" charset="-120"/>
              </a:rPr>
              <a:t>"0.0.0.0"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mcp.settings.port = 8001</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mcp.run(transport=</a:t>
            </a:r>
            <a:r>
              <a:rPr lang="en-US" sz="1100" dirty="0">
                <a:solidFill>
                  <a:srgbClr val="A2FCA2"/>
                </a:solidFill>
                <a:latin typeface="Consolas" pitchFamily="34" charset="0"/>
                <a:ea typeface="Consolas" pitchFamily="34" charset="-122"/>
                <a:cs typeface="Consolas" pitchFamily="34" charset="-120"/>
              </a:rPr>
              <a:t>"streamable-http"</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9CA3AF"/>
                </a:solidFill>
                <a:latin typeface="Consolas" pitchFamily="34" charset="0"/>
                <a:ea typeface="Consolas" pitchFamily="34" charset="-122"/>
                <a:cs typeface="Consolas" pitchFamily="34" charset="-120"/>
              </a:rPr>
              <a:t> # preferred for remote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SSE - legacy, avoid for new servers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mcp.run(transport=</a:t>
            </a:r>
            <a:r>
              <a:rPr lang="en-US" sz="1100" dirty="0">
                <a:solidFill>
                  <a:srgbClr val="A2FCA2"/>
                </a:solidFill>
                <a:latin typeface="Consolas" pitchFamily="34" charset="0"/>
                <a:ea typeface="Consolas" pitchFamily="34" charset="-122"/>
                <a:cs typeface="Consolas" pitchFamily="34" charset="-120"/>
              </a:rPr>
              <a:t>"sse"</a:t>
            </a:r>
            <a:r>
              <a:rPr lang="en-US" sz="1100" dirty="0">
                <a:solidFill>
                  <a:srgbClr val="FFFFFF"/>
                </a:solidFill>
                <a:latin typeface="Consolas" pitchFamily="34" charset="0"/>
                <a:ea typeface="Consolas" pitchFamily="34" charset="-122"/>
                <a:cs typeface="Consolas" pitchFamily="34" charset="-120"/>
              </a:rPr>
              <a:t>)</a:t>
            </a:r>
            <a:endParaRPr lang="en-US" sz="1100" dirty="0"/>
          </a:p>
        </p:txBody>
      </p:sp>
      <p:pic>
        <p:nvPicPr>
          <p:cNvPr id="8" name="Image 1" descr="C:\Users\jeesingh\.copilot\session-state\b8ab4bc6-faf5-4ebd-bea2-f997a4b9a7ea\files\deck\img\x258.png">    </p:cNvPr>
          <p:cNvPicPr>
            <a:picLocks noChangeAspect="1"/>
          </p:cNvPicPr>
          <p:nvPr/>
        </p:nvPicPr>
        <p:blipFill>
          <a:blip r:embed="rId2"/>
          <a:stretch>
            <a:fillRect/>
          </a:stretch>
        </p:blipFill>
        <p:spPr>
          <a:xfrm>
            <a:off x="5304790" y="3139440"/>
            <a:ext cx="6457950" cy="29768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01: </a:t>
            </a:r>
            <a:r>
              <a:rPr lang="en-US" sz="3000" b="1" dirty="0">
                <a:solidFill>
                  <a:srgbClr val="FFFFFF"/>
                </a:solidFill>
                <a:latin typeface="Fira Sans" pitchFamily="34" charset="0"/>
                <a:ea typeface="Fira Sans" pitchFamily="34" charset="-122"/>
                <a:cs typeface="Fira Sans" pitchFamily="34" charset="-120"/>
              </a:rPr>
              <a:t>The MCP Handshake</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What Happens on the Wire</a:t>
            </a:r>
            <a:endParaRPr lang="en-US" sz="1400" dirty="0"/>
          </a:p>
        </p:txBody>
      </p:sp>
      <p:sp>
        <p:nvSpPr>
          <p:cNvPr id="5" name="Shape 2"/>
          <p:cNvSpPr/>
          <p:nvPr/>
        </p:nvSpPr>
        <p:spPr>
          <a:xfrm>
            <a:off x="502920" y="1234440"/>
            <a:ext cx="11155680" cy="384048"/>
          </a:xfrm>
          <a:prstGeom prst="rect">
            <a:avLst/>
          </a:prstGeom>
          <a:solidFill>
            <a:srgbClr val="F1F5F9"/>
          </a:solidFill>
          <a:ln w="12700">
            <a:solidFill>
              <a:srgbClr val="F1F5F9"/>
            </a:solidFill>
            <a:prstDash val="solid"/>
          </a:ln>
        </p:spPr>
      </p:sp>
      <p:sp>
        <p:nvSpPr>
          <p:cNvPr id="6" name="Text 3"/>
          <p:cNvSpPr/>
          <p:nvPr/>
        </p:nvSpPr>
        <p:spPr>
          <a:xfrm>
            <a:off x="594360" y="1234440"/>
            <a:ext cx="10972800" cy="384048"/>
          </a:xfrm>
          <a:prstGeom prst="rect">
            <a:avLst/>
          </a:prstGeom>
          <a:noFill/>
          <a:ln/>
        </p:spPr>
        <p:txBody>
          <a:bodyPr wrap="square" lIns="381" tIns="381" rIns="381" bIns="381" rtlCol="0" anchor="ctr"/>
          <a:lstStyle/>
          <a:p>
            <a:pPr indent="0" marL="0">
              <a:buNone/>
            </a:pPr>
            <a:r>
              <a:rPr lang="en-US" sz="1200" dirty="0">
                <a:solidFill>
                  <a:srgbClr val="0F172A"/>
                </a:solidFill>
                <a:latin typeface="Consolas" pitchFamily="34" charset="0"/>
                <a:ea typeface="Consolas" pitchFamily="34" charset="-122"/>
                <a:cs typeface="Consolas" pitchFamily="34" charset="-120"/>
              </a:rPr>
              <a:t>python m1_mcp/demos/01_initialize_handshake.py      # no API key needed</a:t>
            </a:r>
            <a:endParaRPr lang="en-US" sz="1200" dirty="0"/>
          </a:p>
        </p:txBody>
      </p:sp>
      <p:sp>
        <p:nvSpPr>
          <p:cNvPr id="7" name="Text 4"/>
          <p:cNvSpPr/>
          <p:nvPr/>
        </p:nvSpPr>
        <p:spPr>
          <a:xfrm>
            <a:off x="502920" y="1719072"/>
            <a:ext cx="7315200" cy="320040"/>
          </a:xfrm>
          <a:prstGeom prst="rect">
            <a:avLst/>
          </a:prstGeom>
          <a:noFill/>
          <a:ln/>
        </p:spPr>
        <p:txBody>
          <a:bodyPr wrap="square" lIns="635" tIns="635" rIns="635" bIns="635" rtlCol="0" anchor="t"/>
          <a:lstStyle/>
          <a:p>
            <a:pPr algn="l" indent="0" marL="0">
              <a:buNone/>
            </a:pPr>
            <a:r>
              <a:rPr lang="en-US" sz="1400" b="1" dirty="0">
                <a:solidFill>
                  <a:srgbClr val="FFFFFF"/>
                </a:solidFill>
                <a:latin typeface="Fira Sans" pitchFamily="34" charset="0"/>
                <a:ea typeface="Fira Sans" pitchFamily="34" charset="-122"/>
                <a:cs typeface="Fira Sans" pitchFamily="34" charset="-120"/>
              </a:rPr>
              <a:t>Raw JSON-RPC frames — no SDK, no abstraction:</a:t>
            </a:r>
            <a:endParaRPr lang="en-US" sz="1400" dirty="0"/>
          </a:p>
        </p:txBody>
      </p:sp>
      <p:sp>
        <p:nvSpPr>
          <p:cNvPr id="8" name="Shape 5"/>
          <p:cNvSpPr/>
          <p:nvPr/>
        </p:nvSpPr>
        <p:spPr>
          <a:xfrm>
            <a:off x="502920" y="2103120"/>
            <a:ext cx="11155680" cy="2971800"/>
          </a:xfrm>
          <a:prstGeom prst="rect">
            <a:avLst/>
          </a:prstGeom>
          <a:solidFill>
            <a:srgbClr val="333333"/>
          </a:solidFill>
          <a:ln w="12700">
            <a:solidFill>
              <a:srgbClr val="333333"/>
            </a:solidFill>
            <a:prstDash val="solid"/>
          </a:ln>
        </p:spPr>
      </p:sp>
      <p:sp>
        <p:nvSpPr>
          <p:cNvPr id="9" name="Text 6"/>
          <p:cNvSpPr/>
          <p:nvPr/>
        </p:nvSpPr>
        <p:spPr>
          <a:xfrm>
            <a:off x="576072" y="2157984"/>
            <a:ext cx="11009376" cy="2862072"/>
          </a:xfrm>
          <a:prstGeom prst="rect">
            <a:avLst/>
          </a:prstGeom>
          <a:noFill/>
          <a:ln/>
        </p:spPr>
        <p:txBody>
          <a:bodyPr wrap="square" lIns="635" tIns="635" rIns="635" bIns="635" rtlCol="0" anchor="t"/>
          <a:lstStyle/>
          <a:p>
            <a:pPr indent="0" marL="0">
              <a:buNone/>
            </a:pPr>
            <a:r>
              <a:rPr lang="en-US" sz="1100" dirty="0">
                <a:solidFill>
                  <a:srgbClr val="FC9B9B"/>
                </a:solidFill>
                <a:latin typeface="Consolas" pitchFamily="34" charset="0"/>
                <a:ea typeface="Consolas" pitchFamily="34" charset="-122"/>
                <a:cs typeface="Consolas" pitchFamily="34" charset="-120"/>
              </a:rPr>
              <a:t>&gt;&gt;&gt;</a:t>
            </a:r>
            <a:r>
              <a:rPr lang="en-US" sz="1100" dirty="0">
                <a:solidFill>
                  <a:srgbClr val="FFFFFF"/>
                </a:solidFill>
                <a:latin typeface="Consolas" pitchFamily="34" charset="0"/>
                <a:ea typeface="Consolas" pitchFamily="34" charset="-122"/>
                <a:cs typeface="Consolas" pitchFamily="34" charset="-120"/>
              </a:rPr>
              <a:t> client -&gt; server: initialize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"jsonrpc"</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"2.0"</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"id"</a:t>
            </a:r>
            <a:r>
              <a:rPr lang="en-US" sz="1100" dirty="0">
                <a:solidFill>
                  <a:srgbClr val="FFFFFF"/>
                </a:solidFill>
                <a:latin typeface="Consolas" pitchFamily="34" charset="0"/>
                <a:ea typeface="Consolas" pitchFamily="34" charset="-122"/>
                <a:cs typeface="Consolas" pitchFamily="34" charset="-120"/>
              </a:rPr>
              <a:t>: 1, </a:t>
            </a:r>
            <a:r>
              <a:rPr lang="en-US" sz="1100" dirty="0">
                <a:solidFill>
                  <a:srgbClr val="A2FCA2"/>
                </a:solidFill>
                <a:latin typeface="Consolas" pitchFamily="34" charset="0"/>
                <a:ea typeface="Consolas" pitchFamily="34" charset="-122"/>
                <a:cs typeface="Consolas" pitchFamily="34" charset="-120"/>
              </a:rPr>
              <a:t>"method"</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"initialize"</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"params"</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"protocolVersion"</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"2024-11-05"</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"capabilities"</a:t>
            </a: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"clientInfo"</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"name"</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"demo-client"</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"version"</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"0.1"</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C9B9B"/>
                </a:solidFill>
                <a:latin typeface="Consolas" pitchFamily="34" charset="0"/>
                <a:ea typeface="Consolas" pitchFamily="34" charset="-122"/>
                <a:cs typeface="Consolas" pitchFamily="34" charset="-120"/>
              </a:rPr>
              <a:t>&lt;&lt;&lt;</a:t>
            </a:r>
            <a:r>
              <a:rPr lang="en-US" sz="1100" dirty="0">
                <a:solidFill>
                  <a:srgbClr val="FFFFFF"/>
                </a:solidFill>
                <a:latin typeface="Consolas" pitchFamily="34" charset="0"/>
                <a:ea typeface="Consolas" pitchFamily="34" charset="-122"/>
                <a:cs typeface="Consolas" pitchFamily="34" charset="-120"/>
              </a:rPr>
              <a:t> server -&gt; client: initialize result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"result"</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"protocolVersion"</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"2024-11-05"</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"capabilities"</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"experimental"</a:t>
            </a:r>
            <a:r>
              <a:rPr lang="en-US" sz="1100" dirty="0">
                <a:solidFill>
                  <a:srgbClr val="FFFFFF"/>
                </a:solidFill>
                <a:latin typeface="Consolas" pitchFamily="34" charset="0"/>
                <a:ea typeface="Consolas" pitchFamily="34" charset="-122"/>
                <a:cs typeface="Consolas" pitchFamily="34" charset="-120"/>
              </a:rPr>
              <a:t>: {}, </a:t>
            </a:r>
            <a:r>
              <a:rPr lang="en-US" sz="1100" dirty="0">
                <a:solidFill>
                  <a:srgbClr val="A2FCA2"/>
                </a:solidFill>
                <a:latin typeface="Consolas" pitchFamily="34" charset="0"/>
                <a:ea typeface="Consolas" pitchFamily="34" charset="-122"/>
                <a:cs typeface="Consolas" pitchFamily="34" charset="-120"/>
              </a:rPr>
              <a:t>"prompts"</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"listChanged"</a:t>
            </a:r>
            <a:r>
              <a:rPr lang="en-US" sz="1100" dirty="0">
                <a:solidFill>
                  <a:srgbClr val="FFFFFF"/>
                </a:solidFill>
                <a:latin typeface="Consolas" pitchFamily="34" charset="0"/>
                <a:ea typeface="Consolas" pitchFamily="34" charset="-122"/>
                <a:cs typeface="Consolas" pitchFamily="34" charset="-120"/>
              </a:rPr>
              <a:t>: false},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"resources"</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"subscribe"</a:t>
            </a:r>
            <a:r>
              <a:rPr lang="en-US" sz="1100" dirty="0">
                <a:solidFill>
                  <a:srgbClr val="FFFFFF"/>
                </a:solidFill>
                <a:latin typeface="Consolas" pitchFamily="34" charset="0"/>
                <a:ea typeface="Consolas" pitchFamily="34" charset="-122"/>
                <a:cs typeface="Consolas" pitchFamily="34" charset="-120"/>
              </a:rPr>
              <a:t>: false, </a:t>
            </a:r>
            <a:r>
              <a:rPr lang="en-US" sz="1100" dirty="0">
                <a:solidFill>
                  <a:srgbClr val="A2FCA2"/>
                </a:solidFill>
                <a:latin typeface="Consolas" pitchFamily="34" charset="0"/>
                <a:ea typeface="Consolas" pitchFamily="34" charset="-122"/>
                <a:cs typeface="Consolas" pitchFamily="34" charset="-120"/>
              </a:rPr>
              <a:t>"listChanged"</a:t>
            </a:r>
            <a:r>
              <a:rPr lang="en-US" sz="1100" dirty="0">
                <a:solidFill>
                  <a:srgbClr val="FFFFFF"/>
                </a:solidFill>
                <a:latin typeface="Consolas" pitchFamily="34" charset="0"/>
                <a:ea typeface="Consolas" pitchFamily="34" charset="-122"/>
                <a:cs typeface="Consolas" pitchFamily="34" charset="-120"/>
              </a:rPr>
              <a:t>: false},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"tools"</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"listChanged"</a:t>
            </a:r>
            <a:r>
              <a:rPr lang="en-US" sz="1100" dirty="0">
                <a:solidFill>
                  <a:srgbClr val="FFFFFF"/>
                </a:solidFill>
                <a:latin typeface="Consolas" pitchFamily="34" charset="0"/>
                <a:ea typeface="Consolas" pitchFamily="34" charset="-122"/>
                <a:cs typeface="Consolas" pitchFamily="34" charset="-120"/>
              </a:rPr>
              <a:t>: false}},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"serverInfo"</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"name"</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"real-estate-pricing"</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"version"</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"1.30.0"</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C9B9B"/>
                </a:solidFill>
                <a:latin typeface="Consolas" pitchFamily="34" charset="0"/>
                <a:ea typeface="Consolas" pitchFamily="34" charset="-122"/>
                <a:cs typeface="Consolas" pitchFamily="34" charset="-120"/>
              </a:rPr>
              <a:t>&gt;&gt;&gt;</a:t>
            </a:r>
            <a:r>
              <a:rPr lang="en-US" sz="1100" dirty="0">
                <a:solidFill>
                  <a:srgbClr val="FFFFFF"/>
                </a:solidFill>
                <a:latin typeface="Consolas" pitchFamily="34" charset="0"/>
                <a:ea typeface="Consolas" pitchFamily="34" charset="-122"/>
                <a:cs typeface="Consolas" pitchFamily="34" charset="-120"/>
              </a:rPr>
              <a:t> notifications/initialized</a:t>
            </a:r>
            <a:endParaRPr lang="en-US" sz="1100" dirty="0"/>
          </a:p>
          <a:p>
            <a:pPr indent="0" marL="0">
              <a:buNone/>
            </a:pPr>
            <a:r>
              <a:rPr lang="en-US" sz="1100" dirty="0">
                <a:solidFill>
                  <a:srgbClr val="FC9B9B"/>
                </a:solidFill>
                <a:latin typeface="Consolas" pitchFamily="34" charset="0"/>
                <a:ea typeface="Consolas" pitchFamily="34" charset="-122"/>
                <a:cs typeface="Consolas" pitchFamily="34" charset="-120"/>
              </a:rPr>
              <a:t>&gt;&gt;&gt;</a:t>
            </a:r>
            <a:r>
              <a:rPr lang="en-US" sz="1100" dirty="0">
                <a:solidFill>
                  <a:srgbClr val="FFFFFF"/>
                </a:solidFill>
                <a:latin typeface="Consolas" pitchFamily="34" charset="0"/>
                <a:ea typeface="Consolas" pitchFamily="34" charset="-122"/>
                <a:cs typeface="Consolas" pitchFamily="34" charset="-120"/>
              </a:rPr>
              <a:t> tools/list</a:t>
            </a:r>
            <a:endParaRPr lang="en-US" sz="1100" dirty="0"/>
          </a:p>
          <a:p>
            <a:pPr indent="0" marL="0">
              <a:buNone/>
            </a:pPr>
            <a:r>
              <a:rPr lang="en-US" sz="1100" dirty="0">
                <a:solidFill>
                  <a:srgbClr val="FC9B9B"/>
                </a:solidFill>
                <a:latin typeface="Consolas" pitchFamily="34" charset="0"/>
                <a:ea typeface="Consolas" pitchFamily="34" charset="-122"/>
                <a:cs typeface="Consolas" pitchFamily="34" charset="-120"/>
              </a:rPr>
              <a:t>&lt;&lt;&lt;</a:t>
            </a:r>
            <a:r>
              <a:rPr lang="en-US" sz="1100" dirty="0">
                <a:solidFill>
                  <a:srgbClr val="FFFFFF"/>
                </a:solidFill>
                <a:latin typeface="Consolas" pitchFamily="34" charset="0"/>
                <a:ea typeface="Consolas" pitchFamily="34" charset="-122"/>
                <a:cs typeface="Consolas" pitchFamily="34" charset="-120"/>
              </a:rPr>
              <a:t> tools/list result -&gt; 2 tools with full JSON schemas</a:t>
            </a:r>
            <a:endParaRPr lang="en-US" sz="1100" dirty="0"/>
          </a:p>
        </p:txBody>
      </p:sp>
      <p:sp>
        <p:nvSpPr>
          <p:cNvPr id="10" name="Shape 7"/>
          <p:cNvSpPr/>
          <p:nvPr/>
        </p:nvSpPr>
        <p:spPr>
          <a:xfrm>
            <a:off x="502920" y="5212080"/>
            <a:ext cx="11155680" cy="777240"/>
          </a:xfrm>
          <a:prstGeom prst="rect">
            <a:avLst/>
          </a:prstGeom>
          <a:solidFill>
            <a:srgbClr val="CCFBF1"/>
          </a:solidFill>
          <a:ln w="12700">
            <a:solidFill>
              <a:srgbClr val="CCFBF1"/>
            </a:solidFill>
            <a:prstDash val="solid"/>
          </a:ln>
        </p:spPr>
      </p:sp>
      <p:sp>
        <p:nvSpPr>
          <p:cNvPr id="11" name="Text 8"/>
          <p:cNvSpPr/>
          <p:nvPr/>
        </p:nvSpPr>
        <p:spPr>
          <a:xfrm>
            <a:off x="640080" y="5257800"/>
            <a:ext cx="10881360" cy="68580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5 frames total. </a:t>
            </a:r>
            <a:r>
              <a:rPr lang="en-US" sz="1300" dirty="0">
                <a:solidFill>
                  <a:srgbClr val="1E293B"/>
                </a:solidFill>
                <a:latin typeface="Fira Sans" pitchFamily="34" charset="0"/>
                <a:ea typeface="Fira Sans" pitchFamily="34" charset="-122"/>
                <a:cs typeface="Fira Sans" pitchFamily="34" charset="-120"/>
              </a:rPr>
              <a:t>After this handshake the client knows what tools exist and can call them. JSON Schema is generated from Python type hints. (serverInfo.version is the installed mcp package version — the SDK reports it when a server doesn't set its own.)</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02: </a:t>
            </a:r>
            <a:r>
              <a:rPr lang="en-US" sz="3000" b="1" dirty="0">
                <a:solidFill>
                  <a:srgbClr val="FFFFFF"/>
                </a:solidFill>
                <a:latin typeface="Fira Sans" pitchFamily="34" charset="0"/>
                <a:ea typeface="Fira Sans" pitchFamily="34" charset="-122"/>
                <a:cs typeface="Fira Sans" pitchFamily="34" charset="-120"/>
              </a:rPr>
              <a:t>The Tool Loop</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Model ↔ Host ↔ Server</a:t>
            </a:r>
            <a:endParaRPr lang="en-US" sz="1400" dirty="0"/>
          </a:p>
        </p:txBody>
      </p:sp>
      <p:sp>
        <p:nvSpPr>
          <p:cNvPr id="5" name="Shape 2"/>
          <p:cNvSpPr/>
          <p:nvPr/>
        </p:nvSpPr>
        <p:spPr>
          <a:xfrm>
            <a:off x="502920" y="1234440"/>
            <a:ext cx="11155680" cy="384048"/>
          </a:xfrm>
          <a:prstGeom prst="rect">
            <a:avLst/>
          </a:prstGeom>
          <a:solidFill>
            <a:srgbClr val="F1F5F9"/>
          </a:solidFill>
          <a:ln w="12700">
            <a:solidFill>
              <a:srgbClr val="F1F5F9"/>
            </a:solidFill>
            <a:prstDash val="solid"/>
          </a:ln>
        </p:spPr>
      </p:sp>
      <p:sp>
        <p:nvSpPr>
          <p:cNvPr id="6" name="Text 3"/>
          <p:cNvSpPr/>
          <p:nvPr/>
        </p:nvSpPr>
        <p:spPr>
          <a:xfrm>
            <a:off x="594360" y="1234440"/>
            <a:ext cx="10972800" cy="384048"/>
          </a:xfrm>
          <a:prstGeom prst="rect">
            <a:avLst/>
          </a:prstGeom>
          <a:noFill/>
          <a:ln/>
        </p:spPr>
        <p:txBody>
          <a:bodyPr wrap="square" lIns="381" tIns="381" rIns="381" bIns="381" rtlCol="0" anchor="ctr"/>
          <a:lstStyle/>
          <a:p>
            <a:pPr indent="0" marL="0">
              <a:buNone/>
            </a:pPr>
            <a:r>
              <a:rPr lang="en-US" sz="1200" dirty="0">
                <a:solidFill>
                  <a:srgbClr val="0F172A"/>
                </a:solidFill>
                <a:latin typeface="Consolas" pitchFamily="34" charset="0"/>
                <a:ea typeface="Consolas" pitchFamily="34" charset="-122"/>
                <a:cs typeface="Consolas" pitchFamily="34" charset="-120"/>
              </a:rPr>
              <a:t>python m1_mcp/demos/02_tool_loop_trace.py      # requires OPENAI_API_KEY</a:t>
            </a:r>
            <a:endParaRPr lang="en-US" sz="1200" dirty="0"/>
          </a:p>
        </p:txBody>
      </p:sp>
      <p:sp>
        <p:nvSpPr>
          <p:cNvPr id="7" name="Shape 4"/>
          <p:cNvSpPr/>
          <p:nvPr/>
        </p:nvSpPr>
        <p:spPr>
          <a:xfrm>
            <a:off x="502920" y="1737360"/>
            <a:ext cx="11155680" cy="2057400"/>
          </a:xfrm>
          <a:prstGeom prst="rect">
            <a:avLst/>
          </a:prstGeom>
          <a:solidFill>
            <a:srgbClr val="333333"/>
          </a:solidFill>
          <a:ln w="12700">
            <a:solidFill>
              <a:srgbClr val="333333"/>
            </a:solidFill>
            <a:prstDash val="solid"/>
          </a:ln>
        </p:spPr>
      </p:sp>
      <p:sp>
        <p:nvSpPr>
          <p:cNvPr id="8" name="Text 5"/>
          <p:cNvSpPr/>
          <p:nvPr/>
        </p:nvSpPr>
        <p:spPr>
          <a:xfrm>
            <a:off x="576072" y="1792224"/>
            <a:ext cx="11009376" cy="1947672"/>
          </a:xfrm>
          <a:prstGeom prst="rect">
            <a:avLst/>
          </a:prstGeom>
          <a:noFill/>
          <a:ln/>
        </p:spPr>
        <p:txBody>
          <a:bodyPr wrap="square" lIns="635" tIns="635" rIns="635" bIns="635" rtlCol="0" anchor="t"/>
          <a:lstStyle/>
          <a:p>
            <a:pPr indent="0" marL="0">
              <a:buNone/>
            </a:pPr>
            <a:r>
              <a:rPr lang="en-US" sz="1200" dirty="0">
                <a:solidFill>
                  <a:srgbClr val="FFFFFF"/>
                </a:solidFill>
                <a:latin typeface="Consolas" pitchFamily="34" charset="0"/>
                <a:ea typeface="Consolas" pitchFamily="34" charset="-122"/>
                <a:cs typeface="Consolas" pitchFamily="34" charset="-120"/>
              </a:rPr>
              <a:t>[t= 0.00s] HOST    connecting to MCP server (stdio subprocess)</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[t= 1.81s] HOST    tools/list -&gt; 2 tools discovered</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[t= 2.30s] MODEL   receiving prompt + tool catalog</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[t= 4.84s] MODEL   emitted tool_use(get_market_price)</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[t= 4.84s] HOST    translating tool_use -&gt; tools/call</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[t= 4.84s] SERVER  returned CallToolResult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[t= 4.84s] HOST    injecting tool_result into model context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[t=10.38s] MODEL   emitted final assistant text           </a:t>
            </a:r>
            <a:r>
              <a:rPr lang="en-US" sz="1200" dirty="0">
                <a:solidFill>
                  <a:srgbClr val="9CA3AF"/>
                </a:solidFill>
                <a:latin typeface="Consolas" pitchFamily="34" charset="0"/>
                <a:ea typeface="Consolas" pitchFamily="34" charset="-122"/>
                <a:cs typeface="Consolas" pitchFamily="34" charset="-120"/>
              </a:rPr>
              <a:t> # timings vary by machine</a:t>
            </a:r>
            <a:endParaRPr lang="en-US" sz="1200" dirty="0"/>
          </a:p>
        </p:txBody>
      </p:sp>
      <p:sp>
        <p:nvSpPr>
          <p:cNvPr id="9" name="Text 6"/>
          <p:cNvSpPr/>
          <p:nvPr/>
        </p:nvSpPr>
        <p:spPr>
          <a:xfrm>
            <a:off x="502920" y="397764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Three actors, clear roles:</a:t>
            </a:r>
            <a:endParaRPr lang="en-US" sz="1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02920" y="4343400"/>
          <a:ext cx="11155680" cy="914400"/>
        </p:xfrm>
        <a:graphic>
          <a:graphicData uri="http://schemas.openxmlformats.org/drawingml/2006/table">
            <a:tbl>
              <a:tblPr/>
              <a:tblGrid>
                <a:gridCol w="3108960"/>
                <a:gridCol w="8046720"/>
              </a:tblGrid>
              <a:tr h="0">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Actor</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What it does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Model (gpt-4o-mini)</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Decides WHICH tools to call based on the query + schemas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Host (your Python code)</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Translates between OpenAI's tool-call format and MCP</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Server (pricing_server.py)</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Executes the tool and returns structured data</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03: </a:t>
            </a:r>
            <a:r>
              <a:rPr lang="en-US" sz="3000" b="1" dirty="0">
                <a:solidFill>
                  <a:srgbClr val="FFFFFF"/>
                </a:solidFill>
                <a:latin typeface="Fira Sans" pitchFamily="34" charset="0"/>
                <a:ea typeface="Fira Sans" pitchFamily="34" charset="-122"/>
                <a:cs typeface="Fira Sans" pitchFamily="34" charset="-120"/>
              </a:rPr>
              <a:t>List All Primitives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Tools, Resources, and Prompts</a:t>
            </a:r>
            <a:endParaRPr lang="en-US" sz="1400" dirty="0"/>
          </a:p>
        </p:txBody>
      </p:sp>
      <p:sp>
        <p:nvSpPr>
          <p:cNvPr id="5" name="Shape 2"/>
          <p:cNvSpPr/>
          <p:nvPr/>
        </p:nvSpPr>
        <p:spPr>
          <a:xfrm>
            <a:off x="502920" y="1280160"/>
            <a:ext cx="4617720" cy="457200"/>
          </a:xfrm>
          <a:prstGeom prst="rect">
            <a:avLst/>
          </a:prstGeom>
          <a:solidFill>
            <a:srgbClr val="F1F5F9"/>
          </a:solidFill>
          <a:ln w="12700">
            <a:solidFill>
              <a:srgbClr val="F1F5F9"/>
            </a:solidFill>
            <a:prstDash val="solid"/>
          </a:ln>
        </p:spPr>
      </p:sp>
      <p:sp>
        <p:nvSpPr>
          <p:cNvPr id="6" name="Text 3"/>
          <p:cNvSpPr/>
          <p:nvPr/>
        </p:nvSpPr>
        <p:spPr>
          <a:xfrm>
            <a:off x="594360" y="1280160"/>
            <a:ext cx="4434840" cy="457200"/>
          </a:xfrm>
          <a:prstGeom prst="rect">
            <a:avLst/>
          </a:prstGeom>
          <a:noFill/>
          <a:ln/>
        </p:spPr>
        <p:txBody>
          <a:bodyPr wrap="square" lIns="381" tIns="381" rIns="381" bIns="381" rtlCol="0" anchor="ctr"/>
          <a:lstStyle/>
          <a:p>
            <a:pPr indent="0" marL="0">
              <a:buNone/>
            </a:pPr>
            <a:r>
              <a:rPr lang="en-US" sz="1050" dirty="0">
                <a:solidFill>
                  <a:srgbClr val="0F172A"/>
                </a:solidFill>
                <a:latin typeface="Consolas" pitchFamily="34" charset="0"/>
                <a:ea typeface="Consolas" pitchFamily="34" charset="-122"/>
                <a:cs typeface="Consolas" pitchFamily="34" charset="-120"/>
              </a:rPr>
              <a:t>python m1_mcp/demos/03_list_all_primitives.py  # no API key</a:t>
            </a:r>
            <a:endParaRPr lang="en-US" sz="1050" dirty="0"/>
          </a:p>
        </p:txBody>
      </p:sp>
      <p:sp>
        <p:nvSpPr>
          <p:cNvPr id="7" name="Text 4"/>
          <p:cNvSpPr/>
          <p:nvPr/>
        </p:nvSpPr>
        <p:spPr>
          <a:xfrm>
            <a:off x="502920" y="19659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What to point out live:</a:t>
            </a:r>
            <a:endParaRPr lang="en-US" sz="1400" dirty="0"/>
          </a:p>
        </p:txBody>
      </p:sp>
      <p:sp>
        <p:nvSpPr>
          <p:cNvPr id="8" name="Text 5"/>
          <p:cNvSpPr/>
          <p:nvPr/>
        </p:nvSpPr>
        <p:spPr>
          <a:xfrm>
            <a:off x="502920" y="2331720"/>
            <a:ext cx="4846320" cy="3291840"/>
          </a:xfrm>
          <a:prstGeom prst="rect">
            <a:avLst/>
          </a:prstGeom>
          <a:noFill/>
          <a:ln/>
        </p:spPr>
        <p:txBody>
          <a:bodyPr wrap="square" lIns="635" tIns="635" rIns="635" bIns="635" rtlCol="0" anchor="t"/>
          <a:lstStyle/>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MCP exposes more than tools; resources and prompts are first-class primitives too</a:t>
            </a:r>
            <a:endParaRPr lang="en-US" sz="1500" dirty="0"/>
          </a:p>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inventory://floor-prices is readable data, not a callable function</a:t>
            </a:r>
            <a:endParaRPr lang="en-US" sz="1500" dirty="0"/>
          </a:p>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negotiation-tactics is a prompt template the host can expand into the conversation</a:t>
            </a:r>
            <a:endParaRPr lang="en-US" sz="1500" dirty="0"/>
          </a:p>
        </p:txBody>
      </p:sp>
      <p:pic>
        <p:nvPicPr>
          <p:cNvPr id="9" name="Image 1" descr="C:\Users\jeesingh\.copilot\session-state\b8ab4bc6-faf5-4ebd-bea2-f997a4b9a7ea\files\deck\img\x275.png">    </p:cNvPr>
          <p:cNvPicPr>
            <a:picLocks noChangeAspect="1"/>
          </p:cNvPicPr>
          <p:nvPr/>
        </p:nvPicPr>
        <p:blipFill>
          <a:blip r:embed="rId2"/>
          <a:stretch>
            <a:fillRect/>
          </a:stretch>
        </p:blipFill>
        <p:spPr>
          <a:xfrm>
            <a:off x="5435600" y="1109980"/>
            <a:ext cx="6502400" cy="498856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04: </a:t>
            </a:r>
            <a:r>
              <a:rPr lang="en-US" sz="3000" b="1" dirty="0">
                <a:solidFill>
                  <a:srgbClr val="FFFFFF"/>
                </a:solidFill>
                <a:latin typeface="Fira Sans" pitchFamily="34" charset="0"/>
                <a:ea typeface="Fira Sans" pitchFamily="34" charset="-122"/>
                <a:cs typeface="Fira Sans" pitchFamily="34" charset="-120"/>
              </a:rPr>
              <a:t>Content Types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Text, Image, and Embedded Resource</a:t>
            </a:r>
            <a:endParaRPr lang="en-US" sz="1400" dirty="0"/>
          </a:p>
        </p:txBody>
      </p:sp>
      <p:sp>
        <p:nvSpPr>
          <p:cNvPr id="5" name="Shape 2"/>
          <p:cNvSpPr/>
          <p:nvPr/>
        </p:nvSpPr>
        <p:spPr>
          <a:xfrm>
            <a:off x="502920" y="1280160"/>
            <a:ext cx="4617720" cy="457200"/>
          </a:xfrm>
          <a:prstGeom prst="rect">
            <a:avLst/>
          </a:prstGeom>
          <a:solidFill>
            <a:srgbClr val="F1F5F9"/>
          </a:solidFill>
          <a:ln w="12700">
            <a:solidFill>
              <a:srgbClr val="F1F5F9"/>
            </a:solidFill>
            <a:prstDash val="solid"/>
          </a:ln>
        </p:spPr>
      </p:sp>
      <p:sp>
        <p:nvSpPr>
          <p:cNvPr id="6" name="Text 3"/>
          <p:cNvSpPr/>
          <p:nvPr/>
        </p:nvSpPr>
        <p:spPr>
          <a:xfrm>
            <a:off x="594360" y="1280160"/>
            <a:ext cx="4434840" cy="457200"/>
          </a:xfrm>
          <a:prstGeom prst="rect">
            <a:avLst/>
          </a:prstGeom>
          <a:noFill/>
          <a:ln/>
        </p:spPr>
        <p:txBody>
          <a:bodyPr wrap="square" lIns="381" tIns="381" rIns="381" bIns="381" rtlCol="0" anchor="ctr"/>
          <a:lstStyle/>
          <a:p>
            <a:pPr indent="0" marL="0">
              <a:buNone/>
            </a:pPr>
            <a:r>
              <a:rPr lang="en-US" sz="1050" dirty="0">
                <a:solidFill>
                  <a:srgbClr val="0F172A"/>
                </a:solidFill>
                <a:latin typeface="Consolas" pitchFamily="34" charset="0"/>
                <a:ea typeface="Consolas" pitchFamily="34" charset="-122"/>
                <a:cs typeface="Consolas" pitchFamily="34" charset="-120"/>
              </a:rPr>
              <a:t>python m1_mcp/demos/04_content_types.py  # no API key</a:t>
            </a:r>
            <a:endParaRPr lang="en-US" sz="1050" dirty="0"/>
          </a:p>
        </p:txBody>
      </p:sp>
      <p:sp>
        <p:nvSpPr>
          <p:cNvPr id="7" name="Text 4"/>
          <p:cNvSpPr/>
          <p:nvPr/>
        </p:nvSpPr>
        <p:spPr>
          <a:xfrm>
            <a:off x="502920" y="19659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Why it matters:</a:t>
            </a:r>
            <a:endParaRPr lang="en-US" sz="1400" dirty="0"/>
          </a:p>
        </p:txBody>
      </p:sp>
      <p:sp>
        <p:nvSpPr>
          <p:cNvPr id="8" name="Text 5"/>
          <p:cNvSpPr/>
          <p:nvPr/>
        </p:nvSpPr>
        <p:spPr>
          <a:xfrm>
            <a:off x="502920" y="2331720"/>
            <a:ext cx="4846320" cy="3291840"/>
          </a:xfrm>
          <a:prstGeom prst="rect">
            <a:avLst/>
          </a:prstGeom>
          <a:noFill/>
          <a:ln/>
        </p:spPr>
        <p:txBody>
          <a:bodyPr wrap="square" lIns="635" tIns="635" rIns="635" bIns="635" rtlCol="0" anchor="t"/>
          <a:lstStyle/>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Most workshop tools return TextContent, but MCP can also return images and embedded resources</a:t>
            </a:r>
            <a:endParaRPr lang="en-US" sz="1500" dirty="0"/>
          </a:p>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The protocol standardizes result blocks, so the host can render them consistently</a:t>
            </a:r>
            <a:endParaRPr lang="en-US" sz="1500" dirty="0"/>
          </a:p>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Demo 04 makes the JSON shape visible before you need to debug it in Module 2</a:t>
            </a:r>
            <a:endParaRPr lang="en-US" sz="1500" dirty="0"/>
          </a:p>
        </p:txBody>
      </p:sp>
      <p:pic>
        <p:nvPicPr>
          <p:cNvPr id="9" name="Image 1" descr="C:\Users\jeesingh\.copilot\session-state\b8ab4bc6-faf5-4ebd-bea2-f997a4b9a7ea\files\deck\img\x282.png">    </p:cNvPr>
          <p:cNvPicPr>
            <a:picLocks noChangeAspect="1"/>
          </p:cNvPicPr>
          <p:nvPr/>
        </p:nvPicPr>
        <p:blipFill>
          <a:blip r:embed="rId2"/>
          <a:stretch>
            <a:fillRect/>
          </a:stretch>
        </p:blipFill>
        <p:spPr>
          <a:xfrm>
            <a:off x="5346700" y="919480"/>
            <a:ext cx="6591300" cy="50190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2600" b="1" dirty="0">
                <a:solidFill>
                  <a:srgbClr val="3896D2"/>
                </a:solidFill>
                <a:latin typeface="Fira Sans" pitchFamily="34" charset="0"/>
                <a:ea typeface="Fira Sans" pitchFamily="34" charset="-122"/>
                <a:cs typeface="Fira Sans" pitchFamily="34" charset="-120"/>
              </a:rPr>
              <a:t>GitHub MCP Agent (Live Demo): </a:t>
            </a:r>
            <a:r>
              <a:rPr lang="en-US" sz="2600" b="1" dirty="0">
                <a:solidFill>
                  <a:srgbClr val="FFFFFF"/>
                </a:solidFill>
                <a:latin typeface="Fira Sans" pitchFamily="34" charset="0"/>
                <a:ea typeface="Fira Sans" pitchFamily="34" charset="-122"/>
                <a:cs typeface="Fira Sans" pitchFamily="34" charset="-120"/>
              </a:rPr>
              <a:t>An LLM Agent Using GitHub via MCP</a:t>
            </a:r>
            <a:endParaRPr lang="en-US" sz="2600" dirty="0"/>
          </a:p>
        </p:txBody>
      </p:sp>
      <p:sp>
        <p:nvSpPr>
          <p:cNvPr id="4" name="Shape 1"/>
          <p:cNvSpPr/>
          <p:nvPr/>
        </p:nvSpPr>
        <p:spPr>
          <a:xfrm>
            <a:off x="502920" y="914400"/>
            <a:ext cx="11155680" cy="685800"/>
          </a:xfrm>
          <a:prstGeom prst="rect">
            <a:avLst/>
          </a:prstGeom>
          <a:solidFill>
            <a:srgbClr val="F1F5F9"/>
          </a:solidFill>
          <a:ln w="12700">
            <a:solidFill>
              <a:srgbClr val="F1F5F9"/>
            </a:solidFill>
            <a:prstDash val="solid"/>
          </a:ln>
        </p:spPr>
      </p:sp>
      <p:sp>
        <p:nvSpPr>
          <p:cNvPr id="5" name="Text 2"/>
          <p:cNvSpPr/>
          <p:nvPr/>
        </p:nvSpPr>
        <p:spPr>
          <a:xfrm>
            <a:off x="594360" y="914400"/>
            <a:ext cx="10972800" cy="685800"/>
          </a:xfrm>
          <a:prstGeom prst="rect">
            <a:avLst/>
          </a:prstGeom>
          <a:noFill/>
          <a:ln/>
        </p:spPr>
        <p:txBody>
          <a:bodyPr wrap="square" lIns="381" tIns="381" rIns="381" bIns="381" rtlCol="0" anchor="ctr"/>
          <a:lstStyle/>
          <a:p>
            <a:pPr indent="0" marL="0">
              <a:buNone/>
            </a:pPr>
            <a:r>
              <a:rPr lang="en-US" sz="1100" dirty="0">
                <a:solidFill>
                  <a:srgbClr val="0F172A"/>
                </a:solidFill>
                <a:latin typeface="Consolas" pitchFamily="34" charset="0"/>
                <a:ea typeface="Consolas" pitchFamily="34" charset="-122"/>
                <a:cs typeface="Consolas" pitchFamily="34" charset="-120"/>
              </a:rPr>
              <a:t>python m1_mcp/github_agent_client.py "Find popular MCP server implementations"</a:t>
            </a:r>
            <a:endParaRPr lang="en-US" sz="1100" dirty="0"/>
          </a:p>
          <a:p>
            <a:pPr indent="0" marL="0">
              <a:buNone/>
            </a:pPr>
            <a:r>
              <a:rPr lang="en-US" sz="1100" dirty="0">
                <a:solidFill>
                  <a:srgbClr val="0F172A"/>
                </a:solidFill>
                <a:latin typeface="Consolas" pitchFamily="34" charset="0"/>
                <a:ea typeface="Consolas" pitchFamily="34" charset="-122"/>
                <a:cs typeface="Consolas" pitchFamily="34" charset="-120"/>
              </a:rPr>
              <a:t>python m1_mcp/github_agent_client.py --attach repo://modelcontextprotocol/python-sdk/contents/README.md "Summarize what this SDK provides"</a:t>
            </a:r>
            <a:endParaRPr lang="en-US" sz="1100" dirty="0"/>
          </a:p>
        </p:txBody>
      </p:sp>
      <p:sp>
        <p:nvSpPr>
          <p:cNvPr id="6" name="Text 3"/>
          <p:cNvSpPr/>
          <p:nvPr/>
        </p:nvSpPr>
        <p:spPr>
          <a:xfrm>
            <a:off x="502920" y="17373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WHAT HAPPENS</a:t>
            </a:r>
            <a:endParaRPr lang="en-US" sz="1400" dirty="0"/>
          </a:p>
        </p:txBody>
      </p:sp>
      <p:sp>
        <p:nvSpPr>
          <p:cNvPr id="7" name="Text 4"/>
          <p:cNvSpPr/>
          <p:nvPr/>
        </p:nvSpPr>
        <p:spPr>
          <a:xfrm>
            <a:off x="502920" y="2057400"/>
            <a:ext cx="5577840" cy="3931920"/>
          </a:xfrm>
          <a:prstGeom prst="rect">
            <a:avLst/>
          </a:prstGeom>
          <a:noFill/>
          <a:ln/>
        </p:spPr>
        <p:txBody>
          <a:bodyPr wrap="square" lIns="635" tIns="635" rIns="635" bIns="635" rtlCol="0" anchor="t"/>
          <a:lstStyle/>
          <a:p>
            <a:pPr marL="342900" indent="-342900">
              <a:spcAft>
                <a:spcPts val="700"/>
              </a:spcAft>
              <a:buSzPct val="100000"/>
              <a:buChar char="•"/>
            </a:pPr>
            <a:r>
              <a:rPr lang="en-US" sz="1300" b="1" dirty="0">
                <a:solidFill>
                  <a:srgbClr val="FFAB40"/>
                </a:solidFill>
                <a:latin typeface="Fira Sans" pitchFamily="34" charset="0"/>
                <a:ea typeface="Fira Sans" pitchFamily="34" charset="-122"/>
                <a:cs typeface="Fira Sans" pitchFamily="34" charset="-120"/>
              </a:rPr>
              <a:t>Connects to GitHub's hosted MCP server </a:t>
            </a:r>
            <a:r>
              <a:rPr lang="en-US" sz="1300" dirty="0">
                <a:solidFill>
                  <a:srgbClr val="FFFFFF"/>
                </a:solidFill>
                <a:latin typeface="Fira Sans" pitchFamily="34" charset="0"/>
                <a:ea typeface="Fira Sans" pitchFamily="34" charset="-122"/>
                <a:cs typeface="Fira Sans" pitchFamily="34" charset="-120"/>
              </a:rPr>
              <a:t>— https://api.githubcopilot.com/mcp/readonly over Streamable HTTP, with your PAT as a Bearer token (read-only: a class demo can't change anything)</a:t>
            </a:r>
            <a:endParaRPr lang="en-US" sz="1300" dirty="0"/>
          </a:p>
          <a:p>
            <a:pPr marL="342900" indent="-342900">
              <a:spcAft>
                <a:spcPts val="700"/>
              </a:spcAft>
              <a:buSzPct val="100000"/>
              <a:buChar char="•"/>
            </a:pPr>
            <a:r>
              <a:rPr lang="en-US" sz="1300" b="1" dirty="0">
                <a:solidFill>
                  <a:srgbClr val="FFAB40"/>
                </a:solidFill>
                <a:latin typeface="Fira Sans" pitchFamily="34" charset="0"/>
                <a:ea typeface="Fira Sans" pitchFamily="34" charset="-122"/>
                <a:cs typeface="Fira Sans" pitchFamily="34" charset="-120"/>
              </a:rPr>
              <a:t>Discovers all three primitives: </a:t>
            </a:r>
            <a:r>
              <a:rPr lang="en-US" sz="1300" dirty="0">
                <a:solidFill>
                  <a:srgbClr val="FFFFFF"/>
                </a:solidFill>
                <a:latin typeface="Fira Sans" pitchFamily="34" charset="0"/>
                <a:ea typeface="Fira Sans" pitchFamily="34" charset="-122"/>
                <a:cs typeface="Fira Sans" pitchFamily="34" charset="-120"/>
              </a:rPr>
              <a:t>29 tools (model-controlled), 5 repo:// resource templates (host-controlled), 2 prompts (user-controlled)</a:t>
            </a:r>
            <a:endParaRPr lang="en-US" sz="1300" dirty="0"/>
          </a:p>
          <a:p>
            <a:pPr marL="342900" indent="-342900">
              <a:spcAft>
                <a:spcPts val="700"/>
              </a:spcAft>
              <a:buSzPct val="100000"/>
              <a:buChar char="•"/>
            </a:pPr>
            <a:r>
              <a:rPr lang="en-US" sz="1300" b="1" dirty="0">
                <a:solidFill>
                  <a:srgbClr val="FFAB40"/>
                </a:solidFill>
                <a:latin typeface="Fira Sans" pitchFamily="34" charset="0"/>
                <a:ea typeface="Fira Sans" pitchFamily="34" charset="-122"/>
                <a:cs typeface="Fira Sans" pitchFamily="34" charset="-120"/>
              </a:rPr>
              <a:t>With --attach, the host reads a resource </a:t>
            </a:r>
            <a:r>
              <a:rPr lang="en-US" sz="1300" dirty="0">
                <a:solidFill>
                  <a:srgbClr val="FFFFFF"/>
                </a:solidFill>
                <a:latin typeface="Fira Sans" pitchFamily="34" charset="0"/>
                <a:ea typeface="Fira Sans" pitchFamily="34" charset="-122"/>
                <a:cs typeface="Fira Sans" pitchFamily="34" charset="-120"/>
              </a:rPr>
              <a:t>(the README) and puts it in the chat — the model never has to fetch it</a:t>
            </a:r>
            <a:endParaRPr lang="en-US" sz="1300" dirty="0"/>
          </a:p>
          <a:p>
            <a:pPr marL="342900" indent="-342900">
              <a:spcAft>
                <a:spcPts val="700"/>
              </a:spcAft>
              <a:buSzPct val="100000"/>
              <a:buChar char="•"/>
            </a:pPr>
            <a:r>
              <a:rPr lang="en-US" sz="1300" b="1" dirty="0">
                <a:solidFill>
                  <a:srgbClr val="FFAB40"/>
                </a:solidFill>
                <a:latin typeface="Fira Sans" pitchFamily="34" charset="0"/>
                <a:ea typeface="Fira Sans" pitchFamily="34" charset="-122"/>
                <a:cs typeface="Fira Sans" pitchFamily="34" charset="-120"/>
              </a:rPr>
              <a:t>gpt-4o picks tools, the host calls them via MCP, </a:t>
            </a:r>
            <a:r>
              <a:rPr lang="en-US" sz="1300" dirty="0">
                <a:solidFill>
                  <a:srgbClr val="FFFFFF"/>
                </a:solidFill>
                <a:latin typeface="Fira Sans" pitchFamily="34" charset="0"/>
                <a:ea typeface="Fira Sans" pitchFamily="34" charset="-122"/>
                <a:cs typeface="Fira Sans" pitchFamily="34" charset="-120"/>
              </a:rPr>
              <a:t>results go back into the chat until the model answers</a:t>
            </a:r>
            <a:endParaRPr lang="en-US" sz="1300" dirty="0"/>
          </a:p>
        </p:txBody>
      </p:sp>
      <p:sp>
        <p:nvSpPr>
          <p:cNvPr id="8" name="Text 5"/>
          <p:cNvSpPr/>
          <p:nvPr/>
        </p:nvSpPr>
        <p:spPr>
          <a:xfrm>
            <a:off x="6355080" y="17373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THE AGENTIC LOOP</a:t>
            </a:r>
            <a:endParaRPr lang="en-US" sz="1400" dirty="0"/>
          </a:p>
        </p:txBody>
      </p:sp>
      <p:sp>
        <p:nvSpPr>
          <p:cNvPr id="9" name="Shape 6"/>
          <p:cNvSpPr/>
          <p:nvPr/>
        </p:nvSpPr>
        <p:spPr>
          <a:xfrm>
            <a:off x="6355080" y="2057400"/>
            <a:ext cx="5303520" cy="2697480"/>
          </a:xfrm>
          <a:prstGeom prst="rect">
            <a:avLst/>
          </a:prstGeom>
          <a:solidFill>
            <a:srgbClr val="333333"/>
          </a:solidFill>
          <a:ln w="12700">
            <a:solidFill>
              <a:srgbClr val="333333"/>
            </a:solidFill>
            <a:prstDash val="solid"/>
          </a:ln>
        </p:spPr>
      </p:sp>
      <p:sp>
        <p:nvSpPr>
          <p:cNvPr id="10" name="Text 7"/>
          <p:cNvSpPr/>
          <p:nvPr/>
        </p:nvSpPr>
        <p:spPr>
          <a:xfrm>
            <a:off x="6428232" y="2112264"/>
            <a:ext cx="5157216" cy="2587752"/>
          </a:xfrm>
          <a:prstGeom prst="rect">
            <a:avLst/>
          </a:prstGeom>
          <a:noFill/>
          <a:ln/>
        </p:spPr>
        <p:txBody>
          <a:bodyPr wrap="square" lIns="635" tIns="635" rIns="635" bIns="635" rtlCol="0" anchor="t"/>
          <a:lstStyle/>
          <a:p>
            <a:pPr indent="0" marL="0">
              <a:buNone/>
            </a:pPr>
            <a:r>
              <a:rPr lang="en-US" sz="1000" dirty="0">
                <a:solidFill>
                  <a:srgbClr val="FFFFFF"/>
                </a:solidFill>
                <a:latin typeface="Consolas" pitchFamily="34" charset="0"/>
                <a:ea typeface="Consolas" pitchFamily="34" charset="-122"/>
                <a:cs typeface="Consolas" pitchFamily="34" charset="-120"/>
              </a:rPr>
              <a:t>for iteration in range(max_iterations):</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response = await openai.create(messages=messages, tools=openai_tools)</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if response.tool_calls:</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for call in response.tool_calls:</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result = await session.call_tool(call.name, call.args) </a:t>
            </a:r>
            <a:r>
              <a:rPr lang="en-US" sz="1000" dirty="0">
                <a:solidFill>
                  <a:srgbClr val="9CA3AF"/>
                </a:solidFill>
                <a:latin typeface="Consolas" pitchFamily="34" charset="0"/>
                <a:ea typeface="Consolas" pitchFamily="34" charset="-122"/>
                <a:cs typeface="Consolas" pitchFamily="34" charset="-120"/>
              </a:rPr>
              <a:t> # MCP</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messages.append({</a:t>
            </a:r>
            <a:r>
              <a:rPr lang="en-US" sz="1000" dirty="0">
                <a:solidFill>
                  <a:srgbClr val="A2FCA2"/>
                </a:solidFill>
                <a:latin typeface="Consolas" pitchFamily="34" charset="0"/>
                <a:ea typeface="Consolas" pitchFamily="34" charset="-122"/>
                <a:cs typeface="Consolas" pitchFamily="34" charset="-120"/>
              </a:rPr>
              <a:t>"role"</a:t>
            </a:r>
            <a:r>
              <a:rPr lang="en-US" sz="1000" dirty="0">
                <a:solidFill>
                  <a:srgbClr val="FFFFFF"/>
                </a:solidFill>
                <a:latin typeface="Consolas" pitchFamily="34" charset="0"/>
                <a:ea typeface="Consolas" pitchFamily="34" charset="-122"/>
                <a:cs typeface="Consolas" pitchFamily="34" charset="-120"/>
              </a:rPr>
              <a:t>: </a:t>
            </a:r>
            <a:r>
              <a:rPr lang="en-US" sz="1000" dirty="0">
                <a:solidFill>
                  <a:srgbClr val="A2FCA2"/>
                </a:solidFill>
                <a:latin typeface="Consolas" pitchFamily="34" charset="0"/>
                <a:ea typeface="Consolas" pitchFamily="34" charset="-122"/>
                <a:cs typeface="Consolas" pitchFamily="34" charset="-120"/>
              </a:rPr>
              <a:t>"tool"</a:t>
            </a:r>
            <a:r>
              <a:rPr lang="en-US" sz="1000" dirty="0">
                <a:solidFill>
                  <a:srgbClr val="FFFFFF"/>
                </a:solidFill>
                <a:latin typeface="Consolas" pitchFamily="34" charset="0"/>
                <a:ea typeface="Consolas" pitchFamily="34" charset="-122"/>
                <a:cs typeface="Consolas" pitchFamily="34" charset="-120"/>
              </a:rPr>
              <a:t>, </a:t>
            </a:r>
            <a:r>
              <a:rPr lang="en-US" sz="1000" dirty="0">
                <a:solidFill>
                  <a:srgbClr val="A2FCA2"/>
                </a:solidFill>
                <a:latin typeface="Consolas" pitchFamily="34" charset="0"/>
                <a:ea typeface="Consolas" pitchFamily="34" charset="-122"/>
                <a:cs typeface="Consolas" pitchFamily="34" charset="-120"/>
              </a:rPr>
              <a:t>"content"</a:t>
            </a:r>
            <a:r>
              <a:rPr lang="en-US" sz="1000" dirty="0">
                <a:solidFill>
                  <a:srgbClr val="FFFFFF"/>
                </a:solidFill>
                <a:latin typeface="Consolas" pitchFamily="34" charset="0"/>
                <a:ea typeface="Consolas" pitchFamily="34" charset="-122"/>
                <a:cs typeface="Consolas" pitchFamily="34" charset="-120"/>
              </a:rPr>
              <a:t>: result})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else:</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return response.content </a:t>
            </a:r>
            <a:r>
              <a:rPr lang="en-US" sz="1000" dirty="0">
                <a:solidFill>
                  <a:srgbClr val="9CA3AF"/>
                </a:solidFill>
                <a:latin typeface="Consolas" pitchFamily="34" charset="0"/>
                <a:ea typeface="Consolas" pitchFamily="34" charset="-122"/>
                <a:cs typeface="Consolas" pitchFamily="34" charset="-120"/>
              </a:rPr>
              <a:t> # final answer</a:t>
            </a:r>
            <a:endParaRPr lang="en-US" sz="1000" dirty="0"/>
          </a:p>
        </p:txBody>
      </p:sp>
      <p:sp>
        <p:nvSpPr>
          <p:cNvPr id="11" name="Shape 8"/>
          <p:cNvSpPr/>
          <p:nvPr/>
        </p:nvSpPr>
        <p:spPr>
          <a:xfrm>
            <a:off x="6355080" y="4892040"/>
            <a:ext cx="5303520" cy="1005840"/>
          </a:xfrm>
          <a:prstGeom prst="rect">
            <a:avLst/>
          </a:prstGeom>
          <a:solidFill>
            <a:srgbClr val="CCFBF1"/>
          </a:solidFill>
          <a:ln w="12700">
            <a:solidFill>
              <a:srgbClr val="CCFBF1"/>
            </a:solidFill>
            <a:prstDash val="solid"/>
          </a:ln>
        </p:spPr>
      </p:sp>
      <p:sp>
        <p:nvSpPr>
          <p:cNvPr id="12" name="Text 9"/>
          <p:cNvSpPr/>
          <p:nvPr/>
        </p:nvSpPr>
        <p:spPr>
          <a:xfrm>
            <a:off x="6492240" y="4937760"/>
            <a:ext cx="5029200" cy="91440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This is the pattern ADK automates. </a:t>
            </a:r>
            <a:r>
              <a:rPr lang="en-US" sz="1300" dirty="0">
                <a:solidFill>
                  <a:srgbClr val="1E293B"/>
                </a:solidFill>
                <a:latin typeface="Fira Sans" pitchFamily="34" charset="0"/>
                <a:ea typeface="Fira Sans" pitchFamily="34" charset="-122"/>
                <a:cs typeface="Fira Sans" pitchFamily="34" charset="-120"/>
              </a:rPr>
              <a:t>In Module 2, McpToolset + LlmAgent replace this whole loop with one declaration: tools=[McpToolset(...)].</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Custom MCP Servers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Building Your Own MCP Server</a:t>
            </a:r>
            <a:endParaRPr lang="en-US" sz="1400" dirty="0"/>
          </a:p>
        </p:txBody>
      </p:sp>
      <p:sp>
        <p:nvSpPr>
          <p:cNvPr id="5" name="Shape 2"/>
          <p:cNvSpPr/>
          <p:nvPr/>
        </p:nvSpPr>
        <p:spPr>
          <a:xfrm>
            <a:off x="502920" y="1234440"/>
            <a:ext cx="11155680" cy="1874520"/>
          </a:xfrm>
          <a:prstGeom prst="rect">
            <a:avLst/>
          </a:prstGeom>
          <a:solidFill>
            <a:srgbClr val="333333"/>
          </a:solidFill>
          <a:ln w="12700">
            <a:solidFill>
              <a:srgbClr val="333333"/>
            </a:solidFill>
            <a:prstDash val="solid"/>
          </a:ln>
        </p:spPr>
      </p:sp>
      <p:sp>
        <p:nvSpPr>
          <p:cNvPr id="6" name="Text 3"/>
          <p:cNvSpPr/>
          <p:nvPr/>
        </p:nvSpPr>
        <p:spPr>
          <a:xfrm>
            <a:off x="576072" y="1289304"/>
            <a:ext cx="11009376" cy="1764792"/>
          </a:xfrm>
          <a:prstGeom prst="rect">
            <a:avLst/>
          </a:prstGeom>
          <a:noFill/>
          <a:ln/>
        </p:spPr>
        <p:txBody>
          <a:bodyPr wrap="square" lIns="635" tIns="635" rIns="635" bIns="635" rtlCol="0" anchor="t"/>
          <a:lstStyle/>
          <a:p>
            <a:pPr indent="0" marL="0">
              <a:buNone/>
            </a:pPr>
            <a:r>
              <a:rPr lang="en-US" sz="1200" dirty="0">
                <a:solidFill>
                  <a:srgbClr val="9CA3AF"/>
                </a:solidFill>
                <a:latin typeface="Consolas" pitchFamily="34" charset="0"/>
                <a:ea typeface="Consolas" pitchFamily="34" charset="-122"/>
                <a:cs typeface="Consolas" pitchFamily="34" charset="-120"/>
              </a:rPr>
              <a:t># pricing_server.py - a few lines to expose a tool</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from mcp.server.fastmcp import FastMCP</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mcp = FastMCP(</a:t>
            </a:r>
            <a:r>
              <a:rPr lang="en-US" sz="1200" dirty="0">
                <a:solidFill>
                  <a:srgbClr val="A2FCA2"/>
                </a:solidFill>
                <a:latin typeface="Consolas" pitchFamily="34" charset="0"/>
                <a:ea typeface="Consolas" pitchFamily="34" charset="-122"/>
                <a:cs typeface="Consolas" pitchFamily="34" charset="-120"/>
              </a:rPr>
              <a:t>"real-estate-pricing"</a:t>
            </a:r>
            <a:r>
              <a:rPr lang="en-US" sz="1200" dirty="0">
                <a:solidFill>
                  <a:srgbClr val="FFFFFF"/>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@mcp.tool()</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def get_market_price(address: str, property_type: str = </a:t>
            </a:r>
            <a:r>
              <a:rPr lang="en-US" sz="1200" dirty="0">
                <a:solidFill>
                  <a:srgbClr val="A2FCA2"/>
                </a:solidFill>
                <a:latin typeface="Consolas" pitchFamily="34" charset="0"/>
                <a:ea typeface="Consolas" pitchFamily="34" charset="-122"/>
                <a:cs typeface="Consolas" pitchFamily="34" charset="-120"/>
              </a:rPr>
              <a:t>"single_family"</a:t>
            </a:r>
            <a:r>
              <a:rPr lang="en-US" sz="1200" dirty="0">
                <a:solidFill>
                  <a:srgbClr val="FFFFFF"/>
                </a:solidFill>
                <a:latin typeface="Consolas" pitchFamily="34" charset="0"/>
                <a:ea typeface="Consolas" pitchFamily="34" charset="-122"/>
                <a:cs typeface="Consolas" pitchFamily="34" charset="-120"/>
              </a:rPr>
              <a:t>) -&gt; dict: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a:t>
            </a:r>
            <a:r>
              <a:rPr lang="en-US" sz="1200" dirty="0">
                <a:solidFill>
                  <a:srgbClr val="A2FCA2"/>
                </a:solidFill>
                <a:latin typeface="Consolas" pitchFamily="34" charset="0"/>
                <a:ea typeface="Consolas" pitchFamily="34" charset="-122"/>
                <a:cs typeface="Consolas" pitchFamily="34" charset="-120"/>
              </a:rPr>
              <a:t>""</a:t>
            </a:r>
            <a:r>
              <a:rPr lang="en-US" sz="1200" dirty="0">
                <a:solidFill>
                  <a:srgbClr val="A2FCA2"/>
                </a:solidFill>
                <a:latin typeface="Consolas" pitchFamily="34" charset="0"/>
                <a:ea typeface="Consolas" pitchFamily="34" charset="-122"/>
                <a:cs typeface="Consolas" pitchFamily="34" charset="-120"/>
              </a:rPr>
              <a:t>"Get market price analysis for a property."</a:t>
            </a:r>
            <a:r>
              <a:rPr lang="en-US" sz="1200" dirty="0">
                <a:solidFill>
                  <a:srgbClr val="A2FCA2"/>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return {</a:t>
            </a:r>
            <a:r>
              <a:rPr lang="en-US" sz="1200" dirty="0">
                <a:solidFill>
                  <a:srgbClr val="A2FCA2"/>
                </a:solidFill>
                <a:latin typeface="Consolas" pitchFamily="34" charset="0"/>
                <a:ea typeface="Consolas" pitchFamily="34" charset="-122"/>
                <a:cs typeface="Consolas" pitchFamily="34" charset="-120"/>
              </a:rPr>
              <a:t>"estimated_value"</a:t>
            </a:r>
            <a:r>
              <a:rPr lang="en-US" sz="1200" dirty="0">
                <a:solidFill>
                  <a:srgbClr val="FFFFFF"/>
                </a:solidFill>
                <a:latin typeface="Consolas" pitchFamily="34" charset="0"/>
                <a:ea typeface="Consolas" pitchFamily="34" charset="-122"/>
                <a:cs typeface="Consolas" pitchFamily="34" charset="-120"/>
              </a:rPr>
              <a:t>: 462_000, </a:t>
            </a:r>
            <a:r>
              <a:rPr lang="en-US" sz="1200" dirty="0">
                <a:solidFill>
                  <a:srgbClr val="A2FCA2"/>
                </a:solidFill>
                <a:latin typeface="Consolas" pitchFamily="34" charset="0"/>
                <a:ea typeface="Consolas" pitchFamily="34" charset="-122"/>
                <a:cs typeface="Consolas" pitchFamily="34" charset="-120"/>
              </a:rPr>
              <a:t>"comparable_sales"</a:t>
            </a:r>
            <a:r>
              <a:rPr lang="en-US" sz="1200" dirty="0">
                <a:solidFill>
                  <a:srgbClr val="FFFFFF"/>
                </a:solidFill>
                <a:latin typeface="Consolas" pitchFamily="34" charset="0"/>
                <a:ea typeface="Consolas" pitchFamily="34" charset="-122"/>
                <a:cs typeface="Consolas" pitchFamily="34" charset="-120"/>
              </a:rPr>
              <a:t>: [...], ...}</a:t>
            </a:r>
            <a:endParaRPr lang="en-US" sz="1200" dirty="0"/>
          </a:p>
        </p:txBody>
      </p:sp>
      <p:sp>
        <p:nvSpPr>
          <p:cNvPr id="7" name="Text 4"/>
          <p:cNvSpPr/>
          <p:nvPr/>
        </p:nvSpPr>
        <p:spPr>
          <a:xfrm>
            <a:off x="502920" y="324612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WHAT @MCP.TOOL() DOES</a:t>
            </a:r>
            <a:endParaRPr lang="en-US" sz="1400" dirty="0"/>
          </a:p>
        </p:txBody>
      </p:sp>
      <p:sp>
        <p:nvSpPr>
          <p:cNvPr id="8" name="Text 5"/>
          <p:cNvSpPr/>
          <p:nvPr/>
        </p:nvSpPr>
        <p:spPr>
          <a:xfrm>
            <a:off x="502920" y="3566160"/>
            <a:ext cx="5486400" cy="1005840"/>
          </a:xfrm>
          <a:prstGeom prst="rect">
            <a:avLst/>
          </a:prstGeom>
          <a:noFill/>
          <a:ln/>
        </p:spPr>
        <p:txBody>
          <a:bodyPr wrap="square" lIns="635" tIns="635" rIns="635" bIns="635" rtlCol="0" anchor="t"/>
          <a:lstStyle/>
          <a:p>
            <a:pPr lvl="1" marL="685800" indent="-342900">
              <a:spcAft>
                <a:spcPts val="300"/>
              </a:spcAft>
              <a:buSzPct val="100000"/>
              <a:buChar char="•"/>
            </a:pPr>
            <a:r>
              <a:rPr lang="en-US" sz="1400" dirty="0">
                <a:solidFill>
                  <a:srgbClr val="FFFFFF"/>
                </a:solidFill>
                <a:latin typeface="Fira Sans" pitchFamily="34" charset="0"/>
                <a:ea typeface="Fira Sans" pitchFamily="34" charset="-122"/>
                <a:cs typeface="Fira Sans" pitchFamily="34" charset="-120"/>
              </a:rPr>
              <a:t>Reads the function signature → JSON Schema (inputSchema)</a:t>
            </a:r>
            <a:endParaRPr lang="en-US" sz="1400" dirty="0"/>
          </a:p>
          <a:p>
            <a:pPr lvl="1" marL="685800" indent="-342900">
              <a:spcAft>
                <a:spcPts val="300"/>
              </a:spcAft>
              <a:buSzPct val="100000"/>
              <a:buChar char="•"/>
            </a:pPr>
            <a:r>
              <a:rPr lang="en-US" sz="1400" dirty="0">
                <a:solidFill>
                  <a:srgbClr val="FFFFFF"/>
                </a:solidFill>
                <a:latin typeface="Fira Sans" pitchFamily="34" charset="0"/>
                <a:ea typeface="Fira Sans" pitchFamily="34" charset="-122"/>
                <a:cs typeface="Fira Sans" pitchFamily="34" charset="-120"/>
              </a:rPr>
              <a:t>Reads the docstring → tool description</a:t>
            </a:r>
            <a:endParaRPr lang="en-US" sz="1400" dirty="0"/>
          </a:p>
          <a:p>
            <a:pPr lvl="1" marL="685800" indent="-342900">
              <a:spcAft>
                <a:spcPts val="300"/>
              </a:spcAft>
              <a:buSzPct val="100000"/>
              <a:buChar char="•"/>
            </a:pPr>
            <a:r>
              <a:rPr lang="en-US" sz="1400" dirty="0">
                <a:solidFill>
                  <a:srgbClr val="FFFFFF"/>
                </a:solidFill>
                <a:latin typeface="Fira Sans" pitchFamily="34" charset="0"/>
                <a:ea typeface="Fira Sans" pitchFamily="34" charset="-122"/>
                <a:cs typeface="Fira Sans" pitchFamily="34" charset="-120"/>
              </a:rPr>
              <a:t>Registers it as a callable MCP tool</a:t>
            </a:r>
            <a:endParaRPr lang="en-US" sz="1400" dirty="0"/>
          </a:p>
        </p:txBody>
      </p:sp>
      <p:sp>
        <p:nvSpPr>
          <p:cNvPr id="9" name="Shape 6"/>
          <p:cNvSpPr/>
          <p:nvPr/>
        </p:nvSpPr>
        <p:spPr>
          <a:xfrm>
            <a:off x="6126480" y="3337560"/>
            <a:ext cx="5532120" cy="1097280"/>
          </a:xfrm>
          <a:prstGeom prst="rect">
            <a:avLst/>
          </a:prstGeom>
          <a:solidFill>
            <a:srgbClr val="FFFFFF"/>
          </a:solidFill>
          <a:ln w="12700">
            <a:solidFill>
              <a:srgbClr val="FFFFFF"/>
            </a:solidFill>
            <a:prstDash val="solid"/>
          </a:ln>
        </p:spPr>
      </p:sp>
      <p:sp>
        <p:nvSpPr>
          <p:cNvPr id="10" name="Text 7"/>
          <p:cNvSpPr/>
          <p:nvPr/>
        </p:nvSpPr>
        <p:spPr>
          <a:xfrm>
            <a:off x="6263640" y="3383280"/>
            <a:ext cx="5257800" cy="100584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"Group tools around intent, not endpoints." </a:t>
            </a:r>
            <a:r>
              <a:rPr lang="en-US" sz="1300" dirty="0">
                <a:solidFill>
                  <a:srgbClr val="1E293B"/>
                </a:solidFill>
                <a:latin typeface="Fira Sans" pitchFamily="34" charset="0"/>
                <a:ea typeface="Fira Sans" pitchFamily="34" charset="-122"/>
                <a:cs typeface="Fira Sans" pitchFamily="34" charset="-120"/>
              </a:rPr>
              <a:t>A single get_market_price beats get_comps + get_sqft + get_days_on_market — Anthropic</a:t>
            </a:r>
            <a:endParaRPr lang="en-US" sz="13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02920" y="4754880"/>
          <a:ext cx="11155680" cy="914400"/>
        </p:xfrm>
        <a:graphic>
          <a:graphicData uri="http://schemas.openxmlformats.org/drawingml/2006/table">
            <a:tbl>
              <a:tblPr/>
              <a:tblGrid>
                <a:gridCol w="2743200"/>
                <a:gridCol w="5120640"/>
                <a:gridCol w="329184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Server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Tools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Who uses it (Module 2)</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Consolas" pitchFamily="34" charset="0"/>
                          <a:ea typeface="Consolas" pitchFamily="34" charset="-122"/>
                          <a:cs typeface="Consolas" pitchFamily="34" charset="-120"/>
                        </a:rPr>
                        <a:t>pricing_server.py</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get_market_price, calculate_discount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Both buyer and seller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Consolas" pitchFamily="34" charset="0"/>
                          <a:ea typeface="Consolas" pitchFamily="34" charset="-122"/>
                          <a:cs typeface="Consolas" pitchFamily="34" charset="-120"/>
                        </a:rPr>
                        <a:t>inventory_server.py</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get_inventory_level, get_minimum_acceptable_price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Seller only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Information Asymmetry via MCP: </a:t>
            </a:r>
            <a:r>
              <a:rPr lang="en-US" sz="3000" b="1" dirty="0">
                <a:solidFill>
                  <a:srgbClr val="FFFFFF"/>
                </a:solidFill>
                <a:latin typeface="Fira Sans" pitchFamily="34" charset="0"/>
                <a:ea typeface="Fira Sans" pitchFamily="34" charset="-122"/>
                <a:cs typeface="Fira Sans" pitchFamily="34" charset="-120"/>
              </a:rPr>
              <a:t>Different Agents, Different Tools</a:t>
            </a:r>
            <a:endParaRPr lang="en-US" sz="3000" dirty="0"/>
          </a:p>
        </p:txBody>
      </p:sp>
      <p:pic>
        <p:nvPicPr>
          <p:cNvPr id="4" name="Image 1" descr="C:\Users\jeesingh\.copilot\session-state\b8ab4bc6-faf5-4ebd-bea2-f997a4b9a7ea\files\deck\img\x299.png">    </p:cNvPr>
          <p:cNvPicPr>
            <a:picLocks noChangeAspect="1"/>
          </p:cNvPicPr>
          <p:nvPr/>
        </p:nvPicPr>
        <p:blipFill>
          <a:blip r:embed="rId2"/>
          <a:stretch>
            <a:fillRect/>
          </a:stretch>
        </p:blipFill>
        <p:spPr>
          <a:xfrm>
            <a:off x="5157470" y="751840"/>
            <a:ext cx="6192520" cy="4960620"/>
          </a:xfrm>
          <a:prstGeom prst="rect">
            <a:avLst/>
          </a:prstGeom>
        </p:spPr>
      </p:pic>
      <p:sp>
        <p:nvSpPr>
          <p:cNvPr id="5" name="Shape 1"/>
          <p:cNvSpPr/>
          <p:nvPr/>
        </p:nvSpPr>
        <p:spPr>
          <a:xfrm>
            <a:off x="502920" y="2011680"/>
            <a:ext cx="4297680" cy="1097280"/>
          </a:xfrm>
          <a:prstGeom prst="rect">
            <a:avLst/>
          </a:prstGeom>
          <a:solidFill>
            <a:srgbClr val="CCFBF1"/>
          </a:solidFill>
          <a:ln w="12700">
            <a:solidFill>
              <a:srgbClr val="CCFBF1"/>
            </a:solidFill>
            <a:prstDash val="solid"/>
          </a:ln>
        </p:spPr>
      </p:sp>
      <p:sp>
        <p:nvSpPr>
          <p:cNvPr id="6" name="Text 2"/>
          <p:cNvSpPr/>
          <p:nvPr/>
        </p:nvSpPr>
        <p:spPr>
          <a:xfrm>
            <a:off x="640080" y="2057400"/>
            <a:ext cx="4023360" cy="1005840"/>
          </a:xfrm>
          <a:prstGeom prst="rect">
            <a:avLst/>
          </a:prstGeom>
          <a:noFill/>
          <a:ln/>
        </p:spPr>
        <p:txBody>
          <a:bodyPr wrap="square" lIns="254" tIns="254" rIns="254" bIns="254" rtlCol="0" anchor="ctr"/>
          <a:lstStyle/>
          <a:p>
            <a:pPr indent="0" marL="0">
              <a:buNone/>
            </a:pPr>
            <a:r>
              <a:rPr lang="en-US" sz="1500" b="1" dirty="0">
                <a:solidFill>
                  <a:srgbClr val="0F766E"/>
                </a:solidFill>
                <a:latin typeface="Fira Sans" pitchFamily="34" charset="0"/>
                <a:ea typeface="Fira Sans" pitchFamily="34" charset="-122"/>
                <a:cs typeface="Fira Sans" pitchFamily="34" charset="-120"/>
              </a:rPr>
              <a:t>The floor price ($445K) lives in the server, not the code.</a:t>
            </a:r>
            <a:endParaRPr lang="en-US" sz="1500" dirty="0"/>
          </a:p>
        </p:txBody>
      </p:sp>
      <p:sp>
        <p:nvSpPr>
          <p:cNvPr id="7" name="Text 3"/>
          <p:cNvSpPr/>
          <p:nvPr/>
        </p:nvSpPr>
        <p:spPr>
          <a:xfrm>
            <a:off x="502920" y="5760720"/>
            <a:ext cx="8961120" cy="384048"/>
          </a:xfrm>
          <a:prstGeom prst="rect">
            <a:avLst/>
          </a:prstGeom>
          <a:noFill/>
          <a:ln/>
        </p:spPr>
        <p:txBody>
          <a:bodyPr wrap="square" lIns="635" tIns="635" rIns="635" bIns="635" rtlCol="0" anchor="t"/>
          <a:lstStyle/>
          <a:p>
            <a:pPr lvl="1" marL="685800" indent="-342900">
              <a:spcAft>
                <a:spcPts val="600"/>
              </a:spcAft>
              <a:buSzPct val="100000"/>
              <a:buChar char="•"/>
            </a:pPr>
            <a:r>
              <a:rPr lang="en-US" sz="1300" dirty="0">
                <a:solidFill>
                  <a:srgbClr val="FFFFFF"/>
                </a:solidFill>
                <a:latin typeface="Fira Sans" pitchFamily="34" charset="0"/>
                <a:ea typeface="Fira Sans" pitchFamily="34" charset="-122"/>
                <a:cs typeface="Fira Sans" pitchFamily="34" charset="-120"/>
              </a:rPr>
              <a:t>get_minimum_acceptable_price() comes from MCP at runtime — only the seller gets it (enforced in Module 2)</a:t>
            </a:r>
            <a:endParaRPr lang="en-US" sz="1300" dirty="0"/>
          </a:p>
        </p:txBody>
      </p:sp>
      <p:sp>
        <p:nvSpPr>
          <p:cNvPr id="8" name="Text 4"/>
          <p:cNvSpPr/>
          <p:nvPr/>
        </p:nvSpPr>
        <p:spPr>
          <a:xfrm>
            <a:off x="502920" y="6217920"/>
            <a:ext cx="8961120" cy="365760"/>
          </a:xfrm>
          <a:prstGeom prst="rect">
            <a:avLst/>
          </a:prstGeom>
          <a:noFill/>
          <a:ln/>
        </p:spPr>
        <p:txBody>
          <a:bodyPr wrap="square" lIns="635" tIns="635" rIns="635" bIns="635" rtlCol="0" anchor="t"/>
          <a:lstStyle/>
          <a:p>
            <a:pPr algn="l" indent="0" marL="0">
              <a:buNone/>
            </a:pPr>
            <a:r>
              <a:rPr lang="en-US" sz="1200" i="1" dirty="0">
                <a:solidFill>
                  <a:srgbClr val="FFAB40"/>
                </a:solidFill>
                <a:latin typeface="Fira Sans" pitchFamily="34" charset="0"/>
                <a:ea typeface="Fira Sans" pitchFamily="34" charset="-122"/>
                <a:cs typeface="Fira Sans" pitchFamily="34" charset="-120"/>
              </a:rPr>
              <a:t>Real production systems work this way: same protocol, different tool access per agent.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SSE MCP Agent (Live Demo): </a:t>
            </a:r>
            <a:r>
              <a:rPr lang="en-US" sz="3000" b="1" dirty="0">
                <a:solidFill>
                  <a:srgbClr val="FFFFFF"/>
                </a:solidFill>
                <a:latin typeface="Fira Sans" pitchFamily="34" charset="0"/>
                <a:ea typeface="Fira Sans" pitchFamily="34" charset="-122"/>
                <a:cs typeface="Fira Sans" pitchFamily="34" charset="-120"/>
              </a:rPr>
              <a:t>Same Loop, HTTP Transport</a:t>
            </a:r>
            <a:endParaRPr lang="en-US" sz="3000" dirty="0"/>
          </a:p>
        </p:txBody>
      </p:sp>
      <p:sp>
        <p:nvSpPr>
          <p:cNvPr id="4" name="Shape 1"/>
          <p:cNvSpPr/>
          <p:nvPr/>
        </p:nvSpPr>
        <p:spPr>
          <a:xfrm>
            <a:off x="502920" y="960120"/>
            <a:ext cx="11155680" cy="1737360"/>
          </a:xfrm>
          <a:prstGeom prst="rect">
            <a:avLst/>
          </a:prstGeom>
          <a:solidFill>
            <a:srgbClr val="333333"/>
          </a:solidFill>
          <a:ln w="12700">
            <a:solidFill>
              <a:srgbClr val="333333"/>
            </a:solidFill>
            <a:prstDash val="solid"/>
          </a:ln>
        </p:spPr>
      </p:sp>
      <p:sp>
        <p:nvSpPr>
          <p:cNvPr id="5" name="Text 2"/>
          <p:cNvSpPr/>
          <p:nvPr/>
        </p:nvSpPr>
        <p:spPr>
          <a:xfrm>
            <a:off x="576072" y="1014984"/>
            <a:ext cx="11009376" cy="1627632"/>
          </a:xfrm>
          <a:prstGeom prst="rect">
            <a:avLst/>
          </a:prstGeom>
          <a:noFill/>
          <a:ln/>
        </p:spPr>
        <p:txBody>
          <a:bodyPr wrap="square" lIns="635" tIns="635" rIns="635" bIns="635" rtlCol="0" anchor="t"/>
          <a:lstStyle/>
          <a:p>
            <a:pPr indent="0" marL="0">
              <a:buNone/>
            </a:pPr>
            <a:r>
              <a:rPr lang="en-US" sz="1100" dirty="0">
                <a:solidFill>
                  <a:srgbClr val="9CA3AF"/>
                </a:solidFill>
                <a:latin typeface="Consolas" pitchFamily="34" charset="0"/>
                <a:ea typeface="Consolas" pitchFamily="34" charset="-122"/>
                <a:cs typeface="Consolas" pitchFamily="34" charset="-120"/>
              </a:rPr>
              <a:t># Terminal 1: start MCP servers in SSE mode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m1_mcp/pricing_server.py --sse --port 8001</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m1_mcp/inventory_server.py --sse --port 8002</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Terminal 2: run the agent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m1_mcp/sse_agent_client.py </a:t>
            </a:r>
            <a:r>
              <a:rPr lang="en-US" sz="1100" dirty="0">
                <a:solidFill>
                  <a:srgbClr val="A2FCA2"/>
                </a:solidFill>
                <a:latin typeface="Consolas" pitchFamily="34" charset="0"/>
                <a:ea typeface="Consolas" pitchFamily="34" charset="-122"/>
                <a:cs typeface="Consolas" pitchFamily="34" charset="-120"/>
              </a:rPr>
              <a:t>"What is 742 Evergreen Terrace worth?"</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With both servers: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m1_mcp/sse_agent_client.py --both </a:t>
            </a:r>
            <a:r>
              <a:rPr lang="en-US" sz="1100" dirty="0">
                <a:solidFill>
                  <a:srgbClr val="A2FCA2"/>
                </a:solidFill>
                <a:latin typeface="Consolas" pitchFamily="34" charset="0"/>
                <a:ea typeface="Consolas" pitchFamily="34" charset="-122"/>
                <a:cs typeface="Consolas" pitchFamily="34" charset="-120"/>
              </a:rPr>
              <a:t>"What's the seller's minimum price?"</a:t>
            </a:r>
            <a:endParaRPr lang="en-US" sz="11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02920" y="2834640"/>
          <a:ext cx="11155680" cy="914400"/>
        </p:xfrm>
        <a:graphic>
          <a:graphicData uri="http://schemas.openxmlformats.org/drawingml/2006/table">
            <a:tbl>
              <a:tblPr/>
              <a:tblGrid>
                <a:gridCol w="2011680"/>
                <a:gridCol w="4846320"/>
                <a:gridCol w="4297680"/>
              </a:tblGrid>
              <a:tr h="0">
                <a:tc>
                  <a:txBody>
                    <a:bodyPr/>
                    <a:lstStyle/>
                    <a:p>
                      <a:pPr indent="0" marL="0">
                        <a:buNone/>
                      </a:pP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github_agent_client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sse_agent_client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Transport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Streamable HTTP (hosted server)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SSE (HTTP)</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Server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GitHub's official MCP server (api.githubcopilot.com)</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pricing_server.py + inventory_server.py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Multi-server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Yes (--both merges 4 tools from 2 servers)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Model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gpt-4o</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gpt-4o-mini</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Tool loop</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Identical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Identical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hape 3"/>
          <p:cNvSpPr/>
          <p:nvPr/>
        </p:nvSpPr>
        <p:spPr>
          <a:xfrm>
            <a:off x="502920" y="5257800"/>
            <a:ext cx="11155680" cy="777240"/>
          </a:xfrm>
          <a:prstGeom prst="rect">
            <a:avLst/>
          </a:prstGeom>
          <a:solidFill>
            <a:srgbClr val="CCFBF1"/>
          </a:solidFill>
          <a:ln w="12700">
            <a:solidFill>
              <a:srgbClr val="CCFBF1"/>
            </a:solidFill>
            <a:prstDash val="solid"/>
          </a:ln>
        </p:spPr>
      </p:sp>
      <p:sp>
        <p:nvSpPr>
          <p:cNvPr id="8" name="Text 4"/>
          <p:cNvSpPr/>
          <p:nvPr/>
        </p:nvSpPr>
        <p:spPr>
          <a:xfrm>
            <a:off x="640080" y="5303520"/>
            <a:ext cx="10881360" cy="68580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The agent loop is identical. Only the connection setup changes. </a:t>
            </a:r>
            <a:r>
              <a:rPr lang="en-US" sz="1300" dirty="0">
                <a:solidFill>
                  <a:srgbClr val="1E293B"/>
                </a:solidFill>
                <a:latin typeface="Fira Sans" pitchFamily="34" charset="0"/>
                <a:ea typeface="Fira Sans" pitchFamily="34" charset="-122"/>
                <a:cs typeface="Fira Sans" pitchFamily="34" charset="-120"/>
              </a:rPr>
              <a:t>--both reveals information asymmetry: with both servers the agent can see the seller's $445K floor. In Module 2 the buyer's allowlist blocks that tool.</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2600" b="1" dirty="0">
                <a:solidFill>
                  <a:srgbClr val="3896D2"/>
                </a:solidFill>
                <a:latin typeface="Fira Sans" pitchFamily="34" charset="0"/>
                <a:ea typeface="Fira Sans" pitchFamily="34" charset="-122"/>
                <a:cs typeface="Fira Sans" pitchFamily="34" charset="-120"/>
              </a:rPr>
              <a:t>SSE vs stdio vs Streamable HTTP: </a:t>
            </a:r>
            <a:r>
              <a:rPr lang="en-US" sz="2600" b="1" dirty="0">
                <a:solidFill>
                  <a:srgbClr val="FFFFFF"/>
                </a:solidFill>
                <a:latin typeface="Fira Sans" pitchFamily="34" charset="0"/>
                <a:ea typeface="Fira Sans" pitchFamily="34" charset="-122"/>
                <a:cs typeface="Fira Sans" pitchFamily="34" charset="-120"/>
              </a:rPr>
              <a:t>Three Transports Side by Side</a:t>
            </a:r>
            <a:endParaRPr lang="en-US" sz="2600" dirty="0"/>
          </a:p>
        </p:txBody>
      </p:sp>
      <p:sp>
        <p:nvSpPr>
          <p:cNvPr id="4" name="Text 1"/>
          <p:cNvSpPr/>
          <p:nvPr/>
        </p:nvSpPr>
        <p:spPr>
          <a:xfrm>
            <a:off x="502920" y="896112"/>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STDIO (DEMOS 01–04)</a:t>
            </a:r>
            <a:endParaRPr lang="en-US" sz="1400" dirty="0"/>
          </a:p>
        </p:txBody>
      </p:sp>
      <p:sp>
        <p:nvSpPr>
          <p:cNvPr id="5" name="Shape 2"/>
          <p:cNvSpPr/>
          <p:nvPr/>
        </p:nvSpPr>
        <p:spPr>
          <a:xfrm>
            <a:off x="502920" y="1216152"/>
            <a:ext cx="11155680" cy="868680"/>
          </a:xfrm>
          <a:prstGeom prst="rect">
            <a:avLst/>
          </a:prstGeom>
          <a:solidFill>
            <a:srgbClr val="333333"/>
          </a:solidFill>
          <a:ln w="12700">
            <a:solidFill>
              <a:srgbClr val="333333"/>
            </a:solidFill>
            <a:prstDash val="solid"/>
          </a:ln>
        </p:spPr>
      </p:sp>
      <p:sp>
        <p:nvSpPr>
          <p:cNvPr id="6" name="Text 3"/>
          <p:cNvSpPr/>
          <p:nvPr/>
        </p:nvSpPr>
        <p:spPr>
          <a:xfrm>
            <a:off x="576072" y="1271016"/>
            <a:ext cx="11009376" cy="75895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server_params = StdioServerParameters(command=</a:t>
            </a:r>
            <a:r>
              <a:rPr lang="en-US" sz="1100" dirty="0">
                <a:solidFill>
                  <a:srgbClr val="A2FCA2"/>
                </a:solidFill>
                <a:latin typeface="Consolas" pitchFamily="34" charset="0"/>
                <a:ea typeface="Consolas" pitchFamily="34" charset="-122"/>
                <a:cs typeface="Consolas" pitchFamily="34" charset="-120"/>
              </a:rPr>
              <a:t>"python"</a:t>
            </a:r>
            <a:r>
              <a:rPr lang="en-US" sz="1100" dirty="0">
                <a:solidFill>
                  <a:srgbClr val="FFFFFF"/>
                </a:solidFill>
                <a:latin typeface="Consolas" pitchFamily="34" charset="0"/>
                <a:ea typeface="Consolas" pitchFamily="34" charset="-122"/>
                <a:cs typeface="Consolas" pitchFamily="34" charset="-120"/>
              </a:rPr>
              <a:t>, args=[</a:t>
            </a:r>
            <a:r>
              <a:rPr lang="en-US" sz="1100" dirty="0">
                <a:solidFill>
                  <a:srgbClr val="A2FCA2"/>
                </a:solidFill>
                <a:latin typeface="Consolas" pitchFamily="34" charset="0"/>
                <a:ea typeface="Consolas" pitchFamily="34" charset="-122"/>
                <a:cs typeface="Consolas" pitchFamily="34" charset="-120"/>
              </a:rPr>
              <a:t>"pricing_server.py"</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async with stdio_client(server_params) as (read, write):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9CA3AF"/>
                </a:solidFill>
                <a:latin typeface="Consolas" pitchFamily="34" charset="0"/>
                <a:ea typeface="Consolas" pitchFamily="34" charset="-122"/>
                <a:cs typeface="Consolas" pitchFamily="34" charset="-120"/>
              </a:rPr>
              <a:t> # server is a subprocess - dies when you disconnect</a:t>
            </a:r>
            <a:endParaRPr lang="en-US" sz="1100" dirty="0"/>
          </a:p>
        </p:txBody>
      </p:sp>
      <p:sp>
        <p:nvSpPr>
          <p:cNvPr id="7" name="Text 4"/>
          <p:cNvSpPr/>
          <p:nvPr/>
        </p:nvSpPr>
        <p:spPr>
          <a:xfrm>
            <a:off x="502920" y="224028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SSE (sse_agent_client.py)</a:t>
            </a:r>
            <a:endParaRPr lang="en-US" sz="1400" dirty="0"/>
          </a:p>
        </p:txBody>
      </p:sp>
      <p:sp>
        <p:nvSpPr>
          <p:cNvPr id="8" name="Shape 5"/>
          <p:cNvSpPr/>
          <p:nvPr/>
        </p:nvSpPr>
        <p:spPr>
          <a:xfrm>
            <a:off x="502920" y="2560320"/>
            <a:ext cx="11155680" cy="1051560"/>
          </a:xfrm>
          <a:prstGeom prst="rect">
            <a:avLst/>
          </a:prstGeom>
          <a:solidFill>
            <a:srgbClr val="333333"/>
          </a:solidFill>
          <a:ln w="12700">
            <a:solidFill>
              <a:srgbClr val="333333"/>
            </a:solidFill>
            <a:prstDash val="solid"/>
          </a:ln>
        </p:spPr>
      </p:sp>
      <p:sp>
        <p:nvSpPr>
          <p:cNvPr id="9" name="Text 6"/>
          <p:cNvSpPr/>
          <p:nvPr/>
        </p:nvSpPr>
        <p:spPr>
          <a:xfrm>
            <a:off x="576072" y="2615184"/>
            <a:ext cx="11009376" cy="941832"/>
          </a:xfrm>
          <a:prstGeom prst="rect">
            <a:avLst/>
          </a:prstGeom>
          <a:noFill/>
          <a:ln/>
        </p:spPr>
        <p:txBody>
          <a:bodyPr wrap="square" lIns="635" tIns="635" rIns="635" bIns="635" rtlCol="0" anchor="t"/>
          <a:lstStyle/>
          <a:p>
            <a:pPr indent="0" marL="0">
              <a:buNone/>
            </a:pPr>
            <a:r>
              <a:rPr lang="en-US" sz="1100" dirty="0">
                <a:solidFill>
                  <a:srgbClr val="9CA3AF"/>
                </a:solidFill>
                <a:latin typeface="Consolas" pitchFamily="34" charset="0"/>
                <a:ea typeface="Consolas" pitchFamily="34" charset="-122"/>
                <a:cs typeface="Consolas" pitchFamily="34" charset="-120"/>
              </a:rPr>
              <a:t># Terminal 1: start server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m1_mcp/pricing_server.py --sse --port 8001</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Terminal 2: connect agent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m1_mcp/sse_agent_client.py </a:t>
            </a:r>
            <a:r>
              <a:rPr lang="en-US" sz="1100" dirty="0">
                <a:solidFill>
                  <a:srgbClr val="A2FCA2"/>
                </a:solidFill>
                <a:latin typeface="Consolas" pitchFamily="34" charset="0"/>
                <a:ea typeface="Consolas" pitchFamily="34" charset="-122"/>
                <a:cs typeface="Consolas" pitchFamily="34" charset="-120"/>
              </a:rPr>
              <a:t>"What is 742 Evergreen Terrace worth?"</a:t>
            </a:r>
            <a:endParaRPr lang="en-US" sz="1100" dirty="0"/>
          </a:p>
        </p:txBody>
      </p:sp>
      <p:sp>
        <p:nvSpPr>
          <p:cNvPr id="10" name="Text 7"/>
          <p:cNvSpPr/>
          <p:nvPr/>
        </p:nvSpPr>
        <p:spPr>
          <a:xfrm>
            <a:off x="502920" y="376732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STREAMABLE HTTP (DEMO 05)</a:t>
            </a:r>
            <a:endParaRPr lang="en-US" sz="1400" dirty="0"/>
          </a:p>
        </p:txBody>
      </p:sp>
      <p:sp>
        <p:nvSpPr>
          <p:cNvPr id="11" name="Shape 8"/>
          <p:cNvSpPr/>
          <p:nvPr/>
        </p:nvSpPr>
        <p:spPr>
          <a:xfrm>
            <a:off x="502920" y="4087368"/>
            <a:ext cx="11155680" cy="1051560"/>
          </a:xfrm>
          <a:prstGeom prst="rect">
            <a:avLst/>
          </a:prstGeom>
          <a:solidFill>
            <a:srgbClr val="333333"/>
          </a:solidFill>
          <a:ln w="12700">
            <a:solidFill>
              <a:srgbClr val="333333"/>
            </a:solidFill>
            <a:prstDash val="solid"/>
          </a:ln>
        </p:spPr>
      </p:sp>
      <p:sp>
        <p:nvSpPr>
          <p:cNvPr id="12" name="Text 9"/>
          <p:cNvSpPr/>
          <p:nvPr/>
        </p:nvSpPr>
        <p:spPr>
          <a:xfrm>
            <a:off x="576072" y="4142232"/>
            <a:ext cx="11009376" cy="941832"/>
          </a:xfrm>
          <a:prstGeom prst="rect">
            <a:avLst/>
          </a:prstGeom>
          <a:noFill/>
          <a:ln/>
        </p:spPr>
        <p:txBody>
          <a:bodyPr wrap="square" lIns="635" tIns="635" rIns="635" bIns="635" rtlCol="0" anchor="t"/>
          <a:lstStyle/>
          <a:p>
            <a:pPr indent="0" marL="0">
              <a:buNone/>
            </a:pPr>
            <a:r>
              <a:rPr lang="en-US" sz="1100" dirty="0">
                <a:solidFill>
                  <a:srgbClr val="9CA3AF"/>
                </a:solidFill>
                <a:latin typeface="Consolas" pitchFamily="34" charset="0"/>
                <a:ea typeface="Consolas" pitchFamily="34" charset="-122"/>
                <a:cs typeface="Consolas" pitchFamily="34" charset="-120"/>
              </a:rPr>
              <a:t># Terminal 1: server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m1_mcp/demos/05_streamable_http_transport.py --serve --port 8765</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Terminal 2: client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m1_mcp/demos/05_streamable_http_transport.py --client --port 8765</a:t>
            </a:r>
            <a:endParaRPr lang="en-US" sz="1100" dirty="0"/>
          </a:p>
        </p:txBody>
      </p:sp>
      <p:sp>
        <p:nvSpPr>
          <p:cNvPr id="13" name="Shape 10"/>
          <p:cNvSpPr/>
          <p:nvPr/>
        </p:nvSpPr>
        <p:spPr>
          <a:xfrm>
            <a:off x="502920" y="5349240"/>
            <a:ext cx="11155680" cy="502920"/>
          </a:xfrm>
          <a:prstGeom prst="rect">
            <a:avLst/>
          </a:prstGeom>
          <a:solidFill>
            <a:srgbClr val="CCFBF1"/>
          </a:solidFill>
          <a:ln w="12700">
            <a:solidFill>
              <a:srgbClr val="CCFBF1"/>
            </a:solidFill>
            <a:prstDash val="solid"/>
          </a:ln>
        </p:spPr>
      </p:sp>
      <p:sp>
        <p:nvSpPr>
          <p:cNvPr id="14" name="Text 11"/>
          <p:cNvSpPr/>
          <p:nvPr/>
        </p:nvSpPr>
        <p:spPr>
          <a:xfrm>
            <a:off x="640080" y="5394960"/>
            <a:ext cx="10881360" cy="411480"/>
          </a:xfrm>
          <a:prstGeom prst="rect">
            <a:avLst/>
          </a:prstGeom>
          <a:noFill/>
          <a:ln/>
        </p:spPr>
        <p:txBody>
          <a:bodyPr wrap="square" lIns="254" tIns="254" rIns="254" bIns="254" rtlCol="0" anchor="ctr"/>
          <a:lstStyle/>
          <a:p>
            <a:pPr indent="0" marL="0">
              <a:buNone/>
            </a:pPr>
            <a:r>
              <a:rPr lang="en-US" sz="1300" dirty="0">
                <a:solidFill>
                  <a:srgbClr val="1E293B"/>
                </a:solidFill>
                <a:latin typeface="Fira Sans" pitchFamily="34" charset="0"/>
                <a:ea typeface="Fira Sans" pitchFamily="34" charset="-122"/>
                <a:cs typeface="Fira Sans" pitchFamily="34" charset="-120"/>
              </a:rPr>
              <a:t>The agent code is identical — only the connection setup changes. list_tools() and call_tool() work the same way regardless of transport.</a:t>
            </a:r>
            <a:endParaRPr lang="en-US" sz="13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05: </a:t>
            </a:r>
            <a:r>
              <a:rPr lang="en-US" sz="3000" b="1" dirty="0">
                <a:solidFill>
                  <a:srgbClr val="FFFFFF"/>
                </a:solidFill>
                <a:latin typeface="Fira Sans" pitchFamily="34" charset="0"/>
                <a:ea typeface="Fira Sans" pitchFamily="34" charset="-122"/>
                <a:cs typeface="Fira Sans" pitchFamily="34" charset="-120"/>
              </a:rPr>
              <a:t>Streamable HTTP 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HTTP Transport in Action</a:t>
            </a:r>
            <a:endParaRPr lang="en-US" sz="1400" dirty="0"/>
          </a:p>
        </p:txBody>
      </p:sp>
      <p:sp>
        <p:nvSpPr>
          <p:cNvPr id="5" name="Shape 2"/>
          <p:cNvSpPr/>
          <p:nvPr/>
        </p:nvSpPr>
        <p:spPr>
          <a:xfrm>
            <a:off x="502920" y="1234440"/>
            <a:ext cx="11155680" cy="1005840"/>
          </a:xfrm>
          <a:prstGeom prst="rect">
            <a:avLst/>
          </a:prstGeom>
          <a:solidFill>
            <a:srgbClr val="333333"/>
          </a:solidFill>
          <a:ln w="12700">
            <a:solidFill>
              <a:srgbClr val="333333"/>
            </a:solidFill>
            <a:prstDash val="solid"/>
          </a:ln>
        </p:spPr>
      </p:sp>
      <p:sp>
        <p:nvSpPr>
          <p:cNvPr id="6" name="Text 3"/>
          <p:cNvSpPr/>
          <p:nvPr/>
        </p:nvSpPr>
        <p:spPr>
          <a:xfrm>
            <a:off x="576072" y="1289304"/>
            <a:ext cx="11009376" cy="896112"/>
          </a:xfrm>
          <a:prstGeom prst="rect">
            <a:avLst/>
          </a:prstGeom>
          <a:noFill/>
          <a:ln/>
        </p:spPr>
        <p:txBody>
          <a:bodyPr wrap="square" lIns="635" tIns="635" rIns="635" bIns="635" rtlCol="0" anchor="t"/>
          <a:lstStyle/>
          <a:p>
            <a:pPr indent="0" marL="0">
              <a:buNone/>
            </a:pPr>
            <a:r>
              <a:rPr lang="en-US" sz="1100" dirty="0">
                <a:solidFill>
                  <a:srgbClr val="9CA3AF"/>
                </a:solidFill>
                <a:latin typeface="Consolas" pitchFamily="34" charset="0"/>
                <a:ea typeface="Consolas" pitchFamily="34" charset="-122"/>
                <a:cs typeface="Consolas" pitchFamily="34" charset="-120"/>
              </a:rPr>
              <a:t># Terminal 1:</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m1_mcp/demos/05_streamable_http_transport.py --serve --port 8765</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Terminal 2:</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m1_mcp/demos/05_streamable_http_transport.py --client --port 8765</a:t>
            </a:r>
            <a:endParaRPr lang="en-US" sz="1100" dirty="0"/>
          </a:p>
        </p:txBody>
      </p:sp>
      <p:sp>
        <p:nvSpPr>
          <p:cNvPr id="7" name="Text 4"/>
          <p:cNvSpPr/>
          <p:nvPr/>
        </p:nvSpPr>
        <p:spPr>
          <a:xfrm>
            <a:off x="502920" y="237744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CLIENT OUTPUT</a:t>
            </a:r>
            <a:endParaRPr lang="en-US" sz="1400" dirty="0"/>
          </a:p>
        </p:txBody>
      </p:sp>
      <p:sp>
        <p:nvSpPr>
          <p:cNvPr id="8" name="Shape 5"/>
          <p:cNvSpPr/>
          <p:nvPr/>
        </p:nvSpPr>
        <p:spPr>
          <a:xfrm>
            <a:off x="502920" y="2697480"/>
            <a:ext cx="11155680" cy="777240"/>
          </a:xfrm>
          <a:prstGeom prst="rect">
            <a:avLst/>
          </a:prstGeom>
          <a:solidFill>
            <a:srgbClr val="333333"/>
          </a:solidFill>
          <a:ln w="12700">
            <a:solidFill>
              <a:srgbClr val="333333"/>
            </a:solidFill>
            <a:prstDash val="solid"/>
          </a:ln>
        </p:spPr>
      </p:sp>
      <p:sp>
        <p:nvSpPr>
          <p:cNvPr id="9" name="Text 6"/>
          <p:cNvSpPr/>
          <p:nvPr/>
        </p:nvSpPr>
        <p:spPr>
          <a:xfrm>
            <a:off x="576072" y="2752344"/>
            <a:ext cx="11009376" cy="66751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Connecting client to http://127.0.0.1:8765/mcp</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discovered tools: [</a:t>
            </a:r>
            <a:r>
              <a:rPr lang="en-US" sz="1100" dirty="0">
                <a:solidFill>
                  <a:srgbClr val="A2FCA2"/>
                </a:solidFill>
                <a:latin typeface="Consolas" pitchFamily="34" charset="0"/>
                <a:ea typeface="Consolas" pitchFamily="34" charset="-122"/>
                <a:cs typeface="Consolas" pitchFamily="34" charset="-120"/>
              </a:rPr>
              <a:t>'echo'</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response: echo: hello over HTTP</a:t>
            </a:r>
            <a:endParaRPr lang="en-US" sz="1100" dirty="0"/>
          </a:p>
        </p:txBody>
      </p:sp>
      <p:sp>
        <p:nvSpPr>
          <p:cNvPr id="10" name="Text 7"/>
          <p:cNvSpPr/>
          <p:nvPr/>
        </p:nvSpPr>
        <p:spPr>
          <a:xfrm>
            <a:off x="502920" y="361188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THE SERVER IS 5 LINES</a:t>
            </a:r>
            <a:endParaRPr lang="en-US" sz="1400" dirty="0"/>
          </a:p>
        </p:txBody>
      </p:sp>
      <p:sp>
        <p:nvSpPr>
          <p:cNvPr id="11" name="Shape 8"/>
          <p:cNvSpPr/>
          <p:nvPr/>
        </p:nvSpPr>
        <p:spPr>
          <a:xfrm>
            <a:off x="502920" y="3931920"/>
            <a:ext cx="11155680" cy="1783080"/>
          </a:xfrm>
          <a:prstGeom prst="rect">
            <a:avLst/>
          </a:prstGeom>
          <a:solidFill>
            <a:srgbClr val="333333"/>
          </a:solidFill>
          <a:ln w="12700">
            <a:solidFill>
              <a:srgbClr val="333333"/>
            </a:solidFill>
            <a:prstDash val="solid"/>
          </a:ln>
        </p:spPr>
      </p:sp>
      <p:sp>
        <p:nvSpPr>
          <p:cNvPr id="12" name="Text 9"/>
          <p:cNvSpPr/>
          <p:nvPr/>
        </p:nvSpPr>
        <p:spPr>
          <a:xfrm>
            <a:off x="576072" y="3986784"/>
            <a:ext cx="11009376" cy="167335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mcp = FastMCP(</a:t>
            </a:r>
            <a:r>
              <a:rPr lang="en-US" sz="1100" dirty="0">
                <a:solidFill>
                  <a:srgbClr val="A2FCA2"/>
                </a:solidFill>
                <a:latin typeface="Consolas" pitchFamily="34" charset="0"/>
                <a:ea typeface="Consolas" pitchFamily="34" charset="-122"/>
                <a:cs typeface="Consolas" pitchFamily="34" charset="-120"/>
              </a:rPr>
              <a:t>"http-transport-demo"</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@mcp.tool()</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def echo(text: str) -&gt; str: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a:t>
            </a:r>
            <a:r>
              <a:rPr lang="en-US" sz="1100" dirty="0">
                <a:solidFill>
                  <a:srgbClr val="A2FCA2"/>
                </a:solidFill>
                <a:latin typeface="Consolas" pitchFamily="34" charset="0"/>
                <a:ea typeface="Consolas" pitchFamily="34" charset="-122"/>
                <a:cs typeface="Consolas" pitchFamily="34" charset="-120"/>
              </a:rPr>
              <a:t>"Echo back the supplied text."</a:t>
            </a:r>
            <a:r>
              <a:rPr lang="en-US" sz="1100" dirty="0">
                <a:solidFill>
                  <a:srgbClr val="A2FCA2"/>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return f</a:t>
            </a:r>
            <a:r>
              <a:rPr lang="en-US" sz="1100" dirty="0">
                <a:solidFill>
                  <a:srgbClr val="A2FCA2"/>
                </a:solidFill>
                <a:latin typeface="Consolas" pitchFamily="34" charset="0"/>
                <a:ea typeface="Consolas" pitchFamily="34" charset="-122"/>
                <a:cs typeface="Consolas" pitchFamily="34" charset="-120"/>
              </a:rPr>
              <a:t>"echo: {text}"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mcp.run(transport=</a:t>
            </a:r>
            <a:r>
              <a:rPr lang="en-US" sz="1100" dirty="0">
                <a:solidFill>
                  <a:srgbClr val="A2FCA2"/>
                </a:solidFill>
                <a:latin typeface="Consolas" pitchFamily="34" charset="0"/>
                <a:ea typeface="Consolas" pitchFamily="34" charset="-122"/>
                <a:cs typeface="Consolas" pitchFamily="34" charset="-120"/>
              </a:rPr>
              <a:t>"streamable-http"</a:t>
            </a:r>
            <a:r>
              <a:rPr lang="en-US" sz="1100" dirty="0">
                <a:solidFill>
                  <a:srgbClr val="FFFFFF"/>
                </a:solidFill>
                <a:latin typeface="Consolas" pitchFamily="34" charset="0"/>
                <a:ea typeface="Consolas" pitchFamily="34" charset="-122"/>
                <a:cs typeface="Consolas" pitchFamily="34" charset="-120"/>
              </a:rPr>
              <a:t>)</a:t>
            </a:r>
            <a:endParaRPr lang="en-US" sz="1100" dirty="0"/>
          </a:p>
        </p:txBody>
      </p:sp>
      <p:sp>
        <p:nvSpPr>
          <p:cNvPr id="13" name="Text 10"/>
          <p:cNvSpPr/>
          <p:nvPr/>
        </p:nvSpPr>
        <p:spPr>
          <a:xfrm>
            <a:off x="502920" y="5779008"/>
            <a:ext cx="10058400" cy="548640"/>
          </a:xfrm>
          <a:prstGeom prst="rect">
            <a:avLst/>
          </a:prstGeom>
          <a:noFill/>
          <a:ln/>
        </p:spPr>
        <p:txBody>
          <a:bodyPr wrap="square" lIns="635" tIns="635" rIns="635" bIns="635" rtlCol="0" anchor="t"/>
          <a:lstStyle/>
          <a:p>
            <a:pPr algn="l" indent="0" marL="0">
              <a:buNone/>
            </a:pPr>
            <a:r>
              <a:rPr lang="en-US" sz="1200" i="1" dirty="0">
                <a:solidFill>
                  <a:srgbClr val="FFAB40"/>
                </a:solidFill>
                <a:latin typeface="Fira Sans" pitchFamily="34" charset="0"/>
                <a:ea typeface="Fira Sans" pitchFamily="34" charset="-122"/>
                <a:cs typeface="Fira Sans" pitchFamily="34" charset="-120"/>
              </a:rPr>
              <a:t>Same session.list_tools(), same session.call_tool(). Only the import changes. The server is an independent HTTP process — it survives client disconnection, and multiple clients can connect at once.</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What MCP Does Not Solve for You</a:t>
            </a:r>
            <a:endParaRPr lang="en-US" sz="3000" dirty="0"/>
          </a:p>
        </p:txBody>
      </p:sp>
      <p:sp>
        <p:nvSpPr>
          <p:cNvPr id="4" name="Shape 1"/>
          <p:cNvSpPr/>
          <p:nvPr/>
        </p:nvSpPr>
        <p:spPr>
          <a:xfrm>
            <a:off x="502920" y="1051560"/>
            <a:ext cx="3611880" cy="2514600"/>
          </a:xfrm>
          <a:prstGeom prst="rect">
            <a:avLst/>
          </a:prstGeom>
          <a:solidFill>
            <a:srgbClr val="FFFFFF"/>
          </a:solidFill>
          <a:ln w="12700">
            <a:solidFill>
              <a:srgbClr val="DC2626"/>
            </a:solidFill>
            <a:prstDash val="solid"/>
          </a:ln>
        </p:spPr>
      </p:sp>
      <p:sp>
        <p:nvSpPr>
          <p:cNvPr id="5" name="Shape 2"/>
          <p:cNvSpPr/>
          <p:nvPr/>
        </p:nvSpPr>
        <p:spPr>
          <a:xfrm>
            <a:off x="502920" y="1051560"/>
            <a:ext cx="3611880" cy="411480"/>
          </a:xfrm>
          <a:prstGeom prst="rect">
            <a:avLst/>
          </a:prstGeom>
          <a:solidFill>
            <a:srgbClr val="DC2626"/>
          </a:solidFill>
          <a:ln w="12700">
            <a:solidFill>
              <a:srgbClr val="DC2626"/>
            </a:solidFill>
            <a:prstDash val="solid"/>
          </a:ln>
        </p:spPr>
      </p:sp>
      <p:sp>
        <p:nvSpPr>
          <p:cNvPr id="6" name="Text 3"/>
          <p:cNvSpPr/>
          <p:nvPr/>
        </p:nvSpPr>
        <p:spPr>
          <a:xfrm>
            <a:off x="502920" y="1051560"/>
            <a:ext cx="3611880" cy="411480"/>
          </a:xfrm>
          <a:prstGeom prst="rect">
            <a:avLst/>
          </a:prstGeom>
          <a:noFill/>
          <a:ln/>
        </p:spPr>
        <p:txBody>
          <a:bodyPr wrap="square" rtlCol="0" anchor="ctr"/>
          <a:lstStyle/>
          <a:p>
            <a:pPr algn="ctr" indent="0" marL="0">
              <a:buNone/>
            </a:pPr>
            <a:r>
              <a:rPr lang="en-US" sz="1500" b="1" dirty="0">
                <a:solidFill>
                  <a:srgbClr val="FFFFFF"/>
                </a:solidFill>
                <a:latin typeface="Fira Sans" pitchFamily="34" charset="0"/>
                <a:ea typeface="Fira Sans" pitchFamily="34" charset="-122"/>
                <a:cs typeface="Fira Sans" pitchFamily="34" charset="-120"/>
              </a:rPr>
              <a:t>Idempotency</a:t>
            </a:r>
            <a:endParaRPr lang="en-US" sz="1500" dirty="0"/>
          </a:p>
        </p:txBody>
      </p:sp>
      <p:sp>
        <p:nvSpPr>
          <p:cNvPr id="7" name="Text 4"/>
          <p:cNvSpPr/>
          <p:nvPr/>
        </p:nvSpPr>
        <p:spPr>
          <a:xfrm>
            <a:off x="612648" y="1508760"/>
            <a:ext cx="3392424" cy="2011680"/>
          </a:xfrm>
          <a:prstGeom prst="rect">
            <a:avLst/>
          </a:prstGeom>
          <a:noFill/>
          <a:ln/>
        </p:spPr>
        <p:txBody>
          <a:bodyPr wrap="square" rtlCol="0" anchor="t"/>
          <a:lstStyle/>
          <a:p>
            <a:pPr indent="0" marL="0">
              <a:buNone/>
            </a:pPr>
            <a:r>
              <a:rPr lang="en-US" sz="1250" dirty="0">
                <a:solidFill>
                  <a:srgbClr val="1E293B"/>
                </a:solidFill>
                <a:latin typeface="Fira Sans" pitchFamily="34" charset="0"/>
                <a:ea typeface="Fira Sans" pitchFamily="34" charset="-122"/>
                <a:cs typeface="Fira Sans" pitchFamily="34" charset="-120"/>
              </a:rPr>
              <a:t>Retries after timeouts hit your server twice. A hung tool call on the host side does not mean the server did not execute. Make every tool safely retryable, or return an idempotency key.</a:t>
            </a:r>
            <a:endParaRPr lang="en-US" sz="1250" dirty="0"/>
          </a:p>
        </p:txBody>
      </p:sp>
      <p:sp>
        <p:nvSpPr>
          <p:cNvPr id="8" name="Shape 5"/>
          <p:cNvSpPr/>
          <p:nvPr/>
        </p:nvSpPr>
        <p:spPr>
          <a:xfrm>
            <a:off x="4279392" y="1051560"/>
            <a:ext cx="3611880" cy="2514600"/>
          </a:xfrm>
          <a:prstGeom prst="rect">
            <a:avLst/>
          </a:prstGeom>
          <a:solidFill>
            <a:srgbClr val="FFFFFF"/>
          </a:solidFill>
          <a:ln w="12700">
            <a:solidFill>
              <a:srgbClr val="D97706"/>
            </a:solidFill>
            <a:prstDash val="solid"/>
          </a:ln>
        </p:spPr>
      </p:sp>
      <p:sp>
        <p:nvSpPr>
          <p:cNvPr id="9" name="Shape 6"/>
          <p:cNvSpPr/>
          <p:nvPr/>
        </p:nvSpPr>
        <p:spPr>
          <a:xfrm>
            <a:off x="4279392" y="1051560"/>
            <a:ext cx="3611880" cy="411480"/>
          </a:xfrm>
          <a:prstGeom prst="rect">
            <a:avLst/>
          </a:prstGeom>
          <a:solidFill>
            <a:srgbClr val="D97706"/>
          </a:solidFill>
          <a:ln w="12700">
            <a:solidFill>
              <a:srgbClr val="D97706"/>
            </a:solidFill>
            <a:prstDash val="solid"/>
          </a:ln>
        </p:spPr>
      </p:sp>
      <p:sp>
        <p:nvSpPr>
          <p:cNvPr id="10" name="Text 7"/>
          <p:cNvSpPr/>
          <p:nvPr/>
        </p:nvSpPr>
        <p:spPr>
          <a:xfrm>
            <a:off x="4279392" y="1051560"/>
            <a:ext cx="3611880" cy="411480"/>
          </a:xfrm>
          <a:prstGeom prst="rect">
            <a:avLst/>
          </a:prstGeom>
          <a:noFill/>
          <a:ln/>
        </p:spPr>
        <p:txBody>
          <a:bodyPr wrap="square" rtlCol="0" anchor="ctr"/>
          <a:lstStyle/>
          <a:p>
            <a:pPr algn="ctr" indent="0" marL="0">
              <a:buNone/>
            </a:pPr>
            <a:r>
              <a:rPr lang="en-US" sz="1500" b="1" dirty="0">
                <a:solidFill>
                  <a:srgbClr val="FFFFFF"/>
                </a:solidFill>
                <a:latin typeface="Fira Sans" pitchFamily="34" charset="0"/>
                <a:ea typeface="Fira Sans" pitchFamily="34" charset="-122"/>
                <a:cs typeface="Fira Sans" pitchFamily="34" charset="-120"/>
              </a:rPr>
              <a:t>Cost accounting</a:t>
            </a:r>
            <a:endParaRPr lang="en-US" sz="1500" dirty="0"/>
          </a:p>
        </p:txBody>
      </p:sp>
      <p:sp>
        <p:nvSpPr>
          <p:cNvPr id="11" name="Text 8"/>
          <p:cNvSpPr/>
          <p:nvPr/>
        </p:nvSpPr>
        <p:spPr>
          <a:xfrm>
            <a:off x="4389120" y="1508760"/>
            <a:ext cx="3392424" cy="2011680"/>
          </a:xfrm>
          <a:prstGeom prst="rect">
            <a:avLst/>
          </a:prstGeom>
          <a:noFill/>
          <a:ln/>
        </p:spPr>
        <p:txBody>
          <a:bodyPr wrap="square" rtlCol="0" anchor="t"/>
          <a:lstStyle/>
          <a:p>
            <a:pPr indent="0" marL="0">
              <a:buNone/>
            </a:pPr>
            <a:r>
              <a:rPr lang="en-US" sz="1250" dirty="0">
                <a:solidFill>
                  <a:srgbClr val="1E293B"/>
                </a:solidFill>
                <a:latin typeface="Fira Sans" pitchFamily="34" charset="0"/>
                <a:ea typeface="Fira Sans" pitchFamily="34" charset="-122"/>
                <a:cs typeface="Fira Sans" pitchFamily="34" charset="-120"/>
              </a:rPr>
              <a:t>MCP doesn't know get_market_price costs money in provider fees. Wire telemetry at the host level and correlate tool name, duration, and downstream cost.</a:t>
            </a:r>
            <a:endParaRPr lang="en-US" sz="1250" dirty="0"/>
          </a:p>
        </p:txBody>
      </p:sp>
      <p:sp>
        <p:nvSpPr>
          <p:cNvPr id="12" name="Shape 9"/>
          <p:cNvSpPr/>
          <p:nvPr/>
        </p:nvSpPr>
        <p:spPr>
          <a:xfrm>
            <a:off x="8055864" y="1051560"/>
            <a:ext cx="3611880" cy="2514600"/>
          </a:xfrm>
          <a:prstGeom prst="rect">
            <a:avLst/>
          </a:prstGeom>
          <a:solidFill>
            <a:srgbClr val="FFFFFF"/>
          </a:solidFill>
          <a:ln w="12700">
            <a:solidFill>
              <a:srgbClr val="2563EB"/>
            </a:solidFill>
            <a:prstDash val="solid"/>
          </a:ln>
        </p:spPr>
      </p:sp>
      <p:sp>
        <p:nvSpPr>
          <p:cNvPr id="13" name="Shape 10"/>
          <p:cNvSpPr/>
          <p:nvPr/>
        </p:nvSpPr>
        <p:spPr>
          <a:xfrm>
            <a:off x="8055864" y="1051560"/>
            <a:ext cx="3611880" cy="411480"/>
          </a:xfrm>
          <a:prstGeom prst="rect">
            <a:avLst/>
          </a:prstGeom>
          <a:solidFill>
            <a:srgbClr val="2563EB"/>
          </a:solidFill>
          <a:ln w="12700">
            <a:solidFill>
              <a:srgbClr val="2563EB"/>
            </a:solidFill>
            <a:prstDash val="solid"/>
          </a:ln>
        </p:spPr>
      </p:sp>
      <p:sp>
        <p:nvSpPr>
          <p:cNvPr id="14" name="Text 11"/>
          <p:cNvSpPr/>
          <p:nvPr/>
        </p:nvSpPr>
        <p:spPr>
          <a:xfrm>
            <a:off x="8055864" y="1051560"/>
            <a:ext cx="3611880" cy="411480"/>
          </a:xfrm>
          <a:prstGeom prst="rect">
            <a:avLst/>
          </a:prstGeom>
          <a:noFill/>
          <a:ln/>
        </p:spPr>
        <p:txBody>
          <a:bodyPr wrap="square" rtlCol="0" anchor="ctr"/>
          <a:lstStyle/>
          <a:p>
            <a:pPr algn="ctr" indent="0" marL="0">
              <a:buNone/>
            </a:pPr>
            <a:r>
              <a:rPr lang="en-US" sz="1500" b="1" dirty="0">
                <a:solidFill>
                  <a:srgbClr val="FFFFFF"/>
                </a:solidFill>
                <a:latin typeface="Fira Sans" pitchFamily="34" charset="0"/>
                <a:ea typeface="Fira Sans" pitchFamily="34" charset="-122"/>
                <a:cs typeface="Fira Sans" pitchFamily="34" charset="-120"/>
              </a:rPr>
              <a:t>Determinism</a:t>
            </a:r>
            <a:endParaRPr lang="en-US" sz="1500" dirty="0"/>
          </a:p>
        </p:txBody>
      </p:sp>
      <p:sp>
        <p:nvSpPr>
          <p:cNvPr id="15" name="Text 12"/>
          <p:cNvSpPr/>
          <p:nvPr/>
        </p:nvSpPr>
        <p:spPr>
          <a:xfrm>
            <a:off x="8165592" y="1508760"/>
            <a:ext cx="3392424" cy="2011680"/>
          </a:xfrm>
          <a:prstGeom prst="rect">
            <a:avLst/>
          </a:prstGeom>
          <a:noFill/>
          <a:ln/>
        </p:spPr>
        <p:txBody>
          <a:bodyPr wrap="square" rtlCol="0" anchor="t"/>
          <a:lstStyle/>
          <a:p>
            <a:pPr indent="0" marL="0">
              <a:buNone/>
            </a:pPr>
            <a:r>
              <a:rPr lang="en-US" sz="1250" dirty="0">
                <a:solidFill>
                  <a:srgbClr val="1E293B"/>
                </a:solidFill>
                <a:latin typeface="Fira Sans" pitchFamily="34" charset="0"/>
                <a:ea typeface="Fira Sans" pitchFamily="34" charset="-122"/>
                <a:cs typeface="Fira Sans" pitchFamily="34" charset="-120"/>
              </a:rPr>
              <a:t>Two calls with identical arguments can return different data if the backing system drifts. If reasoning must be reproducible, cache results or pin them to a snapshot.</a:t>
            </a:r>
            <a:endParaRPr lang="en-US" sz="1250" dirty="0"/>
          </a:p>
        </p:txBody>
      </p:sp>
      <p:sp>
        <p:nvSpPr>
          <p:cNvPr id="16" name="Shape 13"/>
          <p:cNvSpPr/>
          <p:nvPr/>
        </p:nvSpPr>
        <p:spPr>
          <a:xfrm>
            <a:off x="502920" y="3794760"/>
            <a:ext cx="5486400" cy="1920240"/>
          </a:xfrm>
          <a:prstGeom prst="rect">
            <a:avLst/>
          </a:prstGeom>
          <a:solidFill>
            <a:srgbClr val="FFFFFF"/>
          </a:solidFill>
          <a:ln w="12700">
            <a:solidFill>
              <a:srgbClr val="7C3AED"/>
            </a:solidFill>
            <a:prstDash val="solid"/>
          </a:ln>
        </p:spPr>
      </p:sp>
      <p:sp>
        <p:nvSpPr>
          <p:cNvPr id="17" name="Shape 14"/>
          <p:cNvSpPr/>
          <p:nvPr/>
        </p:nvSpPr>
        <p:spPr>
          <a:xfrm>
            <a:off x="502920" y="3794760"/>
            <a:ext cx="5486400" cy="411480"/>
          </a:xfrm>
          <a:prstGeom prst="rect">
            <a:avLst/>
          </a:prstGeom>
          <a:solidFill>
            <a:srgbClr val="7C3AED"/>
          </a:solidFill>
          <a:ln w="12700">
            <a:solidFill>
              <a:srgbClr val="7C3AED"/>
            </a:solidFill>
            <a:prstDash val="solid"/>
          </a:ln>
        </p:spPr>
      </p:sp>
      <p:sp>
        <p:nvSpPr>
          <p:cNvPr id="18" name="Text 15"/>
          <p:cNvSpPr/>
          <p:nvPr/>
        </p:nvSpPr>
        <p:spPr>
          <a:xfrm>
            <a:off x="502920" y="3794760"/>
            <a:ext cx="5486400" cy="411480"/>
          </a:xfrm>
          <a:prstGeom prst="rect">
            <a:avLst/>
          </a:prstGeom>
          <a:noFill/>
          <a:ln/>
        </p:spPr>
        <p:txBody>
          <a:bodyPr wrap="square" rtlCol="0" anchor="ctr"/>
          <a:lstStyle/>
          <a:p>
            <a:pPr algn="ctr" indent="0" marL="0">
              <a:buNone/>
            </a:pPr>
            <a:r>
              <a:rPr lang="en-US" sz="1500" b="1" dirty="0">
                <a:solidFill>
                  <a:srgbClr val="FFFFFF"/>
                </a:solidFill>
                <a:latin typeface="Fira Sans" pitchFamily="34" charset="0"/>
                <a:ea typeface="Fira Sans" pitchFamily="34" charset="-122"/>
                <a:cs typeface="Fira Sans" pitchFamily="34" charset="-120"/>
              </a:rPr>
              <a:t>Prompt injection defense</a:t>
            </a:r>
            <a:endParaRPr lang="en-US" sz="1500" dirty="0"/>
          </a:p>
        </p:txBody>
      </p:sp>
      <p:sp>
        <p:nvSpPr>
          <p:cNvPr id="19" name="Text 16"/>
          <p:cNvSpPr/>
          <p:nvPr/>
        </p:nvSpPr>
        <p:spPr>
          <a:xfrm>
            <a:off x="612648" y="4251960"/>
            <a:ext cx="5266944" cy="1417320"/>
          </a:xfrm>
          <a:prstGeom prst="rect">
            <a:avLst/>
          </a:prstGeom>
          <a:noFill/>
          <a:ln/>
        </p:spPr>
        <p:txBody>
          <a:bodyPr wrap="square" rtlCol="0" anchor="t"/>
          <a:lstStyle/>
          <a:p>
            <a:pPr indent="0" marL="0">
              <a:buNone/>
            </a:pPr>
            <a:r>
              <a:rPr lang="en-US" sz="1250" dirty="0">
                <a:solidFill>
                  <a:srgbClr val="1E293B"/>
                </a:solidFill>
                <a:latin typeface="Fira Sans" pitchFamily="34" charset="0"/>
                <a:ea typeface="Fira Sans" pitchFamily="34" charset="-122"/>
                <a:cs typeface="Fira Sans" pitchFamily="34" charset="-120"/>
              </a:rPr>
              <a:t>A tool result containing "ignore previous instructions" still lands in the model's context. Sanitize or structure outputs; don't treat tool results as trusted.</a:t>
            </a:r>
            <a:endParaRPr lang="en-US" sz="1250" dirty="0"/>
          </a:p>
        </p:txBody>
      </p:sp>
      <p:sp>
        <p:nvSpPr>
          <p:cNvPr id="20" name="Shape 17"/>
          <p:cNvSpPr/>
          <p:nvPr/>
        </p:nvSpPr>
        <p:spPr>
          <a:xfrm>
            <a:off x="6153912" y="3794760"/>
            <a:ext cx="5486400" cy="1920240"/>
          </a:xfrm>
          <a:prstGeom prst="rect">
            <a:avLst/>
          </a:prstGeom>
          <a:solidFill>
            <a:srgbClr val="FFFFFF"/>
          </a:solidFill>
          <a:ln w="12700">
            <a:solidFill>
              <a:srgbClr val="0F766E"/>
            </a:solidFill>
            <a:prstDash val="solid"/>
          </a:ln>
        </p:spPr>
      </p:sp>
      <p:sp>
        <p:nvSpPr>
          <p:cNvPr id="21" name="Shape 18"/>
          <p:cNvSpPr/>
          <p:nvPr/>
        </p:nvSpPr>
        <p:spPr>
          <a:xfrm>
            <a:off x="6153912" y="3794760"/>
            <a:ext cx="5486400" cy="411480"/>
          </a:xfrm>
          <a:prstGeom prst="rect">
            <a:avLst/>
          </a:prstGeom>
          <a:solidFill>
            <a:srgbClr val="0F766E"/>
          </a:solidFill>
          <a:ln w="12700">
            <a:solidFill>
              <a:srgbClr val="0F766E"/>
            </a:solidFill>
            <a:prstDash val="solid"/>
          </a:ln>
        </p:spPr>
      </p:sp>
      <p:sp>
        <p:nvSpPr>
          <p:cNvPr id="22" name="Text 19"/>
          <p:cNvSpPr/>
          <p:nvPr/>
        </p:nvSpPr>
        <p:spPr>
          <a:xfrm>
            <a:off x="6153912" y="3794760"/>
            <a:ext cx="5486400" cy="411480"/>
          </a:xfrm>
          <a:prstGeom prst="rect">
            <a:avLst/>
          </a:prstGeom>
          <a:noFill/>
          <a:ln/>
        </p:spPr>
        <p:txBody>
          <a:bodyPr wrap="square" rtlCol="0" anchor="ctr"/>
          <a:lstStyle/>
          <a:p>
            <a:pPr algn="ctr" indent="0" marL="0">
              <a:buNone/>
            </a:pPr>
            <a:r>
              <a:rPr lang="en-US" sz="1500" b="1" dirty="0">
                <a:solidFill>
                  <a:srgbClr val="FFFFFF"/>
                </a:solidFill>
                <a:latin typeface="Fira Sans" pitchFamily="34" charset="0"/>
                <a:ea typeface="Fira Sans" pitchFamily="34" charset="-122"/>
                <a:cs typeface="Fira Sans" pitchFamily="34" charset="-120"/>
              </a:rPr>
              <a:t>Audit</a:t>
            </a:r>
            <a:endParaRPr lang="en-US" sz="1500" dirty="0"/>
          </a:p>
        </p:txBody>
      </p:sp>
      <p:sp>
        <p:nvSpPr>
          <p:cNvPr id="23" name="Text 20"/>
          <p:cNvSpPr/>
          <p:nvPr/>
        </p:nvSpPr>
        <p:spPr>
          <a:xfrm>
            <a:off x="6263640" y="4251960"/>
            <a:ext cx="5266944" cy="1417320"/>
          </a:xfrm>
          <a:prstGeom prst="rect">
            <a:avLst/>
          </a:prstGeom>
          <a:noFill/>
          <a:ln/>
        </p:spPr>
        <p:txBody>
          <a:bodyPr wrap="square" rtlCol="0" anchor="t"/>
          <a:lstStyle/>
          <a:p>
            <a:pPr indent="0" marL="0">
              <a:buNone/>
            </a:pPr>
            <a:r>
              <a:rPr lang="en-US" sz="1250" dirty="0">
                <a:solidFill>
                  <a:srgbClr val="1E293B"/>
                </a:solidFill>
                <a:latin typeface="Fira Sans" pitchFamily="34" charset="0"/>
                <a:ea typeface="Fira Sans" pitchFamily="34" charset="-122"/>
                <a:cs typeface="Fira Sans" pitchFamily="34" charset="-120"/>
              </a:rPr>
              <a:t>The server log is not enough. Correlate the host-side JSON-RPC id with the server-side access log, or you can't reconstruct what the model caused.</a:t>
            </a:r>
            <a:endParaRPr lang="en-US" sz="1250" dirty="0"/>
          </a:p>
        </p:txBody>
      </p:sp>
      <p:sp>
        <p:nvSpPr>
          <p:cNvPr id="24" name="Text 21"/>
          <p:cNvSpPr/>
          <p:nvPr/>
        </p:nvSpPr>
        <p:spPr>
          <a:xfrm>
            <a:off x="502920" y="5852160"/>
            <a:ext cx="11155680" cy="365760"/>
          </a:xfrm>
          <a:prstGeom prst="rect">
            <a:avLst/>
          </a:prstGeom>
          <a:noFill/>
          <a:ln/>
        </p:spPr>
        <p:txBody>
          <a:bodyPr wrap="square" lIns="635" tIns="635" rIns="635" bIns="635" rtlCol="0" anchor="t"/>
          <a:lstStyle/>
          <a:p>
            <a:pPr algn="ctr" indent="0" marL="0">
              <a:buNone/>
            </a:pPr>
            <a:r>
              <a:rPr lang="en-US" sz="1400" b="1" dirty="0">
                <a:solidFill>
                  <a:srgbClr val="FFFFFF"/>
                </a:solidFill>
                <a:latin typeface="Fira Sans" pitchFamily="34" charset="0"/>
                <a:ea typeface="Fira Sans" pitchFamily="34" charset="-122"/>
                <a:cs typeface="Fira Sans" pitchFamily="34" charset="-120"/>
              </a:rPr>
              <a:t>Use MCP for the protocol shape. Put the rest of your production concerns in the host layer.</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Module 1: </a:t>
            </a:r>
            <a:r>
              <a:rPr lang="en-US" sz="3000" b="1" dirty="0">
                <a:solidFill>
                  <a:srgbClr val="FFFFFF"/>
                </a:solidFill>
                <a:latin typeface="Fira Sans" pitchFamily="34" charset="0"/>
                <a:ea typeface="Fira Sans" pitchFamily="34" charset="-122"/>
                <a:cs typeface="Fira Sans" pitchFamily="34" charset="-120"/>
              </a:rPr>
              <a:t>What You Learned</a:t>
            </a:r>
            <a:endParaRPr lang="en-US" sz="30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11155680" cy="914400"/>
        </p:xfrm>
        <a:graphic>
          <a:graphicData uri="http://schemas.openxmlformats.org/drawingml/2006/table">
            <a:tbl>
              <a:tblPr/>
              <a:tblGrid>
                <a:gridCol w="2468880"/>
                <a:gridCol w="5120640"/>
                <a:gridCol w="356616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Concept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What it means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Where we saw it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MCP protocol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JSON-RPC handshake + tool discovery + invocation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Demo 01 (raw frames)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Three actors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Model (decides), Host (bridges), Server (executes)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Demo 02 (timestamped trace)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Four primitives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Tools, Resources, Prompts, Sampling</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Demo 03, github_agent_client.py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Content types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TextContent, ImageContent, EmbeddedResource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Demo 04</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Three transports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stdio (1:1), SSE (legacy), Streamable HTTP (remote)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Demos 01–05</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Tool design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Group around intent, not endpoints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get_market_price (one call)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Information asymmetry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Different agents see different tools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Buyer vs seller server access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Agentic loop</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LLM + tool schemas → decide → call → reason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github_agent_client.py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5" name="Shape 1"/>
          <p:cNvSpPr/>
          <p:nvPr/>
        </p:nvSpPr>
        <p:spPr>
          <a:xfrm>
            <a:off x="502920" y="4800600"/>
            <a:ext cx="11155680" cy="1143000"/>
          </a:xfrm>
          <a:prstGeom prst="rect">
            <a:avLst/>
          </a:prstGeom>
          <a:solidFill>
            <a:srgbClr val="CCFBF1"/>
          </a:solidFill>
          <a:ln w="12700">
            <a:solidFill>
              <a:srgbClr val="CCFBF1"/>
            </a:solidFill>
            <a:prstDash val="solid"/>
          </a:ln>
        </p:spPr>
      </p:sp>
      <p:sp>
        <p:nvSpPr>
          <p:cNvPr id="6" name="Text 2"/>
          <p:cNvSpPr/>
          <p:nvPr/>
        </p:nvSpPr>
        <p:spPr>
          <a:xfrm>
            <a:off x="640080" y="4846320"/>
            <a:ext cx="10881360" cy="105156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What carries forward to Module 2: </a:t>
            </a:r>
            <a:r>
              <a:rPr lang="en-US" sz="1300" dirty="0">
                <a:solidFill>
                  <a:srgbClr val="1E293B"/>
                </a:solidFill>
                <a:latin typeface="Fira Sans" pitchFamily="34" charset="0"/>
                <a:ea typeface="Fira Sans" pitchFamily="34" charset="-122"/>
                <a:cs typeface="Fira Sans" pitchFamily="34" charset="-120"/>
              </a:rPr>
              <a:t>pricing_server.py and inventory_server.py are used directly by the buyer/seller agents · the hand-written loop is replaced by McpToolset + LlmAgent · information asymmetry is enforced by before_tool_callback allowlists (what an agent can call) and include_contents (what it can read).</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Module 1 - Implementation Notes: </a:t>
            </a:r>
            <a:r>
              <a:rPr lang="en-US" sz="3000" b="1" dirty="0">
                <a:solidFill>
                  <a:srgbClr val="FFFFFF"/>
                </a:solidFill>
                <a:latin typeface="Fira Sans" pitchFamily="34" charset="0"/>
                <a:ea typeface="Fira Sans" pitchFamily="34" charset="-122"/>
                <a:cs typeface="Fira Sans" pitchFamily="34" charset="-120"/>
              </a:rPr>
              <a:t>MCP Deep Dive</a:t>
            </a:r>
            <a:endParaRPr lang="en-US" sz="3000" dirty="0"/>
          </a:p>
        </p:txBody>
      </p:sp>
      <p:pic>
        <p:nvPicPr>
          <p:cNvPr id="4" name="Image 1" descr="C:\Users\jeesingh\.copilot\session-state\b8ab4bc6-faf5-4ebd-bea2-f997a4b9a7ea\files\deck\img\x351.png">    </p:cNvPr>
          <p:cNvPicPr>
            <a:picLocks noChangeAspect="1"/>
          </p:cNvPicPr>
          <p:nvPr/>
        </p:nvPicPr>
        <p:blipFill>
          <a:blip r:embed="rId2"/>
          <a:stretch>
            <a:fillRect/>
          </a:stretch>
        </p:blipFill>
        <p:spPr>
          <a:xfrm>
            <a:off x="2124710" y="1369060"/>
            <a:ext cx="7755890" cy="4652010"/>
          </a:xfrm>
          <a:prstGeom prst="rect">
            <a:avLst/>
          </a:prstGeom>
        </p:spPr>
      </p:pic>
      <p:pic>
        <p:nvPicPr>
          <p:cNvPr id="5" name="Image 2" descr="C:\Users\jeesingh\.copilot\session-state\b8ab4bc6-faf5-4ebd-bea2-f997a4b9a7ea\files\deck\img\x352.png">    </p:cNvPr>
          <p:cNvPicPr>
            <a:picLocks noChangeAspect="1"/>
          </p:cNvPicPr>
          <p:nvPr/>
        </p:nvPicPr>
        <p:blipFill>
          <a:blip r:embed="rId3"/>
          <a:stretch>
            <a:fillRect/>
          </a:stretch>
        </p:blipFill>
        <p:spPr>
          <a:xfrm>
            <a:off x="4839970" y="3152140"/>
            <a:ext cx="2325370" cy="85344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pic>
        <p:nvPicPr>
          <p:cNvPr id="3" name="Image 1" descr="C:\Users\jeesingh\.copilot\session-state\b8ab4bc6-faf5-4ebd-bea2-f997a4b9a7ea\files\deck\img\x365.png">    </p:cNvPr>
          <p:cNvPicPr>
            <a:picLocks noChangeAspect="1"/>
          </p:cNvPicPr>
          <p:nvPr/>
        </p:nvPicPr>
        <p:blipFill>
          <a:blip r:embed="rId2"/>
          <a:stretch>
            <a:fillRect/>
          </a:stretch>
        </p:blipFill>
        <p:spPr>
          <a:xfrm>
            <a:off x="7302500" y="0"/>
            <a:ext cx="7285990" cy="6858000"/>
          </a:xfrm>
          <a:prstGeom prst="rect">
            <a:avLst/>
          </a:prstGeom>
        </p:spPr>
      </p:pic>
      <p:sp>
        <p:nvSpPr>
          <p:cNvPr id="4" name="Text 0"/>
          <p:cNvSpPr/>
          <p:nvPr/>
        </p:nvSpPr>
        <p:spPr>
          <a:xfrm>
            <a:off x="411480" y="274320"/>
            <a:ext cx="6766560" cy="822960"/>
          </a:xfrm>
          <a:prstGeom prst="rect">
            <a:avLst/>
          </a:prstGeom>
          <a:noFill/>
          <a:ln/>
        </p:spPr>
        <p:txBody>
          <a:bodyPr wrap="square" rtlCol="0" anchor="ctr"/>
          <a:lstStyle/>
          <a:p>
            <a:pPr indent="0" marL="0">
              <a:buNone/>
            </a:pPr>
            <a:r>
              <a:rPr lang="en-US" sz="2000" b="1" dirty="0">
                <a:solidFill>
                  <a:srgbClr val="FFAB40"/>
                </a:solidFill>
                <a:latin typeface="Fira Sans" pitchFamily="34" charset="0"/>
                <a:ea typeface="Fira Sans" pitchFamily="34" charset="-122"/>
                <a:cs typeface="Fira Sans" pitchFamily="34" charset="-120"/>
              </a:rPr>
              <a:t>No Question Is Too Small Every Question Deserves an Answer!!</a:t>
            </a:r>
            <a:endParaRPr lang="en-US" sz="2000" dirty="0"/>
          </a:p>
        </p:txBody>
      </p:sp>
      <p:sp>
        <p:nvSpPr>
          <p:cNvPr id="5" name="Text 1"/>
          <p:cNvSpPr/>
          <p:nvPr/>
        </p:nvSpPr>
        <p:spPr>
          <a:xfrm>
            <a:off x="411480" y="1234440"/>
            <a:ext cx="6583680" cy="4023360"/>
          </a:xfrm>
          <a:prstGeom prst="rect">
            <a:avLst/>
          </a:prstGeom>
          <a:noFill/>
          <a:ln/>
        </p:spPr>
        <p:txBody>
          <a:bodyPr wrap="square" rtlCol="0" anchor="ctr"/>
          <a:lstStyle/>
          <a:p>
            <a:pPr indent="0" marL="0">
              <a:spcAft>
                <a:spcPts val="400"/>
              </a:spcAft>
              <a:buNone/>
            </a:pPr>
            <a:r>
              <a:rPr lang="en-US" sz="1600" b="1" dirty="0">
                <a:solidFill>
                  <a:srgbClr val="FFFFFF"/>
                </a:solidFill>
                <a:latin typeface="Fira Sans" pitchFamily="34" charset="0"/>
                <a:ea typeface="Fira Sans" pitchFamily="34" charset="-122"/>
                <a:cs typeface="Fira Sans" pitchFamily="34" charset="-120"/>
              </a:rPr>
              <a:t>Ask about anything:</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Concepts from today's modules</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How this applies to your work</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Implementation details</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Clarifications on what we covered</a:t>
            </a:r>
            <a:endParaRPr lang="en-US" sz="1600" dirty="0"/>
          </a:p>
          <a:p>
            <a:pPr indent="0" marL="0">
              <a:spcAft>
                <a:spcPts val="400"/>
              </a:spcAft>
              <a:buNone/>
            </a:pPr>
            <a:r>
              <a:rPr lang="en-US" sz="1600" dirty="0">
                <a:solidFill>
                  <a:srgbClr val="FFFFFF"/>
                </a:solidFill>
                <a:latin typeface="Fira Sans" pitchFamily="34" charset="0"/>
                <a:ea typeface="Fira Sans" pitchFamily="34" charset="-122"/>
                <a:cs typeface="Fira Sans" pitchFamily="34" charset="-120"/>
              </a:rPr>
              <a:t> </a:t>
            </a:r>
            <a:endParaRPr lang="en-US" sz="1600" dirty="0"/>
          </a:p>
          <a:p>
            <a:pPr indent="0" marL="0">
              <a:spcAft>
                <a:spcPts val="400"/>
              </a:spcAft>
              <a:buNone/>
            </a:pPr>
            <a:r>
              <a:rPr lang="en-US" sz="1600" b="1" dirty="0">
                <a:solidFill>
                  <a:srgbClr val="FFFFFF"/>
                </a:solidFill>
                <a:latin typeface="Fira Sans" pitchFamily="34" charset="0"/>
                <a:ea typeface="Fira Sans" pitchFamily="34" charset="-122"/>
                <a:cs typeface="Fira Sans" pitchFamily="34" charset="-120"/>
              </a:rPr>
              <a:t>Quick Request</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Please do not mind if a question gets skipped accidentally</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Repost politely in chat if needed</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We will try our best to cover as many questions as possible</a:t>
            </a:r>
            <a:endParaRPr lang="en-US" sz="1600" dirty="0"/>
          </a:p>
        </p:txBody>
      </p:sp>
      <p:sp>
        <p:nvSpPr>
          <p:cNvPr id="6" name="Text 2"/>
          <p:cNvSpPr/>
          <p:nvPr/>
        </p:nvSpPr>
        <p:spPr>
          <a:xfrm>
            <a:off x="411480" y="5577840"/>
            <a:ext cx="6583680" cy="548640"/>
          </a:xfrm>
          <a:prstGeom prst="rect">
            <a:avLst/>
          </a:prstGeom>
          <a:noFill/>
          <a:ln/>
        </p:spPr>
        <p:txBody>
          <a:bodyPr wrap="square" rtlCol="0" anchor="ctr"/>
          <a:lstStyle/>
          <a:p>
            <a:pPr indent="0" marL="0">
              <a:buNone/>
            </a:pPr>
            <a:r>
              <a:rPr lang="en-US" sz="1500" b="1" dirty="0">
                <a:solidFill>
                  <a:srgbClr val="FFFFFF"/>
                </a:solidFill>
                <a:latin typeface="Fira Sans" pitchFamily="34" charset="0"/>
                <a:ea typeface="Fira Sans" pitchFamily="34" charset="-122"/>
                <a:cs typeface="Fira Sans" pitchFamily="34" charset="-120"/>
              </a:rPr>
              <a:t>Remember: </a:t>
            </a:r>
            <a:r>
              <a:rPr lang="en-US" sz="1500" dirty="0">
                <a:solidFill>
                  <a:srgbClr val="FFAB40"/>
                </a:solidFill>
                <a:latin typeface="Fira Sans" pitchFamily="34" charset="0"/>
                <a:ea typeface="Fira Sans" pitchFamily="34" charset="-122"/>
                <a:cs typeface="Fira Sans" pitchFamily="34" charset="-120"/>
              </a:rPr>
              <a:t>If you're wondering about it, others probably are too.</a:t>
            </a:r>
            <a:endParaRPr lang="en-US" sz="15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7315200" cy="658368"/>
          </a:xfrm>
          <a:prstGeom prst="rect">
            <a:avLst/>
          </a:prstGeom>
          <a:noFill/>
          <a:ln/>
        </p:spPr>
        <p:txBody>
          <a:bodyPr wrap="square" lIns="0" tIns="0" rIns="0" bIns="0" rtlCol="0" anchor="ctr"/>
          <a:lstStyle/>
          <a:p>
            <a:pPr indent="0" marL="0">
              <a:buNone/>
            </a:pPr>
            <a:r>
              <a:rPr lang="en-US" sz="3000" b="1" dirty="0">
                <a:solidFill>
                  <a:srgbClr val="3896D2"/>
                </a:solidFill>
                <a:latin typeface="Fira Sans" pitchFamily="34" charset="0"/>
                <a:ea typeface="Fira Sans" pitchFamily="34" charset="-122"/>
                <a:cs typeface="Fira Sans" pitchFamily="34" charset="-120"/>
              </a:rPr>
              <a:t>Time for a Break</a:t>
            </a:r>
            <a:endParaRPr lang="en-US" sz="3000" dirty="0"/>
          </a:p>
        </p:txBody>
      </p:sp>
      <p:pic>
        <p:nvPicPr>
          <p:cNvPr id="4" name="Image 1" descr="C:\Users\jeesingh\.copilot\session-state\b8ab4bc6-faf5-4ebd-bea2-f997a4b9a7ea\files\deck\img\x372.png">    </p:cNvPr>
          <p:cNvPicPr>
            <a:picLocks noChangeAspect="1"/>
          </p:cNvPicPr>
          <p:nvPr/>
        </p:nvPicPr>
        <p:blipFill>
          <a:blip r:embed="rId2"/>
          <a:stretch>
            <a:fillRect/>
          </a:stretch>
        </p:blipFill>
        <p:spPr>
          <a:xfrm>
            <a:off x="2188210" y="1115060"/>
            <a:ext cx="7628890" cy="4291330"/>
          </a:xfrm>
          <a:prstGeom prst="rect">
            <a:avLst/>
          </a:prstGeom>
        </p:spPr>
      </p:pic>
      <p:sp>
        <p:nvSpPr>
          <p:cNvPr id="5" name="Text 1"/>
          <p:cNvSpPr/>
          <p:nvPr/>
        </p:nvSpPr>
        <p:spPr>
          <a:xfrm>
            <a:off x="1280160" y="5532120"/>
            <a:ext cx="9601200" cy="777240"/>
          </a:xfrm>
          <a:prstGeom prst="rect">
            <a:avLst/>
          </a:prstGeom>
          <a:noFill/>
          <a:ln/>
        </p:spPr>
        <p:txBody>
          <a:bodyPr wrap="square" rtlCol="0" anchor="ctr"/>
          <a:lstStyle/>
          <a:p>
            <a:pPr algn="ctr" indent="0" marL="0">
              <a:buNone/>
            </a:pPr>
            <a:r>
              <a:rPr lang="en-US" sz="2000" b="1" dirty="0">
                <a:solidFill>
                  <a:srgbClr val="FFAB40"/>
                </a:solidFill>
                <a:latin typeface="Fira Sans" pitchFamily="34" charset="0"/>
                <a:ea typeface="Fira Sans" pitchFamily="34" charset="-122"/>
                <a:cs typeface="Fira Sans" pitchFamily="34" charset="-120"/>
              </a:rPr>
              <a:t>A 10-minute break is starting now. Please return when the timer ends to continue the presentation</a:t>
            </a:r>
            <a:endParaRPr lang="en-US" sz="2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Module 1 → Module 2: </a:t>
            </a:r>
            <a:r>
              <a:rPr lang="en-US" sz="3000" b="1" dirty="0">
                <a:solidFill>
                  <a:srgbClr val="FFFFFF"/>
                </a:solidFill>
                <a:latin typeface="Fira Sans" pitchFamily="34" charset="0"/>
                <a:ea typeface="Fira Sans" pitchFamily="34" charset="-122"/>
                <a:cs typeface="Fira Sans" pitchFamily="34" charset="-120"/>
              </a:rPr>
              <a:t>What Changes</a:t>
            </a:r>
            <a:endParaRPr lang="en-US" sz="3000" dirty="0"/>
          </a:p>
        </p:txBody>
      </p:sp>
      <p:sp>
        <p:nvSpPr>
          <p:cNvPr id="4" name="Text 1"/>
          <p:cNvSpPr/>
          <p:nvPr/>
        </p:nvSpPr>
        <p:spPr>
          <a:xfrm>
            <a:off x="502920" y="914400"/>
            <a:ext cx="10972800" cy="320040"/>
          </a:xfrm>
          <a:prstGeom prst="rect">
            <a:avLst/>
          </a:prstGeom>
          <a:noFill/>
          <a:ln/>
        </p:spPr>
        <p:txBody>
          <a:bodyPr wrap="square" lIns="635" tIns="635" rIns="635" bIns="635" rtlCol="0" anchor="t"/>
          <a:lstStyle/>
          <a:p>
            <a:pPr algn="l" indent="0" marL="0">
              <a:buNone/>
            </a:pPr>
            <a:r>
              <a:rPr lang="en-US" sz="1500" b="1" dirty="0">
                <a:solidFill>
                  <a:srgbClr val="FFFFFF"/>
                </a:solidFill>
                <a:latin typeface="Fira Sans" pitchFamily="34" charset="0"/>
                <a:ea typeface="Fira Sans" pitchFamily="34" charset="-122"/>
                <a:cs typeface="Fira Sans" pitchFamily="34" charset="-120"/>
              </a:rPr>
              <a:t>In Module 1, you wrote the tool loop by hand (~60 lines):</a:t>
            </a:r>
            <a:endParaRPr lang="en-US" sz="1500" dirty="0"/>
          </a:p>
        </p:txBody>
      </p:sp>
      <p:sp>
        <p:nvSpPr>
          <p:cNvPr id="5" name="Shape 2"/>
          <p:cNvSpPr/>
          <p:nvPr/>
        </p:nvSpPr>
        <p:spPr>
          <a:xfrm>
            <a:off x="502920" y="1280160"/>
            <a:ext cx="11155680" cy="2331720"/>
          </a:xfrm>
          <a:prstGeom prst="rect">
            <a:avLst/>
          </a:prstGeom>
          <a:solidFill>
            <a:srgbClr val="333333"/>
          </a:solidFill>
          <a:ln w="12700">
            <a:solidFill>
              <a:srgbClr val="333333"/>
            </a:solidFill>
            <a:prstDash val="solid"/>
          </a:ln>
        </p:spPr>
      </p:sp>
      <p:sp>
        <p:nvSpPr>
          <p:cNvPr id="6" name="Text 3"/>
          <p:cNvSpPr/>
          <p:nvPr/>
        </p:nvSpPr>
        <p:spPr>
          <a:xfrm>
            <a:off x="576072" y="1335024"/>
            <a:ext cx="11009376" cy="222199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tools = await session.list_tools()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openai_tools = mcp_tools_to_openai_functions(tools)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for iteration in range(max_iterations):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response = await openai.create(messages=messages, tools=openai_tools)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if response.tool_calls: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for call in response.tool_calls: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result = await session.call_tool(call.name, call.args)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messages.append({</a:t>
            </a:r>
            <a:r>
              <a:rPr lang="en-US" sz="1100" dirty="0">
                <a:solidFill>
                  <a:srgbClr val="A2FCA2"/>
                </a:solidFill>
                <a:latin typeface="Consolas" pitchFamily="34" charset="0"/>
                <a:ea typeface="Consolas" pitchFamily="34" charset="-122"/>
                <a:cs typeface="Consolas" pitchFamily="34" charset="-120"/>
              </a:rPr>
              <a:t>"role"</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"tool"</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"content"</a:t>
            </a:r>
            <a:r>
              <a:rPr lang="en-US" sz="1100" dirty="0">
                <a:solidFill>
                  <a:srgbClr val="FFFFFF"/>
                </a:solidFill>
                <a:latin typeface="Consolas" pitchFamily="34" charset="0"/>
                <a:ea typeface="Consolas" pitchFamily="34" charset="-122"/>
                <a:cs typeface="Consolas" pitchFamily="34" charset="-120"/>
              </a:rPr>
              <a:t>: result})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else: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return response.content</a:t>
            </a:r>
            <a:endParaRPr lang="en-US" sz="1100" dirty="0"/>
          </a:p>
        </p:txBody>
      </p:sp>
      <p:sp>
        <p:nvSpPr>
          <p:cNvPr id="7" name="Text 4"/>
          <p:cNvSpPr/>
          <p:nvPr/>
        </p:nvSpPr>
        <p:spPr>
          <a:xfrm>
            <a:off x="502920" y="3749040"/>
            <a:ext cx="10972800" cy="320040"/>
          </a:xfrm>
          <a:prstGeom prst="rect">
            <a:avLst/>
          </a:prstGeom>
          <a:noFill/>
          <a:ln/>
        </p:spPr>
        <p:txBody>
          <a:bodyPr wrap="square" lIns="635" tIns="635" rIns="635" bIns="635" rtlCol="0" anchor="t"/>
          <a:lstStyle/>
          <a:p>
            <a:pPr algn="l" indent="0" marL="0">
              <a:buNone/>
            </a:pPr>
            <a:r>
              <a:rPr lang="en-US" sz="1500" b="1" dirty="0">
                <a:solidFill>
                  <a:srgbClr val="FFFFFF"/>
                </a:solidFill>
                <a:latin typeface="Fira Sans" pitchFamily="34" charset="0"/>
                <a:ea typeface="Fira Sans" pitchFamily="34" charset="-122"/>
                <a:cs typeface="Fira Sans" pitchFamily="34" charset="-120"/>
              </a:rPr>
              <a:t>In Module 2, one declaration replaces all of that:</a:t>
            </a:r>
            <a:endParaRPr lang="en-US" sz="1500" dirty="0"/>
          </a:p>
        </p:txBody>
      </p:sp>
      <p:sp>
        <p:nvSpPr>
          <p:cNvPr id="8" name="Shape 5"/>
          <p:cNvSpPr/>
          <p:nvPr/>
        </p:nvSpPr>
        <p:spPr>
          <a:xfrm>
            <a:off x="502920" y="4114800"/>
            <a:ext cx="11155680" cy="1234440"/>
          </a:xfrm>
          <a:prstGeom prst="rect">
            <a:avLst/>
          </a:prstGeom>
          <a:solidFill>
            <a:srgbClr val="333333"/>
          </a:solidFill>
          <a:ln w="12700">
            <a:solidFill>
              <a:srgbClr val="333333"/>
            </a:solidFill>
            <a:prstDash val="solid"/>
          </a:ln>
        </p:spPr>
      </p:sp>
      <p:sp>
        <p:nvSpPr>
          <p:cNvPr id="9" name="Text 6"/>
          <p:cNvSpPr/>
          <p:nvPr/>
        </p:nvSpPr>
        <p:spPr>
          <a:xfrm>
            <a:off x="576072" y="4169664"/>
            <a:ext cx="11009376" cy="112471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root_agent = LlmAgent(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tools=[McpToolset(connection_params=StdioConnectionParams(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server_params=StdioServerParameters(command=</a:t>
            </a:r>
            <a:r>
              <a:rPr lang="en-US" sz="1100" dirty="0">
                <a:solidFill>
                  <a:srgbClr val="A2FCA2"/>
                </a:solidFill>
                <a:latin typeface="Consolas" pitchFamily="34" charset="0"/>
                <a:ea typeface="Consolas" pitchFamily="34" charset="-122"/>
                <a:cs typeface="Consolas" pitchFamily="34" charset="-120"/>
              </a:rPr>
              <a:t>"python"</a:t>
            </a:r>
            <a:r>
              <a:rPr lang="en-US" sz="1100" dirty="0">
                <a:solidFill>
                  <a:srgbClr val="FFFFFF"/>
                </a:solidFill>
                <a:latin typeface="Consolas" pitchFamily="34" charset="0"/>
                <a:ea typeface="Consolas" pitchFamily="34" charset="-122"/>
                <a:cs typeface="Consolas" pitchFamily="34" charset="-120"/>
              </a:rPr>
              <a:t>, args=[</a:t>
            </a:r>
            <a:r>
              <a:rPr lang="en-US" sz="1100" dirty="0">
                <a:solidFill>
                  <a:srgbClr val="A2FCA2"/>
                </a:solidFill>
                <a:latin typeface="Consolas" pitchFamily="34" charset="0"/>
                <a:ea typeface="Consolas" pitchFamily="34" charset="-122"/>
                <a:cs typeface="Consolas" pitchFamily="34" charset="-120"/>
              </a:rPr>
              <a:t>"pricing_server.py"</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t>
            </a:r>
            <a:endParaRPr lang="en-US" sz="1100" dirty="0"/>
          </a:p>
        </p:txBody>
      </p:sp>
      <p:sp>
        <p:nvSpPr>
          <p:cNvPr id="10" name="Shape 7"/>
          <p:cNvSpPr/>
          <p:nvPr/>
        </p:nvSpPr>
        <p:spPr>
          <a:xfrm>
            <a:off x="502920" y="5486400"/>
            <a:ext cx="11155680" cy="457200"/>
          </a:xfrm>
          <a:prstGeom prst="rect">
            <a:avLst/>
          </a:prstGeom>
          <a:solidFill>
            <a:srgbClr val="CCFBF1"/>
          </a:solidFill>
          <a:ln w="12700">
            <a:solidFill>
              <a:srgbClr val="CCFBF1"/>
            </a:solidFill>
            <a:prstDash val="solid"/>
          </a:ln>
        </p:spPr>
      </p:sp>
      <p:sp>
        <p:nvSpPr>
          <p:cNvPr id="11" name="Text 8"/>
          <p:cNvSpPr/>
          <p:nvPr/>
        </p:nvSpPr>
        <p:spPr>
          <a:xfrm>
            <a:off x="640080" y="5532120"/>
            <a:ext cx="10881360" cy="365760"/>
          </a:xfrm>
          <a:prstGeom prst="rect">
            <a:avLst/>
          </a:prstGeom>
          <a:noFill/>
          <a:ln/>
        </p:spPr>
        <p:txBody>
          <a:bodyPr wrap="square" lIns="254" tIns="254" rIns="254" bIns="254" rtlCol="0" anchor="ctr"/>
          <a:lstStyle/>
          <a:p>
            <a:pPr indent="0" marL="0">
              <a:buNone/>
            </a:pPr>
            <a:r>
              <a:rPr lang="en-US" sz="1400" dirty="0">
                <a:solidFill>
                  <a:srgbClr val="1E293B"/>
                </a:solidFill>
                <a:latin typeface="Fira Sans" pitchFamily="34" charset="0"/>
                <a:ea typeface="Fira Sans" pitchFamily="34" charset="-122"/>
                <a:cs typeface="Fira Sans" pitchFamily="34" charset="-120"/>
              </a:rPr>
              <a:t>Module 1 teaches you what's happening inside. Module 2 lets you stop writing it.</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Today's Agenda</a:t>
            </a:r>
            <a:endParaRPr lang="en-US" sz="3000" dirty="0"/>
          </a:p>
        </p:txBody>
      </p:sp>
      <p:sp>
        <p:nvSpPr>
          <p:cNvPr id="4" name="Shape 1"/>
          <p:cNvSpPr/>
          <p:nvPr/>
        </p:nvSpPr>
        <p:spPr>
          <a:xfrm>
            <a:off x="2112264" y="1252728"/>
            <a:ext cx="2286000" cy="5029200"/>
          </a:xfrm>
          <a:prstGeom prst="roundRect">
            <a:avLst>
              <a:gd name="adj" fmla="val 48000"/>
            </a:avLst>
          </a:prstGeom>
          <a:solidFill>
            <a:srgbClr val="C27BA0"/>
          </a:solidFill>
          <a:ln w="12700">
            <a:solidFill>
              <a:srgbClr val="C27BA0"/>
            </a:solidFill>
            <a:prstDash val="solid"/>
          </a:ln>
        </p:spPr>
      </p:sp>
      <p:sp>
        <p:nvSpPr>
          <p:cNvPr id="5" name="Shape 2"/>
          <p:cNvSpPr/>
          <p:nvPr/>
        </p:nvSpPr>
        <p:spPr>
          <a:xfrm>
            <a:off x="2578608" y="1627632"/>
            <a:ext cx="1353312" cy="1353312"/>
          </a:xfrm>
          <a:prstGeom prst="ellipse">
            <a:avLst/>
          </a:prstGeom>
          <a:solidFill>
            <a:srgbClr val="FFFFFF"/>
          </a:solidFill>
          <a:ln w="12700">
            <a:solidFill>
              <a:srgbClr val="FFFFFF"/>
            </a:solidFill>
            <a:prstDash val="solid"/>
          </a:ln>
        </p:spPr>
      </p:sp>
      <p:sp>
        <p:nvSpPr>
          <p:cNvPr id="6" name="Text 3"/>
          <p:cNvSpPr/>
          <p:nvPr/>
        </p:nvSpPr>
        <p:spPr>
          <a:xfrm>
            <a:off x="2578608" y="1627632"/>
            <a:ext cx="1353312" cy="1353312"/>
          </a:xfrm>
          <a:prstGeom prst="rect">
            <a:avLst/>
          </a:prstGeom>
          <a:noFill/>
          <a:ln/>
        </p:spPr>
        <p:txBody>
          <a:bodyPr wrap="square" rtlCol="0" anchor="ctr"/>
          <a:lstStyle/>
          <a:p>
            <a:pPr algn="ctr" indent="0" marL="0">
              <a:buNone/>
            </a:pPr>
            <a:r>
              <a:rPr lang="en-US" sz="6000" b="1" dirty="0">
                <a:solidFill>
                  <a:srgbClr val="C27BA0"/>
                </a:solidFill>
                <a:latin typeface="Fira Sans" pitchFamily="34" charset="0"/>
                <a:ea typeface="Fira Sans" pitchFamily="34" charset="-122"/>
                <a:cs typeface="Fira Sans" pitchFamily="34" charset="-120"/>
              </a:rPr>
              <a:t>1</a:t>
            </a:r>
            <a:endParaRPr lang="en-US" sz="6000" dirty="0"/>
          </a:p>
        </p:txBody>
      </p:sp>
      <p:pic>
        <p:nvPicPr>
          <p:cNvPr id="7" name="Image 1" descr="C:\Users\jeesingh\.copilot\session-state\b8ab4bc6-faf5-4ebd-bea2-f997a4b9a7ea\files\deck\img\x180.png">    </p:cNvPr>
          <p:cNvPicPr>
            <a:picLocks noChangeAspect="1"/>
          </p:cNvPicPr>
          <p:nvPr/>
        </p:nvPicPr>
        <p:blipFill>
          <a:blip r:embed="rId2"/>
          <a:stretch>
            <a:fillRect/>
          </a:stretch>
        </p:blipFill>
        <p:spPr>
          <a:xfrm>
            <a:off x="2889504" y="3611880"/>
            <a:ext cx="731520" cy="731520"/>
          </a:xfrm>
          <a:prstGeom prst="rect">
            <a:avLst/>
          </a:prstGeom>
        </p:spPr>
      </p:pic>
      <p:sp>
        <p:nvSpPr>
          <p:cNvPr id="8" name="Text 4"/>
          <p:cNvSpPr/>
          <p:nvPr/>
        </p:nvSpPr>
        <p:spPr>
          <a:xfrm>
            <a:off x="2203704" y="4754880"/>
            <a:ext cx="2103120" cy="822960"/>
          </a:xfrm>
          <a:prstGeom prst="rect">
            <a:avLst/>
          </a:prstGeom>
          <a:noFill/>
          <a:ln/>
        </p:spPr>
        <p:txBody>
          <a:bodyPr wrap="square" rtlCol="0" anchor="ctr"/>
          <a:lstStyle/>
          <a:p>
            <a:pPr algn="ctr" indent="0" marL="0">
              <a:buNone/>
            </a:pPr>
            <a:r>
              <a:rPr lang="en-US" sz="1600" b="1" dirty="0">
                <a:solidFill>
                  <a:srgbClr val="FFFFFF"/>
                </a:solidFill>
                <a:latin typeface="Fira Sans" pitchFamily="34" charset="0"/>
                <a:ea typeface="Fira Sans" pitchFamily="34" charset="-122"/>
                <a:cs typeface="Fira Sans" pitchFamily="34" charset="-120"/>
              </a:rPr>
              <a:t>MCP - External</a:t>
            </a:r>
            <a:endParaRPr lang="en-US" sz="1600" dirty="0"/>
          </a:p>
          <a:p>
            <a:pPr algn="ctr" indent="0" marL="0">
              <a:buNone/>
            </a:pPr>
            <a:r>
              <a:rPr lang="en-US" sz="1600" b="1" dirty="0">
                <a:solidFill>
                  <a:srgbClr val="FFFFFF"/>
                </a:solidFill>
                <a:latin typeface="Fira Sans" pitchFamily="34" charset="0"/>
                <a:ea typeface="Fira Sans" pitchFamily="34" charset="-122"/>
                <a:cs typeface="Fira Sans" pitchFamily="34" charset="-120"/>
              </a:rPr>
              <a:t>Data for Agents</a:t>
            </a:r>
            <a:endParaRPr lang="en-US" sz="1600" dirty="0"/>
          </a:p>
        </p:txBody>
      </p:sp>
      <p:sp>
        <p:nvSpPr>
          <p:cNvPr id="9" name="Shape 5"/>
          <p:cNvSpPr/>
          <p:nvPr/>
        </p:nvSpPr>
        <p:spPr>
          <a:xfrm>
            <a:off x="7808976" y="1252728"/>
            <a:ext cx="2286000" cy="5029200"/>
          </a:xfrm>
          <a:prstGeom prst="roundRect">
            <a:avLst>
              <a:gd name="adj" fmla="val 48000"/>
            </a:avLst>
          </a:prstGeom>
          <a:solidFill>
            <a:srgbClr val="1FC2BA"/>
          </a:solidFill>
          <a:ln w="12700">
            <a:solidFill>
              <a:srgbClr val="1FC2BA"/>
            </a:solidFill>
            <a:prstDash val="solid"/>
          </a:ln>
        </p:spPr>
      </p:sp>
      <p:sp>
        <p:nvSpPr>
          <p:cNvPr id="10" name="Shape 6"/>
          <p:cNvSpPr/>
          <p:nvPr/>
        </p:nvSpPr>
        <p:spPr>
          <a:xfrm>
            <a:off x="8275320" y="1627632"/>
            <a:ext cx="1353312" cy="1353312"/>
          </a:xfrm>
          <a:prstGeom prst="ellipse">
            <a:avLst/>
          </a:prstGeom>
          <a:solidFill>
            <a:srgbClr val="FFFFFF"/>
          </a:solidFill>
          <a:ln w="12700">
            <a:solidFill>
              <a:srgbClr val="FFFFFF"/>
            </a:solidFill>
            <a:prstDash val="solid"/>
          </a:ln>
        </p:spPr>
      </p:sp>
      <p:sp>
        <p:nvSpPr>
          <p:cNvPr id="11" name="Text 7"/>
          <p:cNvSpPr/>
          <p:nvPr/>
        </p:nvSpPr>
        <p:spPr>
          <a:xfrm>
            <a:off x="8275320" y="1627632"/>
            <a:ext cx="1353312" cy="1353312"/>
          </a:xfrm>
          <a:prstGeom prst="rect">
            <a:avLst/>
          </a:prstGeom>
          <a:noFill/>
          <a:ln/>
        </p:spPr>
        <p:txBody>
          <a:bodyPr wrap="square" rtlCol="0" anchor="ctr"/>
          <a:lstStyle/>
          <a:p>
            <a:pPr algn="ctr" indent="0" marL="0">
              <a:buNone/>
            </a:pPr>
            <a:r>
              <a:rPr lang="en-US" sz="6000" b="1" dirty="0">
                <a:solidFill>
                  <a:srgbClr val="1FC2BA"/>
                </a:solidFill>
                <a:latin typeface="Fira Sans" pitchFamily="34" charset="0"/>
                <a:ea typeface="Fira Sans" pitchFamily="34" charset="-122"/>
                <a:cs typeface="Fira Sans" pitchFamily="34" charset="-120"/>
              </a:rPr>
              <a:t>2</a:t>
            </a:r>
            <a:endParaRPr lang="en-US" sz="6000" dirty="0"/>
          </a:p>
        </p:txBody>
      </p:sp>
      <p:pic>
        <p:nvPicPr>
          <p:cNvPr id="12" name="Image 2" descr="C:\Users\jeesingh\.copilot\session-state\b8ab4bc6-faf5-4ebd-bea2-f997a4b9a7ea\files\deck\img\x181.png">    </p:cNvPr>
          <p:cNvPicPr>
            <a:picLocks noChangeAspect="1"/>
          </p:cNvPicPr>
          <p:nvPr/>
        </p:nvPicPr>
        <p:blipFill>
          <a:blip r:embed="rId3"/>
          <a:stretch>
            <a:fillRect/>
          </a:stretch>
        </p:blipFill>
        <p:spPr>
          <a:xfrm>
            <a:off x="8586216" y="3611880"/>
            <a:ext cx="731520" cy="731520"/>
          </a:xfrm>
          <a:prstGeom prst="rect">
            <a:avLst/>
          </a:prstGeom>
        </p:spPr>
      </p:pic>
      <p:sp>
        <p:nvSpPr>
          <p:cNvPr id="13" name="Text 8"/>
          <p:cNvSpPr/>
          <p:nvPr/>
        </p:nvSpPr>
        <p:spPr>
          <a:xfrm>
            <a:off x="7900416" y="4754880"/>
            <a:ext cx="2103120" cy="822960"/>
          </a:xfrm>
          <a:prstGeom prst="rect">
            <a:avLst/>
          </a:prstGeom>
          <a:noFill/>
          <a:ln/>
        </p:spPr>
        <p:txBody>
          <a:bodyPr wrap="square" rtlCol="0" anchor="ctr"/>
          <a:lstStyle/>
          <a:p>
            <a:pPr algn="ctr" indent="0" marL="0">
              <a:buNone/>
            </a:pPr>
            <a:r>
              <a:rPr lang="en-US" sz="1600" b="1" dirty="0">
                <a:solidFill>
                  <a:srgbClr val="FFFFFF"/>
                </a:solidFill>
                <a:latin typeface="Fira Sans" pitchFamily="34" charset="0"/>
                <a:ea typeface="Fira Sans" pitchFamily="34" charset="-122"/>
                <a:cs typeface="Fira Sans" pitchFamily="34" charset="-120"/>
              </a:rPr>
              <a:t>Google ADK + A2A</a:t>
            </a:r>
            <a:endParaRPr lang="en-US" sz="1600" dirty="0"/>
          </a:p>
          <a:p>
            <a:pPr algn="ctr" indent="0" marL="0">
              <a:buNone/>
            </a:pPr>
            <a:r>
              <a:rPr lang="en-US" sz="1600" b="1" dirty="0">
                <a:solidFill>
                  <a:srgbClr val="FFFFFF"/>
                </a:solidFill>
                <a:latin typeface="Fira Sans" pitchFamily="34" charset="0"/>
                <a:ea typeface="Fira Sans" pitchFamily="34" charset="-122"/>
                <a:cs typeface="Fira Sans" pitchFamily="34" charset="-120"/>
              </a:rPr>
              <a:t>Protocol</a:t>
            </a:r>
            <a:endParaRPr lang="en-US" sz="1600" dirty="0"/>
          </a:p>
        </p:txBody>
      </p:sp>
      <p:pic>
        <p:nvPicPr>
          <p:cNvPr id="14" name="Image 3" descr="C:\Users\jeesingh\.copilot\session-state\b8ab4bc6-faf5-4ebd-bea2-f997a4b9a7ea\files\deck\img\x179.png">    </p:cNvPr>
          <p:cNvPicPr>
            <a:picLocks noChangeAspect="1"/>
          </p:cNvPicPr>
          <p:nvPr/>
        </p:nvPicPr>
        <p:blipFill>
          <a:blip r:embed="rId4"/>
          <a:stretch>
            <a:fillRect/>
          </a:stretch>
        </p:blipFill>
        <p:spPr>
          <a:xfrm>
            <a:off x="8723376" y="735823"/>
            <a:ext cx="457200" cy="430306"/>
          </a:xfrm>
          <a:prstGeom prst="rect">
            <a:avLst/>
          </a:prstGeom>
        </p:spPr>
      </p:pic>
      <p:sp>
        <p:nvSpPr>
          <p:cNvPr id="15" name="Shape 9"/>
          <p:cNvSpPr/>
          <p:nvPr/>
        </p:nvSpPr>
        <p:spPr>
          <a:xfrm>
            <a:off x="6099048" y="1280160"/>
            <a:ext cx="0" cy="4937760"/>
          </a:xfrm>
          <a:prstGeom prst="line">
            <a:avLst/>
          </a:prstGeom>
          <a:noFill/>
          <a:ln w="19050">
            <a:solidFill>
              <a:srgbClr val="E11D48"/>
            </a:solidFill>
            <a:prstDash val="solid"/>
          </a:ln>
        </p:spPr>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Google ADK + A2A Protocol</a:t>
            </a:r>
            <a:endParaRPr lang="en-US" sz="3000" dirty="0"/>
          </a:p>
        </p:txBody>
      </p:sp>
      <p:sp>
        <p:nvSpPr>
          <p:cNvPr id="4" name="Text 1"/>
          <p:cNvSpPr/>
          <p:nvPr/>
        </p:nvSpPr>
        <p:spPr>
          <a:xfrm>
            <a:off x="502920" y="868680"/>
            <a:ext cx="10972800" cy="365760"/>
          </a:xfrm>
          <a:prstGeom prst="rect">
            <a:avLst/>
          </a:prstGeom>
          <a:noFill/>
          <a:ln/>
        </p:spPr>
        <p:txBody>
          <a:bodyPr wrap="square" rtlCol="0" anchor="ctr"/>
          <a:lstStyle/>
          <a:p>
            <a:pPr indent="0" marL="0">
              <a:buNone/>
            </a:pPr>
            <a:r>
              <a:rPr lang="en-US" sz="1500" b="1" dirty="0">
                <a:solidFill>
                  <a:srgbClr val="FFAB40"/>
                </a:solidFill>
                <a:latin typeface="Fira Sans" pitchFamily="34" charset="0"/>
                <a:ea typeface="Fira Sans" pitchFamily="34" charset="-122"/>
                <a:cs typeface="Fira Sans" pitchFamily="34" charset="-120"/>
              </a:rPr>
              <a:t>The goal: </a:t>
            </a:r>
            <a:r>
              <a:rPr lang="en-US" sz="1500" i="1" dirty="0">
                <a:solidFill>
                  <a:srgbClr val="FFFFFF"/>
                </a:solidFill>
                <a:latin typeface="Fira Sans" pitchFamily="34" charset="0"/>
                <a:ea typeface="Fira Sans" pitchFamily="34" charset="-122"/>
                <a:cs typeface="Fira Sans" pitchFamily="34" charset="-120"/>
              </a:rPr>
              <a:t>Build a complete multi-agent negotiation system using Google ADK</a:t>
            </a:r>
            <a:endParaRPr lang="en-US" sz="1500" dirty="0"/>
          </a:p>
        </p:txBody>
      </p:sp>
      <p:sp>
        <p:nvSpPr>
          <p:cNvPr id="5" name="Text 2"/>
          <p:cNvSpPr/>
          <p:nvPr/>
        </p:nvSpPr>
        <p:spPr>
          <a:xfrm>
            <a:off x="502920" y="1417320"/>
            <a:ext cx="4754880" cy="365760"/>
          </a:xfrm>
          <a:prstGeom prst="rect">
            <a:avLst/>
          </a:prstGeom>
          <a:noFill/>
          <a:ln/>
        </p:spPr>
        <p:txBody>
          <a:bodyPr wrap="square" lIns="635" tIns="635" rIns="635" bIns="635" rtlCol="0" anchor="t"/>
          <a:lstStyle/>
          <a:p>
            <a:pPr algn="l" indent="0" marL="0">
              <a:buNone/>
            </a:pPr>
            <a:r>
              <a:rPr lang="en-US" sz="1500" b="1" dirty="0">
                <a:solidFill>
                  <a:srgbClr val="FFFFFF"/>
                </a:solidFill>
                <a:latin typeface="Fira Sans" pitchFamily="34" charset="0"/>
                <a:ea typeface="Fira Sans" pitchFamily="34" charset="-122"/>
                <a:cs typeface="Fira Sans" pitchFamily="34" charset="-120"/>
              </a:rPr>
              <a:t>By the end of this module you'll have:</a:t>
            </a:r>
            <a:endParaRPr lang="en-US" sz="1500" dirty="0"/>
          </a:p>
        </p:txBody>
      </p:sp>
      <p:sp>
        <p:nvSpPr>
          <p:cNvPr id="6" name="Text 3"/>
          <p:cNvSpPr/>
          <p:nvPr/>
        </p:nvSpPr>
        <p:spPr>
          <a:xfrm>
            <a:off x="502920" y="1828800"/>
            <a:ext cx="4572000" cy="3291840"/>
          </a:xfrm>
          <a:prstGeom prst="rect">
            <a:avLst/>
          </a:prstGeom>
          <a:noFill/>
          <a:ln/>
        </p:spPr>
        <p:txBody>
          <a:bodyPr wrap="square" lIns="635" tIns="635" rIns="635" bIns="635" rtlCol="0" anchor="t"/>
          <a:lstStyle/>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A buyer agent with MCP pricing tools</a:t>
            </a:r>
            <a:endParaRPr lang="en-US" sz="1500" dirty="0"/>
          </a:p>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A seller agent with MCP pricing + inventory tools (information asymmetry)</a:t>
            </a:r>
            <a:endParaRPr lang="en-US" sz="1500" dirty="0"/>
          </a:p>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A negotiation orchestrator that runs multi-round buyer ↔ seller negotiation</a:t>
            </a:r>
            <a:endParaRPr lang="en-US" sz="1500" dirty="0"/>
          </a:p>
          <a:p>
            <a:pPr lvl="1" marL="685800" indent="-342900">
              <a:spcAft>
                <a:spcPts val="1000"/>
              </a:spcAft>
              <a:buSzPct val="100000"/>
              <a:buChar char="•"/>
            </a:pPr>
            <a:r>
              <a:rPr lang="en-US" sz="1500" dirty="0">
                <a:solidFill>
                  <a:srgbClr val="FFFFFF"/>
                </a:solidFill>
                <a:latin typeface="Fira Sans" pitchFamily="34" charset="0"/>
                <a:ea typeface="Fira Sans" pitchFamily="34" charset="-122"/>
                <a:cs typeface="Fira Sans" pitchFamily="34" charset="-120"/>
              </a:rPr>
              <a:t>Buyer and seller exposed as A2A network services with Agent Cards (agent.json)</a:t>
            </a:r>
            <a:endParaRPr lang="en-US" sz="1500" dirty="0"/>
          </a:p>
        </p:txBody>
      </p:sp>
      <p:sp>
        <p:nvSpPr>
          <p:cNvPr id="7" name="Shape 4"/>
          <p:cNvSpPr/>
          <p:nvPr/>
        </p:nvSpPr>
        <p:spPr>
          <a:xfrm>
            <a:off x="5349240" y="1417320"/>
            <a:ext cx="2011680" cy="3108960"/>
          </a:xfrm>
          <a:prstGeom prst="roundRect">
            <a:avLst>
              <a:gd name="adj" fmla="val 6818"/>
            </a:avLst>
          </a:prstGeom>
          <a:solidFill>
            <a:srgbClr val="DBEAFE"/>
          </a:solidFill>
          <a:ln w="19050">
            <a:solidFill>
              <a:srgbClr val="2563EB"/>
            </a:solidFill>
            <a:prstDash val="solid"/>
          </a:ln>
        </p:spPr>
      </p:sp>
      <p:sp>
        <p:nvSpPr>
          <p:cNvPr id="8" name="Text 5"/>
          <p:cNvSpPr/>
          <p:nvPr/>
        </p:nvSpPr>
        <p:spPr>
          <a:xfrm>
            <a:off x="5349240" y="1490472"/>
            <a:ext cx="2011680" cy="411480"/>
          </a:xfrm>
          <a:prstGeom prst="rect">
            <a:avLst/>
          </a:prstGeom>
          <a:noFill/>
          <a:ln/>
        </p:spPr>
        <p:txBody>
          <a:bodyPr wrap="square" rtlCol="0" anchor="ctr"/>
          <a:lstStyle/>
          <a:p>
            <a:pPr algn="ctr" indent="0" marL="0">
              <a:buNone/>
            </a:pPr>
            <a:r>
              <a:rPr lang="en-US" sz="1700" b="1" dirty="0">
                <a:solidFill>
                  <a:srgbClr val="2563EB"/>
                </a:solidFill>
                <a:latin typeface="Fira Sans" pitchFamily="34" charset="0"/>
                <a:ea typeface="Fira Sans" pitchFamily="34" charset="-122"/>
                <a:cs typeface="Fira Sans" pitchFamily="34" charset="-120"/>
              </a:rPr>
              <a:t>buyer</a:t>
            </a:r>
            <a:endParaRPr lang="en-US" sz="1700" dirty="0"/>
          </a:p>
        </p:txBody>
      </p:sp>
      <p:sp>
        <p:nvSpPr>
          <p:cNvPr id="9" name="Shape 6"/>
          <p:cNvSpPr/>
          <p:nvPr/>
        </p:nvSpPr>
        <p:spPr>
          <a:xfrm>
            <a:off x="5532120" y="1965960"/>
            <a:ext cx="1645920" cy="384048"/>
          </a:xfrm>
          <a:prstGeom prst="roundRect">
            <a:avLst>
              <a:gd name="adj" fmla="val 19048"/>
            </a:avLst>
          </a:prstGeom>
          <a:solidFill>
            <a:srgbClr val="FFFFFF"/>
          </a:solidFill>
          <a:ln w="12700">
            <a:solidFill>
              <a:srgbClr val="2563EB"/>
            </a:solidFill>
            <a:prstDash val="solid"/>
          </a:ln>
        </p:spPr>
      </p:sp>
      <p:sp>
        <p:nvSpPr>
          <p:cNvPr id="10" name="Text 7"/>
          <p:cNvSpPr/>
          <p:nvPr/>
        </p:nvSpPr>
        <p:spPr>
          <a:xfrm>
            <a:off x="5532120" y="1965960"/>
            <a:ext cx="1645920" cy="384048"/>
          </a:xfrm>
          <a:prstGeom prst="rect">
            <a:avLst/>
          </a:prstGeom>
          <a:noFill/>
          <a:ln/>
        </p:spPr>
        <p:txBody>
          <a:bodyPr wrap="square" rtlCol="0" anchor="ctr"/>
          <a:lstStyle/>
          <a:p>
            <a:pPr algn="ctr" indent="0" marL="0">
              <a:buNone/>
            </a:pPr>
            <a:r>
              <a:rPr lang="en-US" sz="1300" b="1" dirty="0">
                <a:solidFill>
                  <a:srgbClr val="2563EB"/>
                </a:solidFill>
                <a:latin typeface="Fira Sans" pitchFamily="34" charset="0"/>
                <a:ea typeface="Fira Sans" pitchFamily="34" charset="-122"/>
                <a:cs typeface="Fira Sans" pitchFamily="34" charset="-120"/>
              </a:rPr>
              <a:t>LlmAgent</a:t>
            </a:r>
            <a:endParaRPr lang="en-US" sz="1300" dirty="0"/>
          </a:p>
        </p:txBody>
      </p:sp>
      <p:sp>
        <p:nvSpPr>
          <p:cNvPr id="11" name="Text 8"/>
          <p:cNvSpPr/>
          <p:nvPr/>
        </p:nvSpPr>
        <p:spPr>
          <a:xfrm>
            <a:off x="5440680" y="2468880"/>
            <a:ext cx="1828800" cy="1920240"/>
          </a:xfrm>
          <a:prstGeom prst="rect">
            <a:avLst/>
          </a:prstGeom>
          <a:noFill/>
          <a:ln/>
        </p:spPr>
        <p:txBody>
          <a:bodyPr wrap="square" rtlCol="0" anchor="t"/>
          <a:lstStyle/>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 McpToolset ×1</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pricing tools + submit_offer</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include_contents=</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"none"</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can't see the floor</a:t>
            </a:r>
            <a:endParaRPr lang="en-US" sz="1150" dirty="0"/>
          </a:p>
        </p:txBody>
      </p:sp>
      <p:sp>
        <p:nvSpPr>
          <p:cNvPr id="12" name="Shape 9"/>
          <p:cNvSpPr/>
          <p:nvPr/>
        </p:nvSpPr>
        <p:spPr>
          <a:xfrm>
            <a:off x="7525512" y="1417320"/>
            <a:ext cx="2011680" cy="3108960"/>
          </a:xfrm>
          <a:prstGeom prst="roundRect">
            <a:avLst>
              <a:gd name="adj" fmla="val 6818"/>
            </a:avLst>
          </a:prstGeom>
          <a:solidFill>
            <a:srgbClr val="DCFCE7"/>
          </a:solidFill>
          <a:ln w="19050">
            <a:solidFill>
              <a:srgbClr val="15803D"/>
            </a:solidFill>
            <a:prstDash val="solid"/>
          </a:ln>
        </p:spPr>
      </p:sp>
      <p:sp>
        <p:nvSpPr>
          <p:cNvPr id="13" name="Text 10"/>
          <p:cNvSpPr/>
          <p:nvPr/>
        </p:nvSpPr>
        <p:spPr>
          <a:xfrm>
            <a:off x="7525512" y="1490472"/>
            <a:ext cx="2011680" cy="411480"/>
          </a:xfrm>
          <a:prstGeom prst="rect">
            <a:avLst/>
          </a:prstGeom>
          <a:noFill/>
          <a:ln/>
        </p:spPr>
        <p:txBody>
          <a:bodyPr wrap="square" rtlCol="0" anchor="ctr"/>
          <a:lstStyle/>
          <a:p>
            <a:pPr algn="ctr" indent="0" marL="0">
              <a:buNone/>
            </a:pPr>
            <a:r>
              <a:rPr lang="en-US" sz="1700" b="1" dirty="0">
                <a:solidFill>
                  <a:srgbClr val="15803D"/>
                </a:solidFill>
                <a:latin typeface="Fira Sans" pitchFamily="34" charset="0"/>
                <a:ea typeface="Fira Sans" pitchFamily="34" charset="-122"/>
                <a:cs typeface="Fira Sans" pitchFamily="34" charset="-120"/>
              </a:rPr>
              <a:t>seller</a:t>
            </a:r>
            <a:endParaRPr lang="en-US" sz="1700" dirty="0"/>
          </a:p>
        </p:txBody>
      </p:sp>
      <p:sp>
        <p:nvSpPr>
          <p:cNvPr id="14" name="Shape 11"/>
          <p:cNvSpPr/>
          <p:nvPr/>
        </p:nvSpPr>
        <p:spPr>
          <a:xfrm>
            <a:off x="7708392" y="1965960"/>
            <a:ext cx="1645920" cy="384048"/>
          </a:xfrm>
          <a:prstGeom prst="roundRect">
            <a:avLst>
              <a:gd name="adj" fmla="val 19048"/>
            </a:avLst>
          </a:prstGeom>
          <a:solidFill>
            <a:srgbClr val="FFFFFF"/>
          </a:solidFill>
          <a:ln w="12700">
            <a:solidFill>
              <a:srgbClr val="15803D"/>
            </a:solidFill>
            <a:prstDash val="solid"/>
          </a:ln>
        </p:spPr>
      </p:sp>
      <p:sp>
        <p:nvSpPr>
          <p:cNvPr id="15" name="Text 12"/>
          <p:cNvSpPr/>
          <p:nvPr/>
        </p:nvSpPr>
        <p:spPr>
          <a:xfrm>
            <a:off x="7708392" y="1965960"/>
            <a:ext cx="1645920" cy="384048"/>
          </a:xfrm>
          <a:prstGeom prst="rect">
            <a:avLst/>
          </a:prstGeom>
          <a:noFill/>
          <a:ln/>
        </p:spPr>
        <p:txBody>
          <a:bodyPr wrap="square" rtlCol="0" anchor="ctr"/>
          <a:lstStyle/>
          <a:p>
            <a:pPr algn="ctr" indent="0" marL="0">
              <a:buNone/>
            </a:pPr>
            <a:r>
              <a:rPr lang="en-US" sz="1300" b="1" dirty="0">
                <a:solidFill>
                  <a:srgbClr val="15803D"/>
                </a:solidFill>
                <a:latin typeface="Fira Sans" pitchFamily="34" charset="0"/>
                <a:ea typeface="Fira Sans" pitchFamily="34" charset="-122"/>
                <a:cs typeface="Fira Sans" pitchFamily="34" charset="-120"/>
              </a:rPr>
              <a:t>LlmAgent</a:t>
            </a:r>
            <a:endParaRPr lang="en-US" sz="1300" dirty="0"/>
          </a:p>
        </p:txBody>
      </p:sp>
      <p:sp>
        <p:nvSpPr>
          <p:cNvPr id="16" name="Text 13"/>
          <p:cNvSpPr/>
          <p:nvPr/>
        </p:nvSpPr>
        <p:spPr>
          <a:xfrm>
            <a:off x="7616952" y="2468880"/>
            <a:ext cx="1828800" cy="1920240"/>
          </a:xfrm>
          <a:prstGeom prst="rect">
            <a:avLst/>
          </a:prstGeom>
          <a:noFill/>
          <a:ln/>
        </p:spPr>
        <p:txBody>
          <a:bodyPr wrap="square" rtlCol="0" anchor="t"/>
          <a:lstStyle/>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 McpToolset ×2</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pricing + inventory</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sees the floor price</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 submit_decision</a:t>
            </a:r>
            <a:endParaRPr lang="en-US" sz="1150" dirty="0"/>
          </a:p>
        </p:txBody>
      </p:sp>
      <p:sp>
        <p:nvSpPr>
          <p:cNvPr id="17" name="Shape 14"/>
          <p:cNvSpPr/>
          <p:nvPr/>
        </p:nvSpPr>
        <p:spPr>
          <a:xfrm>
            <a:off x="9701784" y="1417320"/>
            <a:ext cx="2011680" cy="3108960"/>
          </a:xfrm>
          <a:prstGeom prst="roundRect">
            <a:avLst>
              <a:gd name="adj" fmla="val 6818"/>
            </a:avLst>
          </a:prstGeom>
          <a:solidFill>
            <a:srgbClr val="EDE9FE"/>
          </a:solidFill>
          <a:ln w="19050">
            <a:solidFill>
              <a:srgbClr val="7C3AED"/>
            </a:solidFill>
            <a:prstDash val="solid"/>
          </a:ln>
        </p:spPr>
      </p:sp>
      <p:sp>
        <p:nvSpPr>
          <p:cNvPr id="18" name="Text 15"/>
          <p:cNvSpPr/>
          <p:nvPr/>
        </p:nvSpPr>
        <p:spPr>
          <a:xfrm>
            <a:off x="9701784" y="1490472"/>
            <a:ext cx="2011680" cy="411480"/>
          </a:xfrm>
          <a:prstGeom prst="rect">
            <a:avLst/>
          </a:prstGeom>
          <a:noFill/>
          <a:ln/>
        </p:spPr>
        <p:txBody>
          <a:bodyPr wrap="square" rtlCol="0" anchor="ctr"/>
          <a:lstStyle/>
          <a:p>
            <a:pPr algn="ctr" indent="0" marL="0">
              <a:buNone/>
            </a:pPr>
            <a:r>
              <a:rPr lang="en-US" sz="1700" b="1" dirty="0">
                <a:solidFill>
                  <a:srgbClr val="7C3AED"/>
                </a:solidFill>
                <a:latin typeface="Fira Sans" pitchFamily="34" charset="0"/>
                <a:ea typeface="Fira Sans" pitchFamily="34" charset="-122"/>
                <a:cs typeface="Fira Sans" pitchFamily="34" charset="-120"/>
              </a:rPr>
              <a:t>negotiation</a:t>
            </a:r>
            <a:endParaRPr lang="en-US" sz="1700" dirty="0"/>
          </a:p>
        </p:txBody>
      </p:sp>
      <p:sp>
        <p:nvSpPr>
          <p:cNvPr id="19" name="Shape 16"/>
          <p:cNvSpPr/>
          <p:nvPr/>
        </p:nvSpPr>
        <p:spPr>
          <a:xfrm>
            <a:off x="9884664" y="1965960"/>
            <a:ext cx="1645920" cy="384048"/>
          </a:xfrm>
          <a:prstGeom prst="roundRect">
            <a:avLst>
              <a:gd name="adj" fmla="val 19048"/>
            </a:avLst>
          </a:prstGeom>
          <a:solidFill>
            <a:srgbClr val="FFFFFF"/>
          </a:solidFill>
          <a:ln w="12700">
            <a:solidFill>
              <a:srgbClr val="7C3AED"/>
            </a:solidFill>
            <a:prstDash val="solid"/>
          </a:ln>
        </p:spPr>
      </p:sp>
      <p:sp>
        <p:nvSpPr>
          <p:cNvPr id="20" name="Text 17"/>
          <p:cNvSpPr/>
          <p:nvPr/>
        </p:nvSpPr>
        <p:spPr>
          <a:xfrm>
            <a:off x="9884664" y="1965960"/>
            <a:ext cx="1645920" cy="384048"/>
          </a:xfrm>
          <a:prstGeom prst="rect">
            <a:avLst/>
          </a:prstGeom>
          <a:noFill/>
          <a:ln/>
        </p:spPr>
        <p:txBody>
          <a:bodyPr wrap="square" rtlCol="0" anchor="ctr"/>
          <a:lstStyle/>
          <a:p>
            <a:pPr algn="ctr" indent="0" marL="0">
              <a:buNone/>
            </a:pPr>
            <a:r>
              <a:rPr lang="en-US" sz="1300" b="1" dirty="0">
                <a:solidFill>
                  <a:srgbClr val="7C3AED"/>
                </a:solidFill>
                <a:latin typeface="Fira Sans" pitchFamily="34" charset="0"/>
                <a:ea typeface="Fira Sans" pitchFamily="34" charset="-122"/>
                <a:cs typeface="Fira Sans" pitchFamily="34" charset="-120"/>
              </a:rPr>
              <a:t>LoopAgent</a:t>
            </a:r>
            <a:endParaRPr lang="en-US" sz="1300" dirty="0"/>
          </a:p>
        </p:txBody>
      </p:sp>
      <p:sp>
        <p:nvSpPr>
          <p:cNvPr id="21" name="Text 18"/>
          <p:cNvSpPr/>
          <p:nvPr/>
        </p:nvSpPr>
        <p:spPr>
          <a:xfrm>
            <a:off x="9793224" y="2468880"/>
            <a:ext cx="1828800" cy="1920240"/>
          </a:xfrm>
          <a:prstGeom prst="rect">
            <a:avLst/>
          </a:prstGeom>
          <a:noFill/>
          <a:ln/>
        </p:spPr>
        <p:txBody>
          <a:bodyPr wrap="square" rtlCol="0" anchor="t"/>
          <a:lstStyle/>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max_iterations = 5</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SequentialAgent</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buyer → seller</a:t>
            </a:r>
            <a:endParaRPr lang="en-US" sz="1150" dirty="0"/>
          </a:p>
          <a:p>
            <a:pPr algn="ctr" indent="0" marL="0">
              <a:spcAft>
                <a:spcPts val="400"/>
              </a:spcAft>
              <a:buNone/>
            </a:pPr>
            <a:r>
              <a:rPr lang="en-US" sz="1150" dirty="0">
                <a:solidFill>
                  <a:srgbClr val="1E293B"/>
                </a:solidFill>
                <a:latin typeface="Fira Sans" pitchFamily="34" charset="0"/>
                <a:ea typeface="Fira Sans" pitchFamily="34" charset="-122"/>
                <a:cs typeface="Fira Sans" pitchFamily="34" charset="-120"/>
              </a:rPr>
              <a:t>escalate on ACCEPT</a:t>
            </a:r>
            <a:endParaRPr lang="en-US" sz="1150" dirty="0"/>
          </a:p>
        </p:txBody>
      </p:sp>
      <p:sp>
        <p:nvSpPr>
          <p:cNvPr id="22" name="Shape 19"/>
          <p:cNvSpPr/>
          <p:nvPr/>
        </p:nvSpPr>
        <p:spPr>
          <a:xfrm>
            <a:off x="5349240" y="4709160"/>
            <a:ext cx="6364224" cy="1417320"/>
          </a:xfrm>
          <a:prstGeom prst="roundRect">
            <a:avLst>
              <a:gd name="adj" fmla="val 7742"/>
            </a:avLst>
          </a:prstGeom>
          <a:solidFill>
            <a:srgbClr val="FEF3C7"/>
          </a:solidFill>
          <a:ln w="12700">
            <a:solidFill>
              <a:srgbClr val="D97706"/>
            </a:solidFill>
            <a:prstDash val="solid"/>
          </a:ln>
        </p:spPr>
      </p:sp>
      <p:sp>
        <p:nvSpPr>
          <p:cNvPr id="23" name="Text 20"/>
          <p:cNvSpPr/>
          <p:nvPr/>
        </p:nvSpPr>
        <p:spPr>
          <a:xfrm>
            <a:off x="5486400" y="4754880"/>
            <a:ext cx="6089904" cy="1325880"/>
          </a:xfrm>
          <a:prstGeom prst="rect">
            <a:avLst/>
          </a:prstGeom>
          <a:noFill/>
          <a:ln/>
        </p:spPr>
        <p:txBody>
          <a:bodyPr wrap="square" rtlCol="0" anchor="ctr"/>
          <a:lstStyle/>
          <a:p>
            <a:pPr indent="0" marL="0">
              <a:buNone/>
            </a:pPr>
            <a:r>
              <a:rPr lang="en-US" sz="1050" b="1" dirty="0">
                <a:solidFill>
                  <a:srgbClr val="92400E"/>
                </a:solidFill>
                <a:latin typeface="Consolas" pitchFamily="34" charset="0"/>
                <a:ea typeface="Consolas" pitchFamily="34" charset="-122"/>
                <a:cs typeface="Consolas" pitchFamily="34" charset="-120"/>
              </a:rPr>
              <a:t>Run any of these:</a:t>
            </a:r>
            <a:endParaRPr lang="en-US" sz="1050" dirty="0"/>
          </a:p>
          <a:p>
            <a:pPr indent="0" marL="0">
              <a:buNone/>
            </a:pPr>
            <a:r>
              <a:rPr lang="en-US" sz="1050" dirty="0">
                <a:solidFill>
                  <a:srgbClr val="1E293B"/>
                </a:solidFill>
                <a:latin typeface="Consolas" pitchFamily="34" charset="0"/>
                <a:ea typeface="Consolas" pitchFamily="34" charset="-122"/>
                <a:cs typeface="Consolas" pitchFamily="34" charset="-120"/>
              </a:rPr>
              <a:t>adk web negotiation_agents/          → chat with each agent</a:t>
            </a:r>
            <a:endParaRPr lang="en-US" sz="1050" dirty="0"/>
          </a:p>
          <a:p>
            <a:pPr indent="0" marL="0">
              <a:buNone/>
            </a:pPr>
            <a:r>
              <a:rPr lang="en-US" sz="1050" dirty="0">
                <a:solidFill>
                  <a:srgbClr val="1E293B"/>
                </a:solidFill>
                <a:latin typeface="Consolas" pitchFamily="34" charset="0"/>
                <a:ea typeface="Consolas" pitchFamily="34" charset="-122"/>
                <a:cs typeface="Consolas" pitchFamily="34" charset="-120"/>
              </a:rPr>
              <a:t>adk web --a2a negotiation_agents/    → same + Agent Cards</a:t>
            </a:r>
            <a:endParaRPr lang="en-US" sz="1050" dirty="0"/>
          </a:p>
          <a:p>
            <a:pPr indent="0" marL="0">
              <a:buNone/>
            </a:pPr>
            <a:r>
              <a:rPr lang="en-US" sz="1050" dirty="0">
                <a:solidFill>
                  <a:srgbClr val="1E293B"/>
                </a:solidFill>
                <a:latin typeface="Consolas" pitchFamily="34" charset="0"/>
                <a:ea typeface="Consolas" pitchFamily="34" charset="-122"/>
                <a:cs typeface="Consolas" pitchFamily="34" charset="-120"/>
              </a:rPr>
              <a:t>python a2a_demos/a2a_13_orchestrated_negotiation.py  → full A2A loop</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negotiation_agents/: </a:t>
            </a:r>
            <a:r>
              <a:rPr lang="en-US" sz="3000" b="1" dirty="0">
                <a:solidFill>
                  <a:srgbClr val="FFFFFF"/>
                </a:solidFill>
                <a:latin typeface="Fira Sans" pitchFamily="34" charset="0"/>
                <a:ea typeface="Fira Sans" pitchFamily="34" charset="-122"/>
                <a:cs typeface="Fira Sans" pitchFamily="34" charset="-120"/>
              </a:rPr>
              <a:t>The Heart of Module 2</a:t>
            </a:r>
            <a:endParaRPr lang="en-US" sz="3000" dirty="0"/>
          </a:p>
        </p:txBody>
      </p:sp>
      <p:sp>
        <p:nvSpPr>
          <p:cNvPr id="4" name="Shape 1"/>
          <p:cNvSpPr/>
          <p:nvPr/>
        </p:nvSpPr>
        <p:spPr>
          <a:xfrm>
            <a:off x="822960" y="960120"/>
            <a:ext cx="10698480" cy="1463040"/>
          </a:xfrm>
          <a:prstGeom prst="rect">
            <a:avLst/>
          </a:prstGeom>
          <a:solidFill>
            <a:srgbClr val="F1F5F9"/>
          </a:solidFill>
          <a:ln w="12700">
            <a:solidFill>
              <a:srgbClr val="F1F5F9"/>
            </a:solidFill>
            <a:prstDash val="solid"/>
          </a:ln>
        </p:spPr>
      </p:sp>
      <p:sp>
        <p:nvSpPr>
          <p:cNvPr id="5" name="Text 2"/>
          <p:cNvSpPr/>
          <p:nvPr/>
        </p:nvSpPr>
        <p:spPr>
          <a:xfrm>
            <a:off x="914400" y="960120"/>
            <a:ext cx="10515600" cy="1463040"/>
          </a:xfrm>
          <a:prstGeom prst="rect">
            <a:avLst/>
          </a:prstGeom>
          <a:noFill/>
          <a:ln/>
        </p:spPr>
        <p:txBody>
          <a:bodyPr wrap="square" lIns="381" tIns="381" rIns="381" bIns="381" rtlCol="0" anchor="ctr"/>
          <a:lstStyle/>
          <a:p>
            <a:pPr indent="0" marL="0">
              <a:buNone/>
            </a:pPr>
            <a:r>
              <a:rPr lang="en-US" sz="1400" dirty="0">
                <a:solidFill>
                  <a:srgbClr val="0F172A"/>
                </a:solidFill>
                <a:latin typeface="Consolas" pitchFamily="34" charset="0"/>
                <a:ea typeface="Consolas" pitchFamily="34" charset="-122"/>
                <a:cs typeface="Consolas" pitchFamily="34" charset="-120"/>
              </a:rPr>
              <a:t>negotiation_agents/</a:t>
            </a:r>
            <a:endParaRPr lang="en-US" sz="1400" dirty="0"/>
          </a:p>
          <a:p>
            <a:pPr indent="0" marL="0">
              <a:buNone/>
            </a:pPr>
            <a:r>
              <a:rPr lang="en-US" sz="1400" dirty="0">
                <a:solidFill>
                  <a:srgbClr val="0F172A"/>
                </a:solidFill>
                <a:latin typeface="Consolas" pitchFamily="34" charset="0"/>
                <a:ea typeface="Consolas" pitchFamily="34" charset="-122"/>
                <a:cs typeface="Consolas" pitchFamily="34" charset="-120"/>
              </a:rPr>
              <a:t>  buyer_agent/agent.py     → LlmAgent + McpToolset (pricing only)</a:t>
            </a:r>
            <a:endParaRPr lang="en-US" sz="1400" dirty="0"/>
          </a:p>
          <a:p>
            <a:pPr indent="0" marL="0">
              <a:buNone/>
            </a:pPr>
            <a:r>
              <a:rPr lang="en-US" sz="1400" dirty="0">
                <a:solidFill>
                  <a:srgbClr val="0F172A"/>
                </a:solidFill>
                <a:latin typeface="Consolas" pitchFamily="34" charset="0"/>
                <a:ea typeface="Consolas" pitchFamily="34" charset="-122"/>
                <a:cs typeface="Consolas" pitchFamily="34" charset="-120"/>
              </a:rPr>
              <a:t>  seller_agent/agent.py    → LlmAgent + McpToolset ×2 (pricing + inventory)</a:t>
            </a:r>
            <a:endParaRPr lang="en-US" sz="1400" dirty="0"/>
          </a:p>
          <a:p>
            <a:pPr indent="0" marL="0">
              <a:buNone/>
            </a:pPr>
            <a:r>
              <a:rPr lang="en-US" sz="1400" dirty="0">
                <a:solidFill>
                  <a:srgbClr val="0F172A"/>
                </a:solidFill>
                <a:latin typeface="Consolas" pitchFamily="34" charset="0"/>
                <a:ea typeface="Consolas" pitchFamily="34" charset="-122"/>
                <a:cs typeface="Consolas" pitchFamily="34" charset="-120"/>
              </a:rPr>
              <a:t>  negotiation/agent.py     → LoopAgent(SequentialAgent(buyer, seller))</a:t>
            </a:r>
            <a:endParaRPr lang="en-US" sz="1400" dirty="0"/>
          </a:p>
        </p:txBody>
      </p:sp>
      <p:sp>
        <p:nvSpPr>
          <p:cNvPr id="6" name="Text 3"/>
          <p:cNvSpPr/>
          <p:nvPr/>
        </p:nvSpPr>
        <p:spPr>
          <a:xfrm>
            <a:off x="822960" y="2606040"/>
            <a:ext cx="5486400" cy="320040"/>
          </a:xfrm>
          <a:prstGeom prst="rect">
            <a:avLst/>
          </a:prstGeom>
          <a:noFill/>
          <a:ln/>
        </p:spPr>
        <p:txBody>
          <a:bodyPr wrap="square" lIns="635" tIns="635" rIns="635" bIns="635" rtlCol="0" anchor="t"/>
          <a:lstStyle/>
          <a:p>
            <a:pPr algn="l" indent="0" marL="0">
              <a:buNone/>
            </a:pPr>
            <a:r>
              <a:rPr lang="en-US" sz="1500" b="1" dirty="0">
                <a:solidFill>
                  <a:srgbClr val="FFFFFF"/>
                </a:solidFill>
                <a:latin typeface="Fira Sans" pitchFamily="34" charset="0"/>
                <a:ea typeface="Fira Sans" pitchFamily="34" charset="-122"/>
                <a:cs typeface="Fira Sans" pitchFamily="34" charset="-120"/>
              </a:rPr>
              <a:t>Run the agents:</a:t>
            </a:r>
            <a:endParaRPr lang="en-US" sz="1500" dirty="0"/>
          </a:p>
        </p:txBody>
      </p:sp>
      <p:sp>
        <p:nvSpPr>
          <p:cNvPr id="7" name="Shape 4"/>
          <p:cNvSpPr/>
          <p:nvPr/>
        </p:nvSpPr>
        <p:spPr>
          <a:xfrm>
            <a:off x="822960" y="3017520"/>
            <a:ext cx="10698480" cy="1463040"/>
          </a:xfrm>
          <a:prstGeom prst="rect">
            <a:avLst/>
          </a:prstGeom>
          <a:solidFill>
            <a:srgbClr val="F1F5F9"/>
          </a:solidFill>
          <a:ln w="12700">
            <a:solidFill>
              <a:srgbClr val="F1F5F9"/>
            </a:solidFill>
            <a:prstDash val="solid"/>
          </a:ln>
        </p:spPr>
      </p:sp>
      <p:sp>
        <p:nvSpPr>
          <p:cNvPr id="8" name="Text 5"/>
          <p:cNvSpPr/>
          <p:nvPr/>
        </p:nvSpPr>
        <p:spPr>
          <a:xfrm>
            <a:off x="914400" y="3017520"/>
            <a:ext cx="10515600" cy="1463040"/>
          </a:xfrm>
          <a:prstGeom prst="rect">
            <a:avLst/>
          </a:prstGeom>
          <a:noFill/>
          <a:ln/>
        </p:spPr>
        <p:txBody>
          <a:bodyPr wrap="square" lIns="381" tIns="381" rIns="381" bIns="381" rtlCol="0" anchor="ctr"/>
          <a:lstStyle/>
          <a:p>
            <a:pPr indent="0" marL="0">
              <a:buNone/>
            </a:pPr>
            <a:r>
              <a:rPr lang="en-US" sz="1400" dirty="0">
                <a:solidFill>
                  <a:srgbClr val="0F172A"/>
                </a:solidFill>
                <a:latin typeface="Consolas" pitchFamily="34" charset="0"/>
                <a:ea typeface="Consolas" pitchFamily="34" charset="-122"/>
                <a:cs typeface="Consolas" pitchFamily="34" charset="-120"/>
              </a:rPr>
              <a:t># Chat with them interactively</a:t>
            </a:r>
            <a:endParaRPr lang="en-US" sz="1400" dirty="0"/>
          </a:p>
          <a:p>
            <a:pPr indent="0" marL="0">
              <a:buNone/>
            </a:pPr>
            <a:r>
              <a:rPr lang="en-US" sz="1400" dirty="0">
                <a:solidFill>
                  <a:srgbClr val="0F172A"/>
                </a:solidFill>
                <a:latin typeface="Consolas" pitchFamily="34" charset="0"/>
                <a:ea typeface="Consolas" pitchFamily="34" charset="-122"/>
                <a:cs typeface="Consolas" pitchFamily="34" charset="-120"/>
              </a:rPr>
              <a:t>adk web m2_adk_multiagents/negotiation_agents/</a:t>
            </a:r>
            <a:endParaRPr lang="en-US" sz="1400" dirty="0"/>
          </a:p>
          <a:p>
            <a:pPr indent="0" marL="0">
              <a:buNone/>
            </a:pPr>
            <a:endParaRPr lang="en-US" sz="1400" dirty="0"/>
          </a:p>
          <a:p>
            <a:pPr indent="0" marL="0">
              <a:buNone/>
            </a:pPr>
            <a:r>
              <a:rPr lang="en-US" sz="1400" dirty="0">
                <a:solidFill>
                  <a:srgbClr val="0F172A"/>
                </a:solidFill>
                <a:latin typeface="Consolas" pitchFamily="34" charset="0"/>
                <a:ea typeface="Consolas" pitchFamily="34" charset="-122"/>
                <a:cs typeface="Consolas" pitchFamily="34" charset="-120"/>
              </a:rPr>
              <a:t># Same, plus A2A endpoints + Agent Cards</a:t>
            </a:r>
            <a:endParaRPr lang="en-US" sz="1400" dirty="0"/>
          </a:p>
          <a:p>
            <a:pPr indent="0" marL="0">
              <a:buNone/>
            </a:pPr>
            <a:r>
              <a:rPr lang="en-US" sz="1400" dirty="0">
                <a:solidFill>
                  <a:srgbClr val="0F172A"/>
                </a:solidFill>
                <a:latin typeface="Consolas" pitchFamily="34" charset="0"/>
                <a:ea typeface="Consolas" pitchFamily="34" charset="-122"/>
                <a:cs typeface="Consolas" pitchFamily="34" charset="-120"/>
              </a:rPr>
              <a:t>adk web --a2a m2_adk_multiagents/negotiation_agents/</a:t>
            </a:r>
            <a:endParaRPr lang="en-US" sz="1400" dirty="0"/>
          </a:p>
        </p:txBody>
      </p:sp>
      <p:sp>
        <p:nvSpPr>
          <p:cNvPr id="9" name="Shape 6"/>
          <p:cNvSpPr/>
          <p:nvPr/>
        </p:nvSpPr>
        <p:spPr>
          <a:xfrm>
            <a:off x="822960" y="4800600"/>
            <a:ext cx="10698480" cy="1005840"/>
          </a:xfrm>
          <a:prstGeom prst="rect">
            <a:avLst/>
          </a:prstGeom>
          <a:solidFill>
            <a:srgbClr val="CCFBF1"/>
          </a:solidFill>
          <a:ln w="12700">
            <a:solidFill>
              <a:srgbClr val="CCFBF1"/>
            </a:solidFill>
            <a:prstDash val="solid"/>
          </a:ln>
        </p:spPr>
      </p:sp>
      <p:sp>
        <p:nvSpPr>
          <p:cNvPr id="10" name="Text 7"/>
          <p:cNvSpPr/>
          <p:nvPr/>
        </p:nvSpPr>
        <p:spPr>
          <a:xfrm>
            <a:off x="960120" y="4846320"/>
            <a:ext cx="10424160" cy="914400"/>
          </a:xfrm>
          <a:prstGeom prst="rect">
            <a:avLst/>
          </a:prstGeom>
          <a:noFill/>
          <a:ln/>
        </p:spPr>
        <p:txBody>
          <a:bodyPr wrap="square" lIns="254" tIns="254" rIns="254" bIns="254" rtlCol="0" anchor="ctr"/>
          <a:lstStyle/>
          <a:p>
            <a:pPr indent="0" marL="0">
              <a:buNone/>
            </a:pPr>
            <a:r>
              <a:rPr lang="en-US" sz="1400" b="1" dirty="0">
                <a:solidFill>
                  <a:srgbClr val="0F766E"/>
                </a:solidFill>
                <a:latin typeface="Fira Sans" pitchFamily="34" charset="0"/>
                <a:ea typeface="Fira Sans" pitchFamily="34" charset="-122"/>
                <a:cs typeface="Fira Sans" pitchFamily="34" charset="-120"/>
              </a:rPr>
              <a:t>Before we build this, we'll learn each piece through 9 interactive demos. </a:t>
            </a:r>
            <a:r>
              <a:rPr lang="en-US" sz="1400" dirty="0">
                <a:solidFill>
                  <a:srgbClr val="1E293B"/>
                </a:solidFill>
                <a:latin typeface="Fira Sans" pitchFamily="34" charset="0"/>
                <a:ea typeface="Fira Sans" pitchFamily="34" charset="-122"/>
                <a:cs typeface="Fira Sans" pitchFamily="34" charset="-120"/>
              </a:rPr>
              <a:t>Each demo introduces ONE ADK concept — function tools, MCP tools, sessions, sequential, parallel, loop, agent-as-tool, callbacks, event stream.</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What is Google ADK (Agent Development Kit)</a:t>
            </a:r>
            <a:endParaRPr lang="en-US" sz="3000" dirty="0"/>
          </a:p>
        </p:txBody>
      </p:sp>
      <p:sp>
        <p:nvSpPr>
          <p:cNvPr id="4" name="Text 1"/>
          <p:cNvSpPr/>
          <p:nvPr/>
        </p:nvSpPr>
        <p:spPr>
          <a:xfrm>
            <a:off x="502920" y="914400"/>
            <a:ext cx="11155680" cy="1051560"/>
          </a:xfrm>
          <a:prstGeom prst="rect">
            <a:avLst/>
          </a:prstGeom>
          <a:noFill/>
          <a:ln/>
        </p:spPr>
        <p:txBody>
          <a:bodyPr wrap="square" lIns="635" tIns="635" rIns="635" bIns="635" rtlCol="0" anchor="t"/>
          <a:lstStyle/>
          <a:p>
            <a:pPr algn="l" indent="0" marL="0">
              <a:buNone/>
            </a:pPr>
            <a:r>
              <a:rPr lang="en-US" sz="1400" dirty="0">
                <a:solidFill>
                  <a:srgbClr val="FFFFFF"/>
                </a:solidFill>
                <a:latin typeface="Fira Sans" pitchFamily="34" charset="0"/>
                <a:ea typeface="Fira Sans" pitchFamily="34" charset="-122"/>
                <a:cs typeface="Fira Sans" pitchFamily="34" charset="-120"/>
              </a:rPr>
              <a:t>Google's Agent Development Kit (ADK) is an open-source framework for building, testing, evaluating and deploying agents and multi-agent systems. It's designed like real software development — modules, tools, testing, monitoring. It works with any model (here: gpt-4o via LiteLLM) and integrates deeply with Gemini and Vertex AI.</a:t>
            </a:r>
            <a:endParaRPr lang="en-US" sz="1400" dirty="0"/>
          </a:p>
        </p:txBody>
      </p:sp>
      <p:sp>
        <p:nvSpPr>
          <p:cNvPr id="5" name="Text 2"/>
          <p:cNvSpPr/>
          <p:nvPr/>
        </p:nvSpPr>
        <p:spPr>
          <a:xfrm>
            <a:off x="502920" y="2103120"/>
            <a:ext cx="11155680" cy="310896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Agent: </a:t>
            </a:r>
            <a:r>
              <a:rPr lang="en-US" sz="1400" dirty="0">
                <a:solidFill>
                  <a:srgbClr val="FFFFFF"/>
                </a:solidFill>
                <a:latin typeface="Fira Sans" pitchFamily="34" charset="0"/>
                <a:ea typeface="Fira Sans" pitchFamily="34" charset="-122"/>
                <a:cs typeface="Fira Sans" pitchFamily="34" charset="-120"/>
              </a:rPr>
              <a:t>the core execution unit — goal-driven, calls tools, uses memory, talks to users</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Tools: </a:t>
            </a:r>
            <a:r>
              <a:rPr lang="en-US" sz="1400" dirty="0">
                <a:solidFill>
                  <a:srgbClr val="FFFFFF"/>
                </a:solidFill>
                <a:latin typeface="Fira Sans" pitchFamily="34" charset="0"/>
                <a:ea typeface="Fira Sans" pitchFamily="34" charset="-122"/>
                <a:cs typeface="Fira Sans" pitchFamily="34" charset="-120"/>
              </a:rPr>
              <a:t>capabilities the agent calls to act (functions, MCP servers, other agents, built-ins)</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Runner: </a:t>
            </a:r>
            <a:r>
              <a:rPr lang="en-US" sz="1400" dirty="0">
                <a:solidFill>
                  <a:srgbClr val="FFFFFF"/>
                </a:solidFill>
                <a:latin typeface="Fira Sans" pitchFamily="34" charset="0"/>
                <a:ea typeface="Fira Sans" pitchFamily="34" charset="-122"/>
                <a:cs typeface="Fira Sans" pitchFamily="34" charset="-120"/>
              </a:rPr>
              <a:t>runs an agent turn and emits an event stream (adk web, your own scripts, cloud runtimes)</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Sessions, state &amp; artifacts: </a:t>
            </a:r>
            <a:r>
              <a:rPr lang="en-US" sz="1400" dirty="0">
                <a:solidFill>
                  <a:srgbClr val="FFFFFF"/>
                </a:solidFill>
                <a:latin typeface="Fira Sans" pitchFamily="34" charset="0"/>
                <a:ea typeface="Fira Sans" pitchFamily="34" charset="-122"/>
                <a:cs typeface="Fira Sans" pitchFamily="34" charset="-120"/>
              </a:rPr>
              <a:t>per-conversation, per-user and per-app memory</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Workflow / orchestration: </a:t>
            </a:r>
            <a:r>
              <a:rPr lang="en-US" sz="1400" dirty="0">
                <a:solidFill>
                  <a:srgbClr val="FFFFFF"/>
                </a:solidFill>
                <a:latin typeface="Fira Sans" pitchFamily="34" charset="0"/>
                <a:ea typeface="Fira Sans" pitchFamily="34" charset="-122"/>
                <a:cs typeface="Fira Sans" pitchFamily="34" charset="-120"/>
              </a:rPr>
              <a:t>Sequential, Parallel and Loop agents — and in ADK 2.x the new graph-based Workflow</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Callbacks, telemetry &amp; evaluation: </a:t>
            </a:r>
            <a:r>
              <a:rPr lang="en-US" sz="1400" dirty="0">
                <a:solidFill>
                  <a:srgbClr val="FFFFFF"/>
                </a:solidFill>
                <a:latin typeface="Fira Sans" pitchFamily="34" charset="0"/>
                <a:ea typeface="Fira Sans" pitchFamily="34" charset="-122"/>
                <a:cs typeface="Fira Sans" pitchFamily="34" charset="-120"/>
              </a:rPr>
              <a:t>policy hooks, logging, tracing and eval harnesses</a:t>
            </a:r>
            <a:endParaRPr lang="en-US" sz="1400" dirty="0"/>
          </a:p>
        </p:txBody>
      </p:sp>
      <p:sp>
        <p:nvSpPr>
          <p:cNvPr id="6" name="Shape 3"/>
          <p:cNvSpPr/>
          <p:nvPr/>
        </p:nvSpPr>
        <p:spPr>
          <a:xfrm>
            <a:off x="502920" y="5349240"/>
            <a:ext cx="9966960" cy="685800"/>
          </a:xfrm>
          <a:prstGeom prst="rect">
            <a:avLst/>
          </a:prstGeom>
          <a:solidFill>
            <a:srgbClr val="CCFBF1"/>
          </a:solidFill>
          <a:ln w="12700">
            <a:solidFill>
              <a:srgbClr val="CCFBF1"/>
            </a:solidFill>
            <a:prstDash val="solid"/>
          </a:ln>
        </p:spPr>
      </p:sp>
      <p:sp>
        <p:nvSpPr>
          <p:cNvPr id="7" name="Text 4"/>
          <p:cNvSpPr/>
          <p:nvPr/>
        </p:nvSpPr>
        <p:spPr>
          <a:xfrm>
            <a:off x="640080" y="5394960"/>
            <a:ext cx="9692640" cy="59436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This workshop runs on ADK 2.11. </a:t>
            </a:r>
            <a:r>
              <a:rPr lang="en-US" sz="1300" dirty="0">
                <a:solidFill>
                  <a:srgbClr val="1E293B"/>
                </a:solidFill>
                <a:latin typeface="Fira Sans" pitchFamily="34" charset="0"/>
                <a:ea typeface="Fira Sans" pitchFamily="34" charset="-122"/>
                <a:cs typeface="Fira Sans" pitchFamily="34" charset="-120"/>
              </a:rPr>
              <a:t>Everything here works on 2.x; a few names changed (MCPToolset → McpToolset) and the workflow agents are deprecated in favor of Workflow — slide after Demo 06.</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Core Primitives</a:t>
            </a:r>
            <a:endParaRPr lang="en-US" sz="3000" dirty="0"/>
          </a:p>
        </p:txBody>
      </p:sp>
      <p:sp>
        <p:nvSpPr>
          <p:cNvPr id="4" name="Shape 1"/>
          <p:cNvSpPr/>
          <p:nvPr/>
        </p:nvSpPr>
        <p:spPr>
          <a:xfrm>
            <a:off x="914400" y="960120"/>
            <a:ext cx="10332720" cy="868680"/>
          </a:xfrm>
          <a:prstGeom prst="roundRect">
            <a:avLst>
              <a:gd name="adj" fmla="val 12632"/>
            </a:avLst>
          </a:prstGeom>
          <a:solidFill>
            <a:srgbClr val="EDE9FE"/>
          </a:solidFill>
          <a:ln w="15875">
            <a:solidFill>
              <a:srgbClr val="7C3AED"/>
            </a:solidFill>
            <a:prstDash val="solid"/>
          </a:ln>
        </p:spPr>
      </p:sp>
      <p:sp>
        <p:nvSpPr>
          <p:cNvPr id="5" name="Text 2"/>
          <p:cNvSpPr/>
          <p:nvPr/>
        </p:nvSpPr>
        <p:spPr>
          <a:xfrm>
            <a:off x="960120" y="987552"/>
            <a:ext cx="10241280" cy="813816"/>
          </a:xfrm>
          <a:prstGeom prst="rect">
            <a:avLst/>
          </a:prstGeom>
          <a:noFill/>
          <a:ln/>
        </p:spPr>
        <p:txBody>
          <a:bodyPr wrap="square" lIns="381" tIns="381" rIns="381" bIns="381" rtlCol="0" anchor="ctr"/>
          <a:lstStyle/>
          <a:p>
            <a:pPr algn="ctr" indent="0" marL="0">
              <a:buNone/>
            </a:pPr>
            <a:r>
              <a:rPr lang="en-US" sz="1500" b="1" dirty="0">
                <a:solidFill>
                  <a:srgbClr val="4C1D95"/>
                </a:solidFill>
                <a:latin typeface="Fira Sans" pitchFamily="34" charset="0"/>
                <a:ea typeface="Fira Sans" pitchFamily="34" charset="-122"/>
                <a:cs typeface="Fira Sans" pitchFamily="34" charset="-120"/>
              </a:rPr>
              <a:t>RUNNER</a:t>
            </a:r>
            <a:endParaRPr lang="en-US" sz="1500" dirty="0"/>
          </a:p>
          <a:p>
            <a:pPr algn="ctr" indent="0" marL="0">
              <a:buNone/>
            </a:pPr>
            <a:r>
              <a:rPr lang="en-US" sz="1500" b="1" dirty="0">
                <a:solidFill>
                  <a:srgbClr val="4C1D95"/>
                </a:solidFill>
                <a:latin typeface="Fira Sans" pitchFamily="34" charset="0"/>
                <a:ea typeface="Fira Sans" pitchFamily="34" charset="-122"/>
                <a:cs typeface="Fira Sans" pitchFamily="34" charset="-120"/>
              </a:rPr>
              <a:t>Executes agent turns. Emits an async event stream.</a:t>
            </a:r>
            <a:endParaRPr lang="en-US" sz="1500" dirty="0"/>
          </a:p>
        </p:txBody>
      </p:sp>
      <p:sp>
        <p:nvSpPr>
          <p:cNvPr id="6" name="Shape 3"/>
          <p:cNvSpPr/>
          <p:nvPr/>
        </p:nvSpPr>
        <p:spPr>
          <a:xfrm>
            <a:off x="914400" y="2331720"/>
            <a:ext cx="4572000" cy="1325880"/>
          </a:xfrm>
          <a:prstGeom prst="roundRect">
            <a:avLst>
              <a:gd name="adj" fmla="val 8276"/>
            </a:avLst>
          </a:prstGeom>
          <a:solidFill>
            <a:srgbClr val="DBEAFE"/>
          </a:solidFill>
          <a:ln w="15875">
            <a:solidFill>
              <a:srgbClr val="2563EB"/>
            </a:solidFill>
            <a:prstDash val="solid"/>
          </a:ln>
        </p:spPr>
      </p:sp>
      <p:sp>
        <p:nvSpPr>
          <p:cNvPr id="7" name="Text 4"/>
          <p:cNvSpPr/>
          <p:nvPr/>
        </p:nvSpPr>
        <p:spPr>
          <a:xfrm>
            <a:off x="960120" y="2359152"/>
            <a:ext cx="4480560" cy="1271016"/>
          </a:xfrm>
          <a:prstGeom prst="rect">
            <a:avLst/>
          </a:prstGeom>
          <a:noFill/>
          <a:ln/>
        </p:spPr>
        <p:txBody>
          <a:bodyPr wrap="square" lIns="381" tIns="381" rIns="381" bIns="381" rtlCol="0" anchor="ctr"/>
          <a:lstStyle/>
          <a:p>
            <a:pPr algn="ctr" indent="0" marL="0">
              <a:buNone/>
            </a:pPr>
            <a:r>
              <a:rPr lang="en-US" sz="1500" b="1" dirty="0">
                <a:solidFill>
                  <a:srgbClr val="1E3A8A"/>
                </a:solidFill>
                <a:latin typeface="Fira Sans" pitchFamily="34" charset="0"/>
                <a:ea typeface="Fira Sans" pitchFamily="34" charset="-122"/>
                <a:cs typeface="Fira Sans" pitchFamily="34" charset="-120"/>
              </a:rPr>
              <a:t>LLMAGENT</a:t>
            </a:r>
            <a:endParaRPr lang="en-US" sz="1500" dirty="0"/>
          </a:p>
          <a:p>
            <a:pPr algn="ctr" indent="0" marL="0">
              <a:buNone/>
            </a:pPr>
            <a:r>
              <a:rPr lang="en-US" sz="1500" b="1" dirty="0">
                <a:solidFill>
                  <a:srgbClr val="1E3A8A"/>
                </a:solidFill>
                <a:latin typeface="Fira Sans" pitchFamily="34" charset="0"/>
                <a:ea typeface="Fira Sans" pitchFamily="34" charset="-122"/>
                <a:cs typeface="Fira Sans" pitchFamily="34" charset="-120"/>
              </a:rPr>
              <a:t>name, model, instruction, tools, callbacks</a:t>
            </a:r>
            <a:endParaRPr lang="en-US" sz="1500" dirty="0"/>
          </a:p>
        </p:txBody>
      </p:sp>
      <p:sp>
        <p:nvSpPr>
          <p:cNvPr id="8" name="Shape 5"/>
          <p:cNvSpPr/>
          <p:nvPr/>
        </p:nvSpPr>
        <p:spPr>
          <a:xfrm>
            <a:off x="6675120" y="2331720"/>
            <a:ext cx="4572000" cy="1325880"/>
          </a:xfrm>
          <a:prstGeom prst="roundRect">
            <a:avLst>
              <a:gd name="adj" fmla="val 8276"/>
            </a:avLst>
          </a:prstGeom>
          <a:solidFill>
            <a:srgbClr val="DCFCE7"/>
          </a:solidFill>
          <a:ln w="15875">
            <a:solidFill>
              <a:srgbClr val="15803D"/>
            </a:solidFill>
            <a:prstDash val="solid"/>
          </a:ln>
        </p:spPr>
      </p:sp>
      <p:sp>
        <p:nvSpPr>
          <p:cNvPr id="9" name="Text 6"/>
          <p:cNvSpPr/>
          <p:nvPr/>
        </p:nvSpPr>
        <p:spPr>
          <a:xfrm>
            <a:off x="6720840" y="2359152"/>
            <a:ext cx="4480560" cy="1271016"/>
          </a:xfrm>
          <a:prstGeom prst="rect">
            <a:avLst/>
          </a:prstGeom>
          <a:noFill/>
          <a:ln/>
        </p:spPr>
        <p:txBody>
          <a:bodyPr wrap="square" lIns="381" tIns="381" rIns="381" bIns="381" rtlCol="0" anchor="ctr"/>
          <a:lstStyle/>
          <a:p>
            <a:pPr algn="ctr" indent="0" marL="0">
              <a:buNone/>
            </a:pPr>
            <a:r>
              <a:rPr lang="en-US" sz="1500" b="1" dirty="0">
                <a:solidFill>
                  <a:srgbClr val="14532D"/>
                </a:solidFill>
                <a:latin typeface="Fira Sans" pitchFamily="34" charset="0"/>
                <a:ea typeface="Fira Sans" pitchFamily="34" charset="-122"/>
                <a:cs typeface="Fira Sans" pitchFamily="34" charset="-120"/>
              </a:rPr>
              <a:t>SESSIONSERVICE</a:t>
            </a:r>
            <a:endParaRPr lang="en-US" sz="1500" dirty="0"/>
          </a:p>
          <a:p>
            <a:pPr algn="ctr" indent="0" marL="0">
              <a:buNone/>
            </a:pPr>
            <a:r>
              <a:rPr lang="en-US" sz="1500" b="1" dirty="0">
                <a:solidFill>
                  <a:srgbClr val="14532D"/>
                </a:solidFill>
                <a:latin typeface="Fira Sans" pitchFamily="34" charset="0"/>
                <a:ea typeface="Fira Sans" pitchFamily="34" charset="-122"/>
                <a:cs typeface="Fira Sans" pitchFamily="34" charset="-120"/>
              </a:rPr>
              <a:t>Per-conversation state and event log</a:t>
            </a:r>
            <a:endParaRPr lang="en-US" sz="1500" dirty="0"/>
          </a:p>
        </p:txBody>
      </p:sp>
      <p:sp>
        <p:nvSpPr>
          <p:cNvPr id="10" name="Shape 7"/>
          <p:cNvSpPr/>
          <p:nvPr/>
        </p:nvSpPr>
        <p:spPr>
          <a:xfrm>
            <a:off x="3200400" y="1828800"/>
            <a:ext cx="0" cy="502920"/>
          </a:xfrm>
          <a:prstGeom prst="line">
            <a:avLst/>
          </a:prstGeom>
          <a:noFill/>
          <a:ln w="22225">
            <a:solidFill>
              <a:srgbClr val="FFFFFF"/>
            </a:solidFill>
            <a:prstDash val="solid"/>
            <a:tailEnd type="triangle"/>
          </a:ln>
        </p:spPr>
      </p:sp>
      <p:sp>
        <p:nvSpPr>
          <p:cNvPr id="11" name="Shape 8"/>
          <p:cNvSpPr/>
          <p:nvPr/>
        </p:nvSpPr>
        <p:spPr>
          <a:xfrm>
            <a:off x="8961120" y="1828800"/>
            <a:ext cx="0" cy="502920"/>
          </a:xfrm>
          <a:prstGeom prst="line">
            <a:avLst/>
          </a:prstGeom>
          <a:noFill/>
          <a:ln w="22225">
            <a:solidFill>
              <a:srgbClr val="FFFFFF"/>
            </a:solidFill>
            <a:prstDash val="solid"/>
            <a:tailEnd type="triangle"/>
          </a:ln>
        </p:spPr>
      </p:sp>
      <p:sp>
        <p:nvSpPr>
          <p:cNvPr id="12" name="Shape 9"/>
          <p:cNvSpPr/>
          <p:nvPr/>
        </p:nvSpPr>
        <p:spPr>
          <a:xfrm flipH="1">
            <a:off x="5486400" y="2990088"/>
            <a:ext cx="1188720" cy="0"/>
          </a:xfrm>
          <a:prstGeom prst="line">
            <a:avLst/>
          </a:prstGeom>
          <a:noFill/>
          <a:ln w="22225">
            <a:solidFill>
              <a:srgbClr val="A2FCA2"/>
            </a:solidFill>
            <a:prstDash val="solid"/>
            <a:tailEnd type="triangle"/>
          </a:ln>
        </p:spPr>
      </p:sp>
      <p:sp>
        <p:nvSpPr>
          <p:cNvPr id="13" name="Text 10"/>
          <p:cNvSpPr/>
          <p:nvPr/>
        </p:nvSpPr>
        <p:spPr>
          <a:xfrm>
            <a:off x="5532120" y="2606040"/>
            <a:ext cx="1188720" cy="320040"/>
          </a:xfrm>
          <a:prstGeom prst="rect">
            <a:avLst/>
          </a:prstGeom>
          <a:noFill/>
          <a:ln/>
        </p:spPr>
        <p:txBody>
          <a:bodyPr wrap="square" lIns="635" tIns="635" rIns="635" bIns="635" rtlCol="0" anchor="t"/>
          <a:lstStyle/>
          <a:p>
            <a:pPr algn="ctr" indent="0" marL="0">
              <a:buNone/>
            </a:pPr>
            <a:r>
              <a:rPr lang="en-US" sz="1100" dirty="0">
                <a:solidFill>
                  <a:srgbClr val="A2FCA2"/>
                </a:solidFill>
                <a:latin typeface="Fira Sans" pitchFamily="34" charset="0"/>
                <a:ea typeface="Fira Sans" pitchFamily="34" charset="-122"/>
                <a:cs typeface="Fira Sans" pitchFamily="34" charset="-120"/>
              </a:rPr>
              <a:t>session state</a:t>
            </a:r>
            <a:endParaRPr lang="en-US" sz="1100" dirty="0"/>
          </a:p>
        </p:txBody>
      </p:sp>
      <p:sp>
        <p:nvSpPr>
          <p:cNvPr id="14" name="Shape 11"/>
          <p:cNvSpPr/>
          <p:nvPr/>
        </p:nvSpPr>
        <p:spPr>
          <a:xfrm>
            <a:off x="3200400" y="3657600"/>
            <a:ext cx="0" cy="502920"/>
          </a:xfrm>
          <a:prstGeom prst="line">
            <a:avLst/>
          </a:prstGeom>
          <a:noFill/>
          <a:ln w="22225">
            <a:solidFill>
              <a:srgbClr val="FFFFFF"/>
            </a:solidFill>
            <a:prstDash val="solid"/>
            <a:tailEnd type="triangle"/>
          </a:ln>
        </p:spPr>
      </p:sp>
      <p:sp>
        <p:nvSpPr>
          <p:cNvPr id="15" name="Shape 12"/>
          <p:cNvSpPr/>
          <p:nvPr/>
        </p:nvSpPr>
        <p:spPr>
          <a:xfrm>
            <a:off x="914400" y="4160520"/>
            <a:ext cx="10332720" cy="685800"/>
          </a:xfrm>
          <a:prstGeom prst="roundRect">
            <a:avLst>
              <a:gd name="adj" fmla="val 16000"/>
            </a:avLst>
          </a:prstGeom>
          <a:solidFill>
            <a:srgbClr val="FEF3C7"/>
          </a:solidFill>
          <a:ln w="15875">
            <a:solidFill>
              <a:srgbClr val="D97706"/>
            </a:solidFill>
            <a:prstDash val="solid"/>
          </a:ln>
        </p:spPr>
      </p:sp>
      <p:sp>
        <p:nvSpPr>
          <p:cNvPr id="16" name="Text 13"/>
          <p:cNvSpPr/>
          <p:nvPr/>
        </p:nvSpPr>
        <p:spPr>
          <a:xfrm>
            <a:off x="960120" y="4187952"/>
            <a:ext cx="10241280" cy="630936"/>
          </a:xfrm>
          <a:prstGeom prst="rect">
            <a:avLst/>
          </a:prstGeom>
          <a:noFill/>
          <a:ln/>
        </p:spPr>
        <p:txBody>
          <a:bodyPr wrap="square" lIns="381" tIns="381" rIns="381" bIns="381" rtlCol="0" anchor="ctr"/>
          <a:lstStyle/>
          <a:p>
            <a:pPr algn="ctr" indent="0" marL="0">
              <a:buNone/>
            </a:pPr>
            <a:r>
              <a:rPr lang="en-US" sz="1600" b="1" dirty="0">
                <a:solidFill>
                  <a:srgbClr val="78350F"/>
                </a:solidFill>
                <a:latin typeface="Fira Sans" pitchFamily="34" charset="0"/>
                <a:ea typeface="Fira Sans" pitchFamily="34" charset="-122"/>
                <a:cs typeface="Fira Sans" pitchFamily="34" charset="-120"/>
              </a:rPr>
              <a:t>TOOLS:    FunctionTool   |   McpToolset   |   AgentTool   |   Built-in</a:t>
            </a:r>
            <a:endParaRPr lang="en-US" sz="1600" dirty="0"/>
          </a:p>
        </p:txBody>
      </p:sp>
      <p:sp>
        <p:nvSpPr>
          <p:cNvPr id="17" name="Shape 14"/>
          <p:cNvSpPr/>
          <p:nvPr/>
        </p:nvSpPr>
        <p:spPr>
          <a:xfrm>
            <a:off x="914400" y="5120640"/>
            <a:ext cx="10332720" cy="594360"/>
          </a:xfrm>
          <a:prstGeom prst="rect">
            <a:avLst/>
          </a:prstGeom>
          <a:solidFill>
            <a:srgbClr val="FFFFFF"/>
          </a:solidFill>
          <a:ln w="12700">
            <a:solidFill>
              <a:srgbClr val="FFFFFF"/>
            </a:solidFill>
            <a:prstDash val="solid"/>
          </a:ln>
        </p:spPr>
      </p:sp>
      <p:sp>
        <p:nvSpPr>
          <p:cNvPr id="18" name="Text 15"/>
          <p:cNvSpPr/>
          <p:nvPr/>
        </p:nvSpPr>
        <p:spPr>
          <a:xfrm>
            <a:off x="1051560" y="5166360"/>
            <a:ext cx="10058400" cy="502920"/>
          </a:xfrm>
          <a:prstGeom prst="rect">
            <a:avLst/>
          </a:prstGeom>
          <a:noFill/>
          <a:ln/>
        </p:spPr>
        <p:txBody>
          <a:bodyPr wrap="square" lIns="254" tIns="254" rIns="254" bIns="254" rtlCol="0" anchor="ctr"/>
          <a:lstStyle/>
          <a:p>
            <a:pPr indent="0" marL="0">
              <a:buNone/>
            </a:pPr>
            <a:r>
              <a:rPr lang="en-US" sz="1400" dirty="0">
                <a:solidFill>
                  <a:srgbClr val="1E293B"/>
                </a:solidFill>
                <a:latin typeface="Fira Sans" pitchFamily="34" charset="0"/>
                <a:ea typeface="Fira Sans" pitchFamily="34" charset="-122"/>
                <a:cs typeface="Fira Sans" pitchFamily="34" charset="-120"/>
              </a:rPr>
              <a:t>Four types you touch every day: LlmAgent, Runner, SessionService, and some toolset (usually McpToolset). Everything else is extension.</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01: </a:t>
            </a:r>
            <a:r>
              <a:rPr lang="en-US" sz="3000" b="1" dirty="0">
                <a:solidFill>
                  <a:srgbClr val="FFFFFF"/>
                </a:solidFill>
                <a:latin typeface="Fira Sans" pitchFamily="34" charset="0"/>
                <a:ea typeface="Fira Sans" pitchFamily="34" charset="-122"/>
                <a:cs typeface="Fira Sans" pitchFamily="34" charset="-120"/>
              </a:rPr>
              <a:t>Basic LlmAgent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The Simplest ADK Agent</a:t>
            </a:r>
            <a:endParaRPr lang="en-US" sz="1400" dirty="0"/>
          </a:p>
        </p:txBody>
      </p:sp>
      <p:sp>
        <p:nvSpPr>
          <p:cNvPr id="5" name="Shape 2"/>
          <p:cNvSpPr/>
          <p:nvPr/>
        </p:nvSpPr>
        <p:spPr>
          <a:xfrm>
            <a:off x="502920" y="1234440"/>
            <a:ext cx="6400800" cy="1508760"/>
          </a:xfrm>
          <a:prstGeom prst="rect">
            <a:avLst/>
          </a:prstGeom>
          <a:solidFill>
            <a:srgbClr val="333333"/>
          </a:solidFill>
          <a:ln w="12700">
            <a:solidFill>
              <a:srgbClr val="333333"/>
            </a:solidFill>
            <a:prstDash val="solid"/>
          </a:ln>
        </p:spPr>
      </p:sp>
      <p:sp>
        <p:nvSpPr>
          <p:cNvPr id="6" name="Text 3"/>
          <p:cNvSpPr/>
          <p:nvPr/>
        </p:nvSpPr>
        <p:spPr>
          <a:xfrm>
            <a:off x="576072" y="1289304"/>
            <a:ext cx="6254496" cy="1399032"/>
          </a:xfrm>
          <a:prstGeom prst="rect">
            <a:avLst/>
          </a:prstGeom>
          <a:noFill/>
          <a:ln/>
        </p:spPr>
        <p:txBody>
          <a:bodyPr wrap="square" lIns="635" tIns="635" rIns="635" bIns="635" rtlCol="0" anchor="t"/>
          <a:lstStyle/>
          <a:p>
            <a:pPr indent="0" marL="0">
              <a:buNone/>
            </a:pPr>
            <a:r>
              <a:rPr lang="en-US" sz="1200" dirty="0">
                <a:solidFill>
                  <a:srgbClr val="FFFFFF"/>
                </a:solidFill>
                <a:latin typeface="Consolas" pitchFamily="34" charset="0"/>
                <a:ea typeface="Consolas" pitchFamily="34" charset="-122"/>
                <a:cs typeface="Consolas" pitchFamily="34" charset="-120"/>
              </a:rPr>
              <a:t>root_agent = LlmAgent(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name=</a:t>
            </a:r>
            <a:r>
              <a:rPr lang="en-US" sz="1200" dirty="0">
                <a:solidFill>
                  <a:srgbClr val="A2FCA2"/>
                </a:solidFill>
                <a:latin typeface="Consolas" pitchFamily="34" charset="0"/>
                <a:ea typeface="Consolas" pitchFamily="34" charset="-122"/>
                <a:cs typeface="Consolas" pitchFamily="34" charset="-120"/>
              </a:rPr>
              <a:t>"basic_agent"</a:t>
            </a:r>
            <a:r>
              <a:rPr lang="en-US" sz="1200" dirty="0">
                <a:solidFill>
                  <a:srgbClr val="FFFFFF"/>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model=</a:t>
            </a:r>
            <a:r>
              <a:rPr lang="en-US" sz="1200" dirty="0">
                <a:solidFill>
                  <a:srgbClr val="A2FCA2"/>
                </a:solidFill>
                <a:latin typeface="Consolas" pitchFamily="34" charset="0"/>
                <a:ea typeface="Consolas" pitchFamily="34" charset="-122"/>
                <a:cs typeface="Consolas" pitchFamily="34" charset="-120"/>
              </a:rPr>
              <a:t>"openai/gpt-4o"</a:t>
            </a:r>
            <a:r>
              <a:rPr lang="en-US" sz="1200" dirty="0">
                <a:solidFill>
                  <a:srgbClr val="FFFFFF"/>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instruction=</a:t>
            </a:r>
            <a:r>
              <a:rPr lang="en-US" sz="1200" dirty="0">
                <a:solidFill>
                  <a:srgbClr val="A2FCA2"/>
                </a:solidFill>
                <a:latin typeface="Consolas" pitchFamily="34" charset="0"/>
                <a:ea typeface="Consolas" pitchFamily="34" charset="-122"/>
                <a:cs typeface="Consolas" pitchFamily="34" charset="-120"/>
              </a:rPr>
              <a:t>"Use get_quick_estimate when asked about properties."</a:t>
            </a:r>
            <a:r>
              <a:rPr lang="en-US" sz="1200" dirty="0">
                <a:solidFill>
                  <a:srgbClr val="FFFFFF"/>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tools=[get_quick_estimate],   </a:t>
            </a:r>
            <a:r>
              <a:rPr lang="en-US" sz="1200" dirty="0">
                <a:solidFill>
                  <a:srgbClr val="9CA3AF"/>
                </a:solidFill>
                <a:latin typeface="Consolas" pitchFamily="34" charset="0"/>
                <a:ea typeface="Consolas" pitchFamily="34" charset="-122"/>
                <a:cs typeface="Consolas" pitchFamily="34" charset="-120"/>
              </a:rPr>
              <a:t> # plain Python function</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a:t>
            </a:r>
            <a:endParaRPr lang="en-US" sz="1200" dirty="0"/>
          </a:p>
        </p:txBody>
      </p:sp>
      <p:sp>
        <p:nvSpPr>
          <p:cNvPr id="7" name="Text 4"/>
          <p:cNvSpPr/>
          <p:nvPr/>
        </p:nvSpPr>
        <p:spPr>
          <a:xfrm>
            <a:off x="502920" y="28803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KEY CONCEPTS</a:t>
            </a:r>
            <a:endParaRPr lang="en-US" sz="1400" dirty="0"/>
          </a:p>
        </p:txBody>
      </p:sp>
      <p:sp>
        <p:nvSpPr>
          <p:cNvPr id="8" name="Text 5"/>
          <p:cNvSpPr/>
          <p:nvPr/>
        </p:nvSpPr>
        <p:spPr>
          <a:xfrm>
            <a:off x="502920" y="3200400"/>
            <a:ext cx="6400800" cy="1280160"/>
          </a:xfrm>
          <a:prstGeom prst="rect">
            <a:avLst/>
          </a:prstGeom>
          <a:noFill/>
          <a:ln/>
        </p:spPr>
        <p:txBody>
          <a:bodyPr wrap="square" lIns="635" tIns="635" rIns="635" bIns="635" rtlCol="0" anchor="t"/>
          <a:lstStyle/>
          <a:p>
            <a:pPr lvl="1" marL="685800" indent="-342900">
              <a:spcAft>
                <a:spcPts val="200"/>
              </a:spcAft>
              <a:buSzPct val="100000"/>
              <a:buChar char="•"/>
            </a:pPr>
            <a:r>
              <a:rPr lang="en-US" sz="1300" dirty="0">
                <a:solidFill>
                  <a:srgbClr val="FFFFFF"/>
                </a:solidFill>
                <a:latin typeface="Fira Sans" pitchFamily="34" charset="0"/>
                <a:ea typeface="Fira Sans" pitchFamily="34" charset="-122"/>
                <a:cs typeface="Fira Sans" pitchFamily="34" charset="-120"/>
              </a:rPr>
              <a:t>LlmAgent = model + instruction + tools</a:t>
            </a:r>
            <a:endParaRPr lang="en-US" sz="1300" dirty="0"/>
          </a:p>
          <a:p>
            <a:pPr lvl="1" marL="685800" indent="-342900">
              <a:spcAft>
                <a:spcPts val="200"/>
              </a:spcAft>
              <a:buSzPct val="100000"/>
              <a:buChar char="•"/>
            </a:pPr>
            <a:r>
              <a:rPr lang="en-US" sz="1300" dirty="0">
                <a:solidFill>
                  <a:srgbClr val="FFFFFF"/>
                </a:solidFill>
                <a:latin typeface="Fira Sans" pitchFamily="34" charset="0"/>
                <a:ea typeface="Fira Sans" pitchFamily="34" charset="-122"/>
                <a:cs typeface="Fira Sans" pitchFamily="34" charset="-120"/>
              </a:rPr>
              <a:t>root_agent = the variable adk web discovers</a:t>
            </a:r>
            <a:endParaRPr lang="en-US" sz="1300" dirty="0"/>
          </a:p>
          <a:p>
            <a:pPr lvl="1" marL="685800" indent="-342900">
              <a:spcAft>
                <a:spcPts val="200"/>
              </a:spcAft>
              <a:buSzPct val="100000"/>
              <a:buChar char="•"/>
            </a:pPr>
            <a:r>
              <a:rPr lang="en-US" sz="1300" dirty="0">
                <a:solidFill>
                  <a:srgbClr val="FFFFFF"/>
                </a:solidFill>
                <a:latin typeface="Fira Sans" pitchFamily="34" charset="0"/>
                <a:ea typeface="Fira Sans" pitchFamily="34" charset="-122"/>
                <a:cs typeface="Fira Sans" pitchFamily="34" charset="-120"/>
              </a:rPr>
              <a:t>Function tools: ADK reads type hints + docstring → JSON schema</a:t>
            </a:r>
            <a:endParaRPr lang="en-US" sz="1300" dirty="0"/>
          </a:p>
          <a:p>
            <a:pPr lvl="1" marL="685800" indent="-342900">
              <a:spcAft>
                <a:spcPts val="200"/>
              </a:spcAft>
              <a:buSzPct val="100000"/>
              <a:buChar char="•"/>
            </a:pPr>
            <a:r>
              <a:rPr lang="en-US" sz="1300" dirty="0">
                <a:solidFill>
                  <a:srgbClr val="FFFFFF"/>
                </a:solidFill>
                <a:latin typeface="Fira Sans" pitchFamily="34" charset="0"/>
                <a:ea typeface="Fira Sans" pitchFamily="34" charset="-122"/>
                <a:cs typeface="Fira Sans" pitchFamily="34" charset="-120"/>
              </a:rPr>
              <a:t>The LLM decides WHETHER to call tools — not scripted</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02920" y="4526280"/>
          <a:ext cx="6400800" cy="914400"/>
        </p:xfrm>
        <a:graphic>
          <a:graphicData uri="http://schemas.openxmlformats.org/drawingml/2006/table">
            <a:tbl>
              <a:tblPr/>
              <a:tblGrid>
                <a:gridCol w="3474720"/>
                <a:gridCol w="2926080"/>
              </a:tblGrid>
              <a:tr h="0">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Try this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Expected</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"What's 742 Evergreen Terrace worth?"</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Calls tool → $462K, high confidence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"What about 999 Unknown Ave?"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Calls tool → $450K, LOW confidence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"What's the best neighborhood in Austin?"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NO tool call — LLM knowledge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pic>
        <p:nvPicPr>
          <p:cNvPr id="10" name="Image 1" descr="C:\Users\jeesingh\.copilot\session-state\b8ab4bc6-faf5-4ebd-bea2-f997a4b9a7ea\files\deck\img\x413.png">    </p:cNvPr>
          <p:cNvPicPr>
            <a:picLocks noChangeAspect="1"/>
          </p:cNvPicPr>
          <p:nvPr/>
        </p:nvPicPr>
        <p:blipFill>
          <a:blip r:embed="rId2"/>
          <a:stretch>
            <a:fillRect/>
          </a:stretch>
        </p:blipFill>
        <p:spPr>
          <a:xfrm>
            <a:off x="7132320" y="1409700"/>
            <a:ext cx="4829810" cy="471043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01: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What Happened</a:t>
            </a:r>
            <a:endParaRPr lang="en-US" sz="1400" dirty="0"/>
          </a:p>
        </p:txBody>
      </p:sp>
      <p:pic>
        <p:nvPicPr>
          <p:cNvPr id="5" name="Image 1" descr="C:\Users\jeesingh\.copilot\session-state\b8ab4bc6-faf5-4ebd-bea2-f997a4b9a7ea\files\deck\img\x420.png">    </p:cNvPr>
          <p:cNvPicPr>
            <a:picLocks noChangeAspect="1"/>
          </p:cNvPicPr>
          <p:nvPr/>
        </p:nvPicPr>
        <p:blipFill>
          <a:blip r:embed="rId2"/>
          <a:stretch>
            <a:fillRect/>
          </a:stretch>
        </p:blipFill>
        <p:spPr>
          <a:xfrm>
            <a:off x="2880360" y="803910"/>
            <a:ext cx="6250940" cy="4579620"/>
          </a:xfrm>
          <a:prstGeom prst="rect">
            <a:avLst/>
          </a:prstGeom>
        </p:spPr>
      </p:pic>
      <p:sp>
        <p:nvSpPr>
          <p:cNvPr id="6" name="Shape 2"/>
          <p:cNvSpPr/>
          <p:nvPr/>
        </p:nvSpPr>
        <p:spPr>
          <a:xfrm>
            <a:off x="502920" y="5440680"/>
            <a:ext cx="9326880" cy="868680"/>
          </a:xfrm>
          <a:prstGeom prst="rect">
            <a:avLst/>
          </a:prstGeom>
          <a:solidFill>
            <a:srgbClr val="CCFBF1"/>
          </a:solidFill>
          <a:ln w="12700">
            <a:solidFill>
              <a:srgbClr val="CCFBF1"/>
            </a:solidFill>
            <a:prstDash val="solid"/>
          </a:ln>
        </p:spPr>
      </p:sp>
      <p:sp>
        <p:nvSpPr>
          <p:cNvPr id="7" name="Text 3"/>
          <p:cNvSpPr/>
          <p:nvPr/>
        </p:nvSpPr>
        <p:spPr>
          <a:xfrm>
            <a:off x="640080" y="5486400"/>
            <a:ext cx="9052560" cy="777240"/>
          </a:xfrm>
          <a:prstGeom prst="rect">
            <a:avLst/>
          </a:prstGeom>
          <a:noFill/>
          <a:ln/>
        </p:spPr>
        <p:txBody>
          <a:bodyPr wrap="square" lIns="254" tIns="254" rIns="254" bIns="254" rtlCol="0" anchor="ctr"/>
          <a:lstStyle/>
          <a:p>
            <a:pPr indent="0" marL="0">
              <a:buNone/>
            </a:pPr>
            <a:r>
              <a:rPr lang="en-US" sz="1250" b="1" dirty="0">
                <a:solidFill>
                  <a:srgbClr val="0F766E"/>
                </a:solidFill>
                <a:latin typeface="Fira Sans" pitchFamily="34" charset="0"/>
                <a:ea typeface="Fira Sans" pitchFamily="34" charset="-122"/>
                <a:cs typeface="Fira Sans" pitchFamily="34" charset="-120"/>
              </a:rPr>
              <a:t>KEY TAKEAWAY </a:t>
            </a:r>
            <a:r>
              <a:rPr lang="en-US" sz="1250" dirty="0">
                <a:solidFill>
                  <a:srgbClr val="1E293B"/>
                </a:solidFill>
                <a:latin typeface="Fira Sans" pitchFamily="34" charset="0"/>
                <a:ea typeface="Fira Sans" pitchFamily="34" charset="-122"/>
                <a:cs typeface="Fira Sans" pitchFamily="34" charset="-120"/>
              </a:rPr>
              <a:t>Compare to M1's github_agent_client.py — there you hand-wrote the tool loop (call LLM → check tool_calls → execute → feed back). Here, tools=[fn] and ADK does the rest. ADK replaces ~60 lines of manual tool loop with one declaration.</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02: </a:t>
            </a:r>
            <a:r>
              <a:rPr lang="en-US" sz="3000" b="1" dirty="0">
                <a:solidFill>
                  <a:srgbClr val="FFFFFF"/>
                </a:solidFill>
                <a:latin typeface="Fira Sans" pitchFamily="34" charset="0"/>
                <a:ea typeface="Fira Sans" pitchFamily="34" charset="-122"/>
                <a:cs typeface="Fira Sans" pitchFamily="34" charset="-120"/>
              </a:rPr>
              <a:t>MCP Tools in ADK — Remote + Authenticated</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Auto-discover tools from a protected MCP server</a:t>
            </a:r>
            <a:endParaRPr lang="en-US" sz="1400" dirty="0"/>
          </a:p>
        </p:txBody>
      </p:sp>
      <p:sp>
        <p:nvSpPr>
          <p:cNvPr id="5" name="Shape 2"/>
          <p:cNvSpPr/>
          <p:nvPr/>
        </p:nvSpPr>
        <p:spPr>
          <a:xfrm>
            <a:off x="502920" y="1234440"/>
            <a:ext cx="6035040" cy="2743200"/>
          </a:xfrm>
          <a:prstGeom prst="rect">
            <a:avLst/>
          </a:prstGeom>
          <a:solidFill>
            <a:srgbClr val="333333"/>
          </a:solidFill>
          <a:ln w="12700">
            <a:solidFill>
              <a:srgbClr val="333333"/>
            </a:solidFill>
            <a:prstDash val="solid"/>
          </a:ln>
        </p:spPr>
      </p:sp>
      <p:sp>
        <p:nvSpPr>
          <p:cNvPr id="6" name="Text 3"/>
          <p:cNvSpPr/>
          <p:nvPr/>
        </p:nvSpPr>
        <p:spPr>
          <a:xfrm>
            <a:off x="576072" y="1289304"/>
            <a:ext cx="5888736" cy="263347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root_agent = LlmAgent(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name=</a:t>
            </a:r>
            <a:r>
              <a:rPr lang="en-US" sz="1100" dirty="0">
                <a:solidFill>
                  <a:srgbClr val="A2FCA2"/>
                </a:solidFill>
                <a:latin typeface="Consolas" pitchFamily="34" charset="0"/>
                <a:ea typeface="Consolas" pitchFamily="34" charset="-122"/>
                <a:cs typeface="Consolas" pitchFamily="34" charset="-120"/>
              </a:rPr>
              <a:t>"mcp_tools_agent"</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model=</a:t>
            </a:r>
            <a:r>
              <a:rPr lang="en-US" sz="1100" dirty="0">
                <a:solidFill>
                  <a:srgbClr val="A2FCA2"/>
                </a:solidFill>
                <a:latin typeface="Consolas" pitchFamily="34" charset="0"/>
                <a:ea typeface="Consolas" pitchFamily="34" charset="-122"/>
                <a:cs typeface="Consolas" pitchFamily="34" charset="-120"/>
              </a:rPr>
              <a:t>"openai/gpt-4o"</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tools=[McpToolset(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connection_params=StreamableHTTPConnectionParams(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url=</a:t>
            </a:r>
            <a:r>
              <a:rPr lang="en-US" sz="1100" dirty="0">
                <a:solidFill>
                  <a:srgbClr val="A2FCA2"/>
                </a:solidFill>
                <a:latin typeface="Consolas" pitchFamily="34" charset="0"/>
                <a:ea typeface="Consolas" pitchFamily="34" charset="-122"/>
                <a:cs typeface="Consolas" pitchFamily="34" charset="-120"/>
              </a:rPr>
              <a:t>"http://127.0.0.1:8001/mcp"</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9CA3AF"/>
                </a:solidFill>
                <a:latin typeface="Consolas" pitchFamily="34" charset="0"/>
                <a:ea typeface="Consolas" pitchFamily="34" charset="-122"/>
                <a:cs typeface="Consolas" pitchFamily="34" charset="-120"/>
              </a:rPr>
              <a:t> # --http server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headers={</a:t>
            </a:r>
            <a:r>
              <a:rPr lang="en-US" sz="1100" dirty="0">
                <a:solidFill>
                  <a:srgbClr val="A2FCA2"/>
                </a:solidFill>
                <a:latin typeface="Consolas" pitchFamily="34" charset="0"/>
                <a:ea typeface="Consolas" pitchFamily="34" charset="-122"/>
                <a:cs typeface="Consolas" pitchFamily="34" charset="-120"/>
              </a:rPr>
              <a:t>"Authorization"</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f</a:t>
            </a:r>
            <a:r>
              <a:rPr lang="en-US" sz="1100" dirty="0">
                <a:solidFill>
                  <a:srgbClr val="A2FCA2"/>
                </a:solidFill>
                <a:latin typeface="Consolas" pitchFamily="34" charset="0"/>
                <a:ea typeface="Consolas" pitchFamily="34" charset="-122"/>
                <a:cs typeface="Consolas" pitchFamily="34" charset="-120"/>
              </a:rPr>
              <a:t>"Bearer {PRICING_MCP_TOKEN}"</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timeout=30.0,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before_model_callback=_require_tools,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t>
            </a:r>
            <a:endParaRPr lang="en-US" sz="1100" dirty="0"/>
          </a:p>
        </p:txBody>
      </p:sp>
      <p:sp>
        <p:nvSpPr>
          <p:cNvPr id="7" name="Shape 4"/>
          <p:cNvSpPr/>
          <p:nvPr/>
        </p:nvSpPr>
        <p:spPr>
          <a:xfrm>
            <a:off x="502920" y="4114800"/>
            <a:ext cx="6035040" cy="1600200"/>
          </a:xfrm>
          <a:prstGeom prst="rect">
            <a:avLst/>
          </a:prstGeom>
          <a:solidFill>
            <a:srgbClr val="333333"/>
          </a:solidFill>
          <a:ln w="12700">
            <a:solidFill>
              <a:srgbClr val="333333"/>
            </a:solidFill>
            <a:prstDash val="solid"/>
          </a:ln>
        </p:spPr>
      </p:sp>
      <p:sp>
        <p:nvSpPr>
          <p:cNvPr id="8" name="Text 5"/>
          <p:cNvSpPr/>
          <p:nvPr/>
        </p:nvSpPr>
        <p:spPr>
          <a:xfrm>
            <a:off x="576072" y="4169664"/>
            <a:ext cx="5888736" cy="1490472"/>
          </a:xfrm>
          <a:prstGeom prst="rect">
            <a:avLst/>
          </a:prstGeom>
          <a:noFill/>
          <a:ln/>
        </p:spPr>
        <p:txBody>
          <a:bodyPr wrap="square" lIns="635" tIns="635" rIns="635" bIns="635" rtlCol="0" anchor="t"/>
          <a:lstStyle/>
          <a:p>
            <a:pPr indent="0" marL="0">
              <a:buNone/>
            </a:pPr>
            <a:r>
              <a:rPr lang="en-US" sz="1100" dirty="0">
                <a:solidFill>
                  <a:srgbClr val="9CA3AF"/>
                </a:solidFill>
                <a:latin typeface="Consolas" pitchFamily="34" charset="0"/>
                <a:ea typeface="Consolas" pitchFamily="34" charset="-122"/>
                <a:cs typeface="Consolas" pitchFamily="34" charset="-120"/>
              </a:rPr>
              <a:t># Terminal 1 — protected pricing server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m1_mcp/pricing_server.py --http</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Pick an identity (writes the token to .env)</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python utils/pricing_auth.py --role buyer --write-env</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Terminal 2</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adk web m2_adk_multiagents/adk_demos/</a:t>
            </a:r>
            <a:endParaRPr lang="en-US" sz="11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6766560" y="1234440"/>
          <a:ext cx="4937760" cy="914400"/>
        </p:xfrm>
        <a:graphic>
          <a:graphicData uri="http://schemas.openxmlformats.org/drawingml/2006/table">
            <a:tbl>
              <a:tblPr/>
              <a:tblGrid>
                <a:gridCol w="1371600"/>
                <a:gridCol w="1691640"/>
                <a:gridCol w="1874520"/>
              </a:tblGrid>
              <a:tr h="0">
                <a:tc>
                  <a:txBody>
                    <a:bodyPr/>
                    <a:lstStyle/>
                    <a:p>
                      <a:pPr indent="0" marL="0">
                        <a:buNone/>
                      </a:pPr>
                      <a:r>
                        <a:rPr lang="en-US" sz="1050" b="1" dirty="0">
                          <a:solidFill>
                            <a:srgbClr val="FFFFFF"/>
                          </a:solidFill>
                          <a:latin typeface="Fira Sans" pitchFamily="34" charset="0"/>
                          <a:ea typeface="Fira Sans" pitchFamily="34" charset="-122"/>
                          <a:cs typeface="Fira Sans" pitchFamily="34" charset="-120"/>
                        </a:rPr>
                        <a:t>Layer</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050" b="1" dirty="0">
                          <a:solidFill>
                            <a:srgbClr val="FFFFFF"/>
                          </a:solidFill>
                          <a:latin typeface="Fira Sans" pitchFamily="34" charset="0"/>
                          <a:ea typeface="Fira Sans" pitchFamily="34" charset="-122"/>
                          <a:cs typeface="Fira Sans" pitchFamily="34" charset="-120"/>
                        </a:rPr>
                        <a:t>Rule</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050" b="1" dirty="0">
                          <a:solidFill>
                            <a:srgbClr val="FFFFFF"/>
                          </a:solidFill>
                          <a:latin typeface="Fira Sans" pitchFamily="34" charset="0"/>
                          <a:ea typeface="Fira Sans" pitchFamily="34" charset="-122"/>
                          <a:cs typeface="Fira Sans" pitchFamily="34" charset="-120"/>
                        </a:rPr>
                        <a:t>What you see</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Authentication</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Valid, signed, unexpired JWT</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Bad token → 401, ADK loads no tools</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Server authorization</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Token needs pricing:read</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guest token → 403, no tools</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Tool authorization</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calculate_discount needs pricing:analyze</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buyer: market price ✓, discount ✗ "forbidden"</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0" name="Text 6"/>
          <p:cNvSpPr/>
          <p:nvPr/>
        </p:nvSpPr>
        <p:spPr>
          <a:xfrm>
            <a:off x="6766560" y="4114800"/>
            <a:ext cx="4937760" cy="1600200"/>
          </a:xfrm>
          <a:prstGeom prst="rect">
            <a:avLst/>
          </a:prstGeom>
          <a:noFill/>
          <a:ln/>
        </p:spPr>
        <p:txBody>
          <a:bodyPr wrap="square" lIns="635" tIns="635" rIns="635" bIns="635" rtlCol="0" anchor="t"/>
          <a:lstStyle/>
          <a:p>
            <a:pPr algn="l" indent="0" marL="0">
              <a:buNone/>
            </a:pPr>
            <a:r>
              <a:rPr lang="en-US" sz="1300" dirty="0">
                <a:solidFill>
                  <a:srgbClr val="FFFFFF"/>
                </a:solidFill>
                <a:latin typeface="Fira Sans" pitchFamily="34" charset="0"/>
                <a:ea typeface="Fira Sans" pitchFamily="34" charset="-122"/>
                <a:cs typeface="Fira Sans" pitchFamily="34" charset="-120"/>
              </a:rPr>
              <a:t>d01: tools=[get_quick_estimate] — you wrote the function.</a:t>
            </a:r>
            <a:endParaRPr lang="en-US" sz="1300" dirty="0"/>
          </a:p>
          <a:p>
            <a:pPr algn="l" indent="0" marL="0">
              <a:buNone/>
            </a:pPr>
            <a:r>
              <a:rPr lang="en-US" sz="1300" dirty="0">
                <a:solidFill>
                  <a:srgbClr val="FFFFFF"/>
                </a:solidFill>
                <a:latin typeface="Fira Sans" pitchFamily="34" charset="0"/>
                <a:ea typeface="Fira Sans" pitchFamily="34" charset="-122"/>
                <a:cs typeface="Fira Sans" pitchFamily="34" charset="-120"/>
              </a:rPr>
              <a:t>d02: tools=[McpToolset(...)] — ADK connects to the server and discovers the tools via MCP. Same function schemas for the LLM.</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02: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Same agent, different token — the server decides (actual runs, gpt-4o)</a:t>
            </a:r>
            <a:endParaRPr lang="en-US" sz="14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55680" cy="914400"/>
        </p:xfrm>
        <a:graphic>
          <a:graphicData uri="http://schemas.openxmlformats.org/drawingml/2006/table">
            <a:tbl>
              <a:tblPr/>
              <a:tblGrid>
                <a:gridCol w="365760"/>
                <a:gridCol w="1005840"/>
                <a:gridCol w="4389120"/>
                <a:gridCol w="539496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Token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Question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What happened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1</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buyer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What's 742 Evergreen Terrace worth?</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Calls get_market_price → $462K estimate, comps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2</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buyer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Calculate the discount range for a $485K listing (balanced, 18 days, good)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calculate_discount → forbidden: lacks scope 'pricing:analyze'. The model names the missing scope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3</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analyst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Same discount question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calculate_discount runs → 2%–5% range, suggested offers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4</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invalid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What's 742 Evergreen Terrace worth?</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Server 401 → ADK loads no tools → "I can't reach the pricing tools"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5</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any valid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What's the crime rate near 742 Evergreen?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 tool call — the agent has no crime tool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2"/>
          <p:cNvSpPr/>
          <p:nvPr/>
        </p:nvSpPr>
        <p:spPr>
          <a:xfrm>
            <a:off x="502920" y="4572000"/>
            <a:ext cx="11155680" cy="1051560"/>
          </a:xfrm>
          <a:prstGeom prst="rect">
            <a:avLst/>
          </a:prstGeom>
          <a:solidFill>
            <a:srgbClr val="CCFBF1"/>
          </a:solidFill>
          <a:ln w="12700">
            <a:solidFill>
              <a:srgbClr val="CCFBF1"/>
            </a:solidFill>
            <a:prstDash val="solid"/>
          </a:ln>
        </p:spPr>
      </p:sp>
      <p:sp>
        <p:nvSpPr>
          <p:cNvPr id="7" name="Text 3"/>
          <p:cNvSpPr/>
          <p:nvPr/>
        </p:nvSpPr>
        <p:spPr>
          <a:xfrm>
            <a:off x="640080" y="4617720"/>
            <a:ext cx="10881360" cy="96012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KEY TAKEAWAYS </a:t>
            </a:r>
            <a:r>
              <a:rPr lang="en-US" sz="1300" dirty="0">
                <a:solidFill>
                  <a:srgbClr val="1E293B"/>
                </a:solidFill>
                <a:latin typeface="Fira Sans" pitchFamily="34" charset="0"/>
                <a:ea typeface="Fira Sans" pitchFamily="34" charset="-122"/>
                <a:cs typeface="Fira Sans" pitchFamily="34" charset="-120"/>
              </a:rPr>
              <a:t>Tools are discovered, never named in agent.py — add an @mcp.tool() and restart. Authorization errors come back as tool results the model can explain. A failed connection means zero tools, so the before_model_callback answers honestly instead of letting the model pretend.</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McpToolset: </a:t>
            </a:r>
            <a:r>
              <a:rPr lang="en-US" sz="3000" b="1" dirty="0">
                <a:solidFill>
                  <a:srgbClr val="FFFFFF"/>
                </a:solidFill>
                <a:latin typeface="Fira Sans" pitchFamily="34" charset="0"/>
                <a:ea typeface="Fira Sans" pitchFamily="34" charset="-122"/>
                <a:cs typeface="Fira Sans" pitchFamily="34" charset="-120"/>
              </a:rPr>
              <a:t>Two Ways to Connect</a:t>
            </a:r>
            <a:endParaRPr lang="en-US" sz="30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502920" y="1005840"/>
          <a:ext cx="5852160" cy="914400"/>
        </p:xfrm>
        <a:graphic>
          <a:graphicData uri="http://schemas.openxmlformats.org/drawingml/2006/table">
            <a:tbl>
              <a:tblPr/>
              <a:tblGrid>
                <a:gridCol w="1188720"/>
                <a:gridCol w="2011680"/>
                <a:gridCol w="2651760"/>
              </a:tblGrid>
              <a:tr h="0">
                <a:tc>
                  <a:txBody>
                    <a:bodyPr/>
                    <a:lstStyle/>
                    <a:p>
                      <a:pPr indent="0" marL="0">
                        <a:buNone/>
                      </a:pP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50" b="1" dirty="0">
                          <a:solidFill>
                            <a:srgbClr val="FFFFFF"/>
                          </a:solidFill>
                          <a:latin typeface="Fira Sans" pitchFamily="34" charset="0"/>
                          <a:ea typeface="Fira Sans" pitchFamily="34" charset="-122"/>
                          <a:cs typeface="Fira Sans" pitchFamily="34" charset="-120"/>
                        </a:rPr>
                        <a:t>StdioConnectionParams</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50" b="1" dirty="0">
                          <a:solidFill>
                            <a:srgbClr val="FFFFFF"/>
                          </a:solidFill>
                          <a:latin typeface="Fira Sans" pitchFamily="34" charset="0"/>
                          <a:ea typeface="Fira Sans" pitchFamily="34" charset="-122"/>
                          <a:cs typeface="Fira Sans" pitchFamily="34" charset="-120"/>
                        </a:rPr>
                        <a:t>StreamableHTTPConnectionParams</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Who starts the server</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ADK spawns it as a subprocess</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You run it (or it's hosted)</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Used by</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buyer_agent, seller_agent, negotiation</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d02 (pricing_server.py --http)</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Auth</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None — stdio has no auth layer</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Bearer token in headers on every request</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Lifecycle</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Dies with adk web</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Independent process; many clients</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5" name="Text 1"/>
          <p:cNvSpPr/>
          <p:nvPr/>
        </p:nvSpPr>
        <p:spPr>
          <a:xfrm>
            <a:off x="502920" y="3977640"/>
            <a:ext cx="5852160" cy="1280160"/>
          </a:xfrm>
          <a:prstGeom prst="rect">
            <a:avLst/>
          </a:prstGeom>
          <a:noFill/>
          <a:ln/>
        </p:spPr>
        <p:txBody>
          <a:bodyPr wrap="square" lIns="635" tIns="635" rIns="635" bIns="635" rtlCol="0" anchor="t"/>
          <a:lstStyle/>
          <a:p>
            <a:pPr algn="l" indent="0" marL="0">
              <a:buNone/>
            </a:pPr>
            <a:r>
              <a:rPr lang="en-US" sz="1300" dirty="0">
                <a:solidFill>
                  <a:srgbClr val="FFFFFF"/>
                </a:solidFill>
                <a:latin typeface="Fira Sans" pitchFamily="34" charset="0"/>
                <a:ea typeface="Fira Sans" pitchFamily="34" charset="-122"/>
                <a:cs typeface="Fira Sans" pitchFamily="34" charset="-120"/>
              </a:rPr>
              <a:t>The diagram shows the stdio path the buyer and seller use: adk web spawns pricing_server.py, runs the MCP handshake, hands the tools to the LLM, and kills the subprocess on shutdown.</a:t>
            </a:r>
            <a:endParaRPr lang="en-US" sz="1300" dirty="0"/>
          </a:p>
        </p:txBody>
      </p:sp>
      <p:pic>
        <p:nvPicPr>
          <p:cNvPr id="6" name="Image 1" descr="C:\Users\jeesingh\.copilot\session-state\b8ab4bc6-faf5-4ebd-bea2-f997a4b9a7ea\files\deck\img\x432.png">    </p:cNvPr>
          <p:cNvPicPr>
            <a:picLocks noChangeAspect="1"/>
          </p:cNvPicPr>
          <p:nvPr/>
        </p:nvPicPr>
        <p:blipFill>
          <a:blip r:embed="rId2"/>
          <a:stretch>
            <a:fillRect/>
          </a:stretch>
        </p:blipFill>
        <p:spPr>
          <a:xfrm>
            <a:off x="6537960" y="1421368"/>
            <a:ext cx="5440680" cy="383238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03: </a:t>
            </a:r>
            <a:r>
              <a:rPr lang="en-US" sz="3000" b="1" dirty="0">
                <a:solidFill>
                  <a:srgbClr val="FFFFFF"/>
                </a:solidFill>
                <a:latin typeface="Fira Sans" pitchFamily="34" charset="0"/>
                <a:ea typeface="Fira Sans" pitchFamily="34" charset="-122"/>
                <a:cs typeface="Fira Sans" pitchFamily="34" charset="-120"/>
              </a:rPr>
              <a:t>Sessions &amp; State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Tools That Remember — the key prefix picks the scope</a:t>
            </a:r>
            <a:endParaRPr lang="en-US" sz="1400" dirty="0"/>
          </a:p>
        </p:txBody>
      </p:sp>
      <p:sp>
        <p:nvSpPr>
          <p:cNvPr id="5" name="Shape 2"/>
          <p:cNvSpPr/>
          <p:nvPr/>
        </p:nvSpPr>
        <p:spPr>
          <a:xfrm>
            <a:off x="502920" y="1234440"/>
            <a:ext cx="6766560" cy="1371600"/>
          </a:xfrm>
          <a:prstGeom prst="rect">
            <a:avLst/>
          </a:prstGeom>
          <a:solidFill>
            <a:srgbClr val="333333"/>
          </a:solidFill>
          <a:ln w="12700">
            <a:solidFill>
              <a:srgbClr val="333333"/>
            </a:solidFill>
            <a:prstDash val="solid"/>
          </a:ln>
        </p:spPr>
      </p:sp>
      <p:sp>
        <p:nvSpPr>
          <p:cNvPr id="6" name="Text 3"/>
          <p:cNvSpPr/>
          <p:nvPr/>
        </p:nvSpPr>
        <p:spPr>
          <a:xfrm>
            <a:off x="576072" y="1289304"/>
            <a:ext cx="6620256" cy="126187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def record_offer(price: int, tool_context: ToolContext) -&gt; dict: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state = tool_context.state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state[</a:t>
            </a:r>
            <a:r>
              <a:rPr lang="en-US" sz="1100" dirty="0">
                <a:solidFill>
                  <a:srgbClr val="A2FCA2"/>
                </a:solidFill>
                <a:latin typeface="Consolas" pitchFamily="34" charset="0"/>
                <a:ea typeface="Consolas" pitchFamily="34" charset="-122"/>
                <a:cs typeface="Consolas" pitchFamily="34" charset="-120"/>
              </a:rPr>
              <a:t>"offer_history"</a:t>
            </a:r>
            <a:r>
              <a:rPr lang="en-US" sz="1100" dirty="0">
                <a:solidFill>
                  <a:srgbClr val="FFFFFF"/>
                </a:solidFill>
                <a:latin typeface="Consolas" pitchFamily="34" charset="0"/>
                <a:ea typeface="Consolas" pitchFamily="34" charset="-122"/>
                <a:cs typeface="Consolas" pitchFamily="34" charset="-120"/>
              </a:rPr>
              <a:t>] = [*state.get(</a:t>
            </a:r>
            <a:r>
              <a:rPr lang="en-US" sz="1100" dirty="0">
                <a:solidFill>
                  <a:srgbClr val="A2FCA2"/>
                </a:solidFill>
                <a:latin typeface="Consolas" pitchFamily="34" charset="0"/>
                <a:ea typeface="Consolas" pitchFamily="34" charset="-122"/>
                <a:cs typeface="Consolas" pitchFamily="34" charset="-120"/>
              </a:rPr>
              <a:t>"offer_history"</a:t>
            </a:r>
            <a:r>
              <a:rPr lang="en-US" sz="1100" dirty="0">
                <a:solidFill>
                  <a:srgbClr val="FFFFFF"/>
                </a:solidFill>
                <a:latin typeface="Consolas" pitchFamily="34" charset="0"/>
                <a:ea typeface="Consolas" pitchFamily="34" charset="-122"/>
                <a:cs typeface="Consolas" pitchFamily="34" charset="-120"/>
              </a:rPr>
              <a:t>, []), price]  </a:t>
            </a:r>
            <a:r>
              <a:rPr lang="en-US" sz="1100" dirty="0">
                <a:solidFill>
                  <a:srgbClr val="9CA3AF"/>
                </a:solidFill>
                <a:latin typeface="Consolas" pitchFamily="34" charset="0"/>
                <a:ea typeface="Consolas" pitchFamily="34" charset="-122"/>
                <a:cs typeface="Consolas" pitchFamily="34" charset="-120"/>
              </a:rPr>
              <a:t> # session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state[</a:t>
            </a:r>
            <a:r>
              <a:rPr lang="en-US" sz="1100" dirty="0">
                <a:solidFill>
                  <a:srgbClr val="A2FCA2"/>
                </a:solidFill>
                <a:latin typeface="Consolas" pitchFamily="34" charset="0"/>
                <a:ea typeface="Consolas" pitchFamily="34" charset="-122"/>
                <a:cs typeface="Consolas" pitchFamily="34" charset="-120"/>
              </a:rPr>
              <a:t>"user:total_offers"</a:t>
            </a:r>
            <a:r>
              <a:rPr lang="en-US" sz="1100" dirty="0">
                <a:solidFill>
                  <a:srgbClr val="FFFFFF"/>
                </a:solidFill>
                <a:latin typeface="Consolas" pitchFamily="34" charset="0"/>
                <a:ea typeface="Consolas" pitchFamily="34" charset="-122"/>
                <a:cs typeface="Consolas" pitchFamily="34" charset="-120"/>
              </a:rPr>
              <a:t>] = state.get(</a:t>
            </a:r>
            <a:r>
              <a:rPr lang="en-US" sz="1100" dirty="0">
                <a:solidFill>
                  <a:srgbClr val="A2FCA2"/>
                </a:solidFill>
                <a:latin typeface="Consolas" pitchFamily="34" charset="0"/>
                <a:ea typeface="Consolas" pitchFamily="34" charset="-122"/>
                <a:cs typeface="Consolas" pitchFamily="34" charset="-120"/>
              </a:rPr>
              <a:t>"user:total_offers"</a:t>
            </a:r>
            <a:r>
              <a:rPr lang="en-US" sz="1100" dirty="0">
                <a:solidFill>
                  <a:srgbClr val="FFFFFF"/>
                </a:solidFill>
                <a:latin typeface="Consolas" pitchFamily="34" charset="0"/>
                <a:ea typeface="Consolas" pitchFamily="34" charset="-122"/>
                <a:cs typeface="Consolas" pitchFamily="34" charset="-120"/>
              </a:rPr>
              <a:t>, 0) + 1 </a:t>
            </a:r>
            <a:r>
              <a:rPr lang="en-US" sz="1100" dirty="0">
                <a:solidFill>
                  <a:srgbClr val="9CA3AF"/>
                </a:solidFill>
                <a:latin typeface="Consolas" pitchFamily="34" charset="0"/>
                <a:ea typeface="Consolas" pitchFamily="34" charset="-122"/>
                <a:cs typeface="Consolas" pitchFamily="34" charset="-120"/>
              </a:rPr>
              <a:t> # this user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state[</a:t>
            </a:r>
            <a:r>
              <a:rPr lang="en-US" sz="1100" dirty="0">
                <a:solidFill>
                  <a:srgbClr val="A2FCA2"/>
                </a:solidFill>
                <a:latin typeface="Consolas" pitchFamily="34" charset="0"/>
                <a:ea typeface="Consolas" pitchFamily="34" charset="-122"/>
                <a:cs typeface="Consolas" pitchFamily="34" charset="-120"/>
              </a:rPr>
              <a:t>"app:total_offers"</a:t>
            </a:r>
            <a:r>
              <a:rPr lang="en-US" sz="1100" dirty="0">
                <a:solidFill>
                  <a:srgbClr val="FFFFFF"/>
                </a:solidFill>
                <a:latin typeface="Consolas" pitchFamily="34" charset="0"/>
                <a:ea typeface="Consolas" pitchFamily="34" charset="-122"/>
                <a:cs typeface="Consolas" pitchFamily="34" charset="-120"/>
              </a:rPr>
              <a:t>] = state.get(</a:t>
            </a:r>
            <a:r>
              <a:rPr lang="en-US" sz="1100" dirty="0">
                <a:solidFill>
                  <a:srgbClr val="A2FCA2"/>
                </a:solidFill>
                <a:latin typeface="Consolas" pitchFamily="34" charset="0"/>
                <a:ea typeface="Consolas" pitchFamily="34" charset="-122"/>
                <a:cs typeface="Consolas" pitchFamily="34" charset="-120"/>
              </a:rPr>
              <a:t>"app:total_offers"</a:t>
            </a:r>
            <a:r>
              <a:rPr lang="en-US" sz="1100" dirty="0">
                <a:solidFill>
                  <a:srgbClr val="FFFFFF"/>
                </a:solidFill>
                <a:latin typeface="Consolas" pitchFamily="34" charset="0"/>
                <a:ea typeface="Consolas" pitchFamily="34" charset="-122"/>
                <a:cs typeface="Consolas" pitchFamily="34" charset="-120"/>
              </a:rPr>
              <a:t>, 0) + 1   </a:t>
            </a:r>
            <a:r>
              <a:rPr lang="en-US" sz="1100" dirty="0">
                <a:solidFill>
                  <a:srgbClr val="9CA3AF"/>
                </a:solidFill>
                <a:latin typeface="Consolas" pitchFamily="34" charset="0"/>
                <a:ea typeface="Consolas" pitchFamily="34" charset="-122"/>
                <a:cs typeface="Consolas" pitchFamily="34" charset="-120"/>
              </a:rPr>
              <a:t> # everyone</a:t>
            </a:r>
            <a:endParaRPr lang="en-US" sz="11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02920" y="2743200"/>
          <a:ext cx="6766560" cy="914400"/>
        </p:xfrm>
        <a:graphic>
          <a:graphicData uri="http://schemas.openxmlformats.org/drawingml/2006/table">
            <a:tbl>
              <a:tblPr/>
              <a:tblGrid>
                <a:gridCol w="1097280"/>
                <a:gridCol w="3108960"/>
                <a:gridCol w="256032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Prefix</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Shared with</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Table in .adk/session.db</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(none)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This conversation only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sessions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user: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This user, across their sessions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user_states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app:</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Every user of this agent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app_states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temp:</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This invocation only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never saved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graphicFrame>
        <p:nvGraphicFramePr>
          <p:cNvPr id="99" name="Table 1"/>
          <p:cNvGraphicFramePr>
            <a:graphicFrameLocks noGrp="1"/>
          </p:cNvGraphicFramePr>
          <p:nvPr>
            <p:extLst>
              <p:ext uri="{D42A27DB-BD31-4B8C-83A1-F6EECF244321}">
                <p14:modId xmlns:p14="http://schemas.microsoft.com/office/powerpoint/2010/main" val="1579011935"/>
              </p:ext>
            </p:extLst>
          </p:nvPr>
        </p:nvGraphicFramePr>
        <p:xfrm>
          <a:off x="502920" y="4617720"/>
          <a:ext cx="6766560" cy="914400"/>
        </p:xfrm>
        <a:graphic>
          <a:graphicData uri="http://schemas.openxmlformats.org/drawingml/2006/table">
            <a:tbl>
              <a:tblPr/>
              <a:tblGrid>
                <a:gridCol w="2377440"/>
                <a:gridCol w="4389120"/>
              </a:tblGrid>
              <a:tr h="0">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Type (same session)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State afterwards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"I offer $430,000"</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offer_history [430000]; user/app totals 1</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"I offer $445,000"</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history [430000, 445000]; totals 2</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New Session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no offer_history; user: and app: still 2</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"I offer $450,000"</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history [450000]; totals 3</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pic>
        <p:nvPicPr>
          <p:cNvPr id="9" name="Image 1" descr="C:\Users\jeesingh\.copilot\session-state\b8ab4bc6-faf5-4ebd-bea2-f997a4b9a7ea\files\deck\img\x439.png">    </p:cNvPr>
          <p:cNvPicPr>
            <a:picLocks noChangeAspect="1"/>
          </p:cNvPicPr>
          <p:nvPr/>
        </p:nvPicPr>
        <p:blipFill>
          <a:blip r:embed="rId2"/>
          <a:stretch>
            <a:fillRect/>
          </a:stretch>
        </p:blipFill>
        <p:spPr>
          <a:xfrm>
            <a:off x="7452360" y="1873120"/>
            <a:ext cx="4526280" cy="329463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03: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Scopes proven by New Session</a:t>
            </a:r>
            <a:endParaRPr lang="en-US" sz="1400" dirty="0"/>
          </a:p>
        </p:txBody>
      </p:sp>
      <p:sp>
        <p:nvSpPr>
          <p:cNvPr id="5" name="Text 2"/>
          <p:cNvSpPr/>
          <p:nvPr/>
        </p:nvSpPr>
        <p:spPr>
          <a:xfrm>
            <a:off x="502920" y="1234440"/>
            <a:ext cx="11155680" cy="2286000"/>
          </a:xfrm>
          <a:prstGeom prst="rect">
            <a:avLst/>
          </a:prstGeom>
          <a:noFill/>
          <a:ln/>
        </p:spPr>
        <p:txBody>
          <a:bodyPr wrap="square" lIns="635" tIns="635" rIns="635" bIns="635" rtlCol="0" anchor="t"/>
          <a:lstStyle/>
          <a:p>
            <a:pPr marL="342900" indent="-342900">
              <a:spcAft>
                <a:spcPts val="800"/>
              </a:spcAft>
              <a:buSzPct val="100000"/>
              <a:buChar char="•"/>
            </a:pPr>
            <a:r>
              <a:rPr lang="en-US" sz="1500" b="1" dirty="0">
                <a:solidFill>
                  <a:srgbClr val="FFAB40"/>
                </a:solidFill>
                <a:latin typeface="Fira Sans" pitchFamily="34" charset="0"/>
                <a:ea typeface="Fira Sans" pitchFamily="34" charset="-122"/>
                <a:cs typeface="Fira Sans" pitchFamily="34" charset="-120"/>
              </a:rPr>
              <a:t>One tool call, three tables. </a:t>
            </a:r>
            <a:r>
              <a:rPr lang="en-US" sz="1500" dirty="0">
                <a:solidFill>
                  <a:srgbClr val="FFFFFF"/>
                </a:solidFill>
                <a:latin typeface="Fira Sans" pitchFamily="34" charset="0"/>
                <a:ea typeface="Fira Sans" pitchFamily="34" charset="-122"/>
                <a:cs typeface="Fira Sans" pitchFamily="34" charset="-120"/>
              </a:rPr>
              <a:t>record_offer writes offer_history, user:total_offers and the app: keys — the prefix, not the tool, decides where each lands</a:t>
            </a:r>
            <a:endParaRPr lang="en-US" sz="1500" dirty="0"/>
          </a:p>
          <a:p>
            <a:pPr marL="342900" indent="-342900">
              <a:spcAft>
                <a:spcPts val="800"/>
              </a:spcAft>
              <a:buSzPct val="100000"/>
              <a:buChar char="•"/>
            </a:pPr>
            <a:r>
              <a:rPr lang="en-US" sz="1500" b="1" dirty="0">
                <a:solidFill>
                  <a:srgbClr val="FFAB40"/>
                </a:solidFill>
                <a:latin typeface="Fira Sans" pitchFamily="34" charset="0"/>
                <a:ea typeface="Fira Sans" pitchFamily="34" charset="-122"/>
                <a:cs typeface="Fira Sans" pitchFamily="34" charset="-120"/>
              </a:rPr>
              <a:t>New Session proves the scopes. </a:t>
            </a:r>
            <a:r>
              <a:rPr lang="en-US" sz="1500" dirty="0">
                <a:solidFill>
                  <a:srgbClr val="FFFFFF"/>
                </a:solidFill>
                <a:latin typeface="Fira Sans" pitchFamily="34" charset="0"/>
                <a:ea typeface="Fira Sans" pitchFamily="34" charset="-122"/>
                <a:cs typeface="Fira Sans" pitchFamily="34" charset="-120"/>
              </a:rPr>
              <a:t>Before you type anything, the State tab already shows user: and app: keys, while offer_history is gone</a:t>
            </a:r>
            <a:endParaRPr lang="en-US" sz="1500" dirty="0"/>
          </a:p>
          <a:p>
            <a:pPr marL="342900" indent="-342900">
              <a:spcAft>
                <a:spcPts val="800"/>
              </a:spcAft>
              <a:buSzPct val="100000"/>
              <a:buChar char="•"/>
            </a:pPr>
            <a:r>
              <a:rPr lang="en-US" sz="1500" b="1" dirty="0">
                <a:solidFill>
                  <a:srgbClr val="FFAB40"/>
                </a:solidFill>
                <a:latin typeface="Fira Sans" pitchFamily="34" charset="0"/>
                <a:ea typeface="Fira Sans" pitchFamily="34" charset="-122"/>
                <a:cs typeface="Fira Sans" pitchFamily="34" charset="-120"/>
              </a:rPr>
              <a:t>Prefix stripped in storage. </a:t>
            </a:r>
            <a:r>
              <a:rPr lang="en-US" sz="1500" dirty="0">
                <a:solidFill>
                  <a:srgbClr val="FFFFFF"/>
                </a:solidFill>
                <a:latin typeface="Fira Sans" pitchFamily="34" charset="0"/>
                <a:ea typeface="Fira Sans" pitchFamily="34" charset="-122"/>
                <a:cs typeface="Fira Sans" pitchFamily="34" charset="-120"/>
              </a:rPr>
              <a:t>user:total_offers is stored as total_offers in the user_states row — the table is the scope</a:t>
            </a:r>
            <a:endParaRPr lang="en-US" sz="15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502920" y="3657600"/>
          <a:ext cx="11155680" cy="914400"/>
        </p:xfrm>
        <a:graphic>
          <a:graphicData uri="http://schemas.openxmlformats.org/drawingml/2006/table">
            <a:tbl>
              <a:tblPr/>
              <a:tblGrid>
                <a:gridCol w="4206240"/>
                <a:gridCol w="3108960"/>
                <a:gridCol w="384048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Why user: and app: look the same here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After alice's 3 offers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Then bob makes 1 offer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alice's user:total_offers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3</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3 (bob has his own row)</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bob's user:total_offers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1</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app:total_offers (everyone)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3</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4 (one shared row)</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Shape 3"/>
          <p:cNvSpPr/>
          <p:nvPr/>
        </p:nvSpPr>
        <p:spPr>
          <a:xfrm>
            <a:off x="502920" y="5349240"/>
            <a:ext cx="11155680" cy="685800"/>
          </a:xfrm>
          <a:prstGeom prst="rect">
            <a:avLst/>
          </a:prstGeom>
          <a:solidFill>
            <a:srgbClr val="CCFBF1"/>
          </a:solidFill>
          <a:ln w="12700">
            <a:solidFill>
              <a:srgbClr val="CCFBF1"/>
            </a:solidFill>
            <a:prstDash val="solid"/>
          </a:ln>
        </p:spPr>
      </p:sp>
      <p:sp>
        <p:nvSpPr>
          <p:cNvPr id="8" name="Text 4"/>
          <p:cNvSpPr/>
          <p:nvPr/>
        </p:nvSpPr>
        <p:spPr>
          <a:xfrm>
            <a:off x="640080" y="5394960"/>
            <a:ext cx="10881360" cy="59436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adk web is single-user </a:t>
            </a:r>
            <a:r>
              <a:rPr lang="en-US" sz="1300" dirty="0">
                <a:solidFill>
                  <a:srgbClr val="1E293B"/>
                </a:solidFill>
                <a:latin typeface="Fira Sans" pitchFamily="34" charset="0"/>
                <a:ea typeface="Fira Sans" pitchFamily="34" charset="-122"/>
                <a:cs typeface="Fira Sans" pitchFamily="34" charset="-120"/>
              </a:rPr>
              <a:t>(user_id = "user"), so user: and app: move together in the UI. A real app passes each person's user_id to runner.run_async(...) — then they diverge.</a:t>
            </a:r>
            <a:endParaRPr lang="en-US" sz="13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04: </a:t>
            </a:r>
            <a:r>
              <a:rPr lang="en-US" sz="3000" b="1" dirty="0">
                <a:solidFill>
                  <a:srgbClr val="FFFFFF"/>
                </a:solidFill>
                <a:latin typeface="Fira Sans" pitchFamily="34" charset="0"/>
                <a:ea typeface="Fira Sans" pitchFamily="34" charset="-122"/>
                <a:cs typeface="Fira Sans" pitchFamily="34" charset="-120"/>
              </a:rPr>
              <a:t>SequentialAgent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Pipeline: A → B → C</a:t>
            </a:r>
            <a:endParaRPr lang="en-US" sz="1400" dirty="0"/>
          </a:p>
        </p:txBody>
      </p:sp>
      <p:sp>
        <p:nvSpPr>
          <p:cNvPr id="5" name="Shape 2"/>
          <p:cNvSpPr/>
          <p:nvPr/>
        </p:nvSpPr>
        <p:spPr>
          <a:xfrm>
            <a:off x="502920" y="1234440"/>
            <a:ext cx="5669280" cy="2148840"/>
          </a:xfrm>
          <a:prstGeom prst="rect">
            <a:avLst/>
          </a:prstGeom>
          <a:solidFill>
            <a:srgbClr val="333333"/>
          </a:solidFill>
          <a:ln w="12700">
            <a:solidFill>
              <a:srgbClr val="333333"/>
            </a:solidFill>
            <a:prstDash val="solid"/>
          </a:ln>
        </p:spPr>
      </p:sp>
      <p:sp>
        <p:nvSpPr>
          <p:cNvPr id="6" name="Text 3"/>
          <p:cNvSpPr/>
          <p:nvPr/>
        </p:nvSpPr>
        <p:spPr>
          <a:xfrm>
            <a:off x="576072" y="1289304"/>
            <a:ext cx="5522976" cy="2039112"/>
          </a:xfrm>
          <a:prstGeom prst="rect">
            <a:avLst/>
          </a:prstGeom>
          <a:noFill/>
          <a:ln/>
        </p:spPr>
        <p:txBody>
          <a:bodyPr wrap="square" lIns="635" tIns="635" rIns="635" bIns="635" rtlCol="0" anchor="t"/>
          <a:lstStyle/>
          <a:p>
            <a:pPr indent="0" marL="0">
              <a:buNone/>
            </a:pPr>
            <a:r>
              <a:rPr lang="en-US" sz="1050" dirty="0">
                <a:solidFill>
                  <a:srgbClr val="FFFFFF"/>
                </a:solidFill>
                <a:latin typeface="Consolas" pitchFamily="34" charset="0"/>
                <a:ea typeface="Consolas" pitchFamily="34" charset="-122"/>
                <a:cs typeface="Consolas" pitchFamily="34" charset="-120"/>
              </a:rPr>
              <a:t>market_brief = LlmAgent(output_key=</a:t>
            </a:r>
            <a:r>
              <a:rPr lang="en-US" sz="1050" dirty="0">
                <a:solidFill>
                  <a:srgbClr val="A2FCA2"/>
                </a:solidFill>
                <a:latin typeface="Consolas" pitchFamily="34" charset="0"/>
                <a:ea typeface="Consolas" pitchFamily="34" charset="-122"/>
                <a:cs typeface="Consolas" pitchFamily="34" charset="-120"/>
              </a:rPr>
              <a:t>"market_summary"</a:t>
            </a:r>
            <a:r>
              <a:rPr lang="en-US" sz="1050" dirty="0">
                <a:solidFill>
                  <a:srgbClr val="FFFFFF"/>
                </a:solidFill>
                <a:latin typeface="Consolas" pitchFamily="34" charset="0"/>
                <a:ea typeface="Consolas" pitchFamily="34" charset="-122"/>
                <a:cs typeface="Consolas" pitchFamily="34" charset="-120"/>
              </a:rPr>
              <a:t>, ...)</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offer_drafter = LlmAgent(output_key=</a:t>
            </a:r>
            <a:r>
              <a:rPr lang="en-US" sz="1050" dirty="0">
                <a:solidFill>
                  <a:srgbClr val="A2FCA2"/>
                </a:solidFill>
                <a:latin typeface="Consolas" pitchFamily="34" charset="0"/>
                <a:ea typeface="Consolas" pitchFamily="34" charset="-122"/>
                <a:cs typeface="Consolas" pitchFamily="34" charset="-120"/>
              </a:rPr>
              <a:t>"offer_text"</a:t>
            </a: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instruction=</a:t>
            </a:r>
            <a:r>
              <a:rPr lang="en-US" sz="1050" dirty="0">
                <a:solidFill>
                  <a:srgbClr val="A2FCA2"/>
                </a:solidFill>
                <a:latin typeface="Consolas" pitchFamily="34" charset="0"/>
                <a:ea typeface="Consolas" pitchFamily="34" charset="-122"/>
                <a:cs typeface="Consolas" pitchFamily="34" charset="-120"/>
              </a:rPr>
              <a:t>"Read {market_summary} and draft an offer..."</a:t>
            </a: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polisher = LlmAgent(output_key=</a:t>
            </a:r>
            <a:r>
              <a:rPr lang="en-US" sz="1050" dirty="0">
                <a:solidFill>
                  <a:srgbClr val="A2FCA2"/>
                </a:solidFill>
                <a:latin typeface="Consolas" pitchFamily="34" charset="0"/>
                <a:ea typeface="Consolas" pitchFamily="34" charset="-122"/>
                <a:cs typeface="Consolas" pitchFamily="34" charset="-120"/>
              </a:rPr>
              <a:t>"final_email"</a:t>
            </a: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instruction=</a:t>
            </a:r>
            <a:r>
              <a:rPr lang="en-US" sz="1050" dirty="0">
                <a:solidFill>
                  <a:srgbClr val="A2FCA2"/>
                </a:solidFill>
                <a:latin typeface="Consolas" pitchFamily="34" charset="0"/>
                <a:ea typeface="Consolas" pitchFamily="34" charset="-122"/>
                <a:cs typeface="Consolas" pitchFamily="34" charset="-120"/>
              </a:rPr>
              <a:t>"Polish {offer_text} into a professional email..."</a:t>
            </a: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root_agent = SequentialAgent(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sub_agents=[market_brief, offer_drafter, polisher],</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a:t>
            </a:r>
            <a:endParaRPr lang="en-US" sz="1050" dirty="0"/>
          </a:p>
        </p:txBody>
      </p:sp>
      <p:sp>
        <p:nvSpPr>
          <p:cNvPr id="7" name="Text 4"/>
          <p:cNvSpPr/>
          <p:nvPr/>
        </p:nvSpPr>
        <p:spPr>
          <a:xfrm>
            <a:off x="502920" y="35661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DATA FLOW VIA STATE</a:t>
            </a:r>
            <a:endParaRPr lang="en-US" sz="1400" dirty="0"/>
          </a:p>
        </p:txBody>
      </p:sp>
      <p:sp>
        <p:nvSpPr>
          <p:cNvPr id="8" name="Shape 5"/>
          <p:cNvSpPr/>
          <p:nvPr/>
        </p:nvSpPr>
        <p:spPr>
          <a:xfrm>
            <a:off x="502920" y="3886200"/>
            <a:ext cx="5669280" cy="1097280"/>
          </a:xfrm>
          <a:prstGeom prst="rect">
            <a:avLst/>
          </a:prstGeom>
          <a:solidFill>
            <a:srgbClr val="F1F5F9"/>
          </a:solidFill>
          <a:ln w="12700">
            <a:solidFill>
              <a:srgbClr val="F1F5F9"/>
            </a:solidFill>
            <a:prstDash val="solid"/>
          </a:ln>
        </p:spPr>
      </p:sp>
      <p:sp>
        <p:nvSpPr>
          <p:cNvPr id="9" name="Text 6"/>
          <p:cNvSpPr/>
          <p:nvPr/>
        </p:nvSpPr>
        <p:spPr>
          <a:xfrm>
            <a:off x="594360" y="3886200"/>
            <a:ext cx="5486400" cy="1097280"/>
          </a:xfrm>
          <a:prstGeom prst="rect">
            <a:avLst/>
          </a:prstGeom>
          <a:noFill/>
          <a:ln/>
        </p:spPr>
        <p:txBody>
          <a:bodyPr wrap="square" lIns="381" tIns="381" rIns="381" bIns="381" rtlCol="0" anchor="ctr"/>
          <a:lstStyle/>
          <a:p>
            <a:pPr indent="0" marL="0">
              <a:buNone/>
            </a:pPr>
            <a:r>
              <a:rPr lang="en-US" sz="1150" dirty="0">
                <a:solidFill>
                  <a:srgbClr val="0F172A"/>
                </a:solidFill>
                <a:latin typeface="Consolas" pitchFamily="34" charset="0"/>
                <a:ea typeface="Consolas" pitchFamily="34" charset="-122"/>
                <a:cs typeface="Consolas" pitchFamily="34" charset="-120"/>
              </a:rPr>
              <a:t>market_brief writes "market_summary"</a:t>
            </a:r>
            <a:endParaRPr lang="en-US" sz="1150" dirty="0"/>
          </a:p>
          <a:p>
            <a:pPr indent="0" marL="0">
              <a:buNone/>
            </a:pPr>
            <a:r>
              <a:rPr lang="en-US" sz="1150" dirty="0">
                <a:solidFill>
                  <a:srgbClr val="0F172A"/>
                </a:solidFill>
                <a:latin typeface="Consolas" pitchFamily="34" charset="0"/>
                <a:ea typeface="Consolas" pitchFamily="34" charset="-122"/>
                <a:cs typeface="Consolas" pitchFamily="34" charset="-120"/>
              </a:rPr>
              <a:t>  → offer_drafter reads {market_summary}, writes "offer_text"</a:t>
            </a:r>
            <a:endParaRPr lang="en-US" sz="1150" dirty="0"/>
          </a:p>
          <a:p>
            <a:pPr indent="0" marL="0">
              <a:buNone/>
            </a:pPr>
            <a:r>
              <a:rPr lang="en-US" sz="1150" dirty="0">
                <a:solidFill>
                  <a:srgbClr val="0F172A"/>
                </a:solidFill>
                <a:latin typeface="Consolas" pitchFamily="34" charset="0"/>
                <a:ea typeface="Consolas" pitchFamily="34" charset="-122"/>
                <a:cs typeface="Consolas" pitchFamily="34" charset="-120"/>
              </a:rPr>
              <a:t>    → polisher reads {offer_text}, writes "final_email"</a:t>
            </a:r>
            <a:endParaRPr lang="en-US" sz="1150" dirty="0"/>
          </a:p>
        </p:txBody>
      </p:sp>
      <p:sp>
        <p:nvSpPr>
          <p:cNvPr id="10" name="Text 7"/>
          <p:cNvSpPr/>
          <p:nvPr/>
        </p:nvSpPr>
        <p:spPr>
          <a:xfrm>
            <a:off x="502920" y="5166360"/>
            <a:ext cx="5669280" cy="548640"/>
          </a:xfrm>
          <a:prstGeom prst="rect">
            <a:avLst/>
          </a:prstGeom>
          <a:noFill/>
          <a:ln/>
        </p:spPr>
        <p:txBody>
          <a:bodyPr wrap="square" lIns="635" tIns="635" rIns="635" bIns="635" rtlCol="0" anchor="t"/>
          <a:lstStyle/>
          <a:p>
            <a:pPr algn="l" indent="0" marL="0">
              <a:buNone/>
            </a:pPr>
            <a:r>
              <a:rPr lang="en-US" sz="1200" i="1" dirty="0">
                <a:solidFill>
                  <a:srgbClr val="CBD5E1"/>
                </a:solidFill>
                <a:latin typeface="Fira Sans" pitchFamily="34" charset="0"/>
                <a:ea typeface="Fira Sans" pitchFamily="34" charset="-122"/>
                <a:cs typeface="Fira Sans" pitchFamily="34" charset="-120"/>
              </a:rPr>
              <a:t>ADK 2.x: SequentialAgent still works but is deprecated in favor of Workflow (see after Demo 06).</a:t>
            </a:r>
            <a:endParaRPr lang="en-US" sz="1200" dirty="0"/>
          </a:p>
        </p:txBody>
      </p:sp>
      <p:pic>
        <p:nvPicPr>
          <p:cNvPr id="11" name="Image 1" descr="C:\Users\jeesingh\.copilot\session-state\b8ab4bc6-faf5-4ebd-bea2-f997a4b9a7ea\files\deck\img\x451.png">    </p:cNvPr>
          <p:cNvPicPr>
            <a:picLocks noChangeAspect="1"/>
          </p:cNvPicPr>
          <p:nvPr/>
        </p:nvPicPr>
        <p:blipFill>
          <a:blip r:embed="rId2"/>
          <a:stretch>
            <a:fillRect/>
          </a:stretch>
        </p:blipFill>
        <p:spPr>
          <a:xfrm>
            <a:off x="6350000" y="1308100"/>
            <a:ext cx="5839460" cy="467614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04: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Three Agents, One Pipeline</a:t>
            </a:r>
            <a:endParaRPr lang="en-US" sz="1400" dirty="0"/>
          </a:p>
        </p:txBody>
      </p:sp>
      <p:sp>
        <p:nvSpPr>
          <p:cNvPr id="5" name="Shape 2"/>
          <p:cNvSpPr/>
          <p:nvPr/>
        </p:nvSpPr>
        <p:spPr>
          <a:xfrm>
            <a:off x="502920" y="1234440"/>
            <a:ext cx="11155680" cy="1783080"/>
          </a:xfrm>
          <a:prstGeom prst="rect">
            <a:avLst/>
          </a:prstGeom>
          <a:solidFill>
            <a:srgbClr val="333333"/>
          </a:solidFill>
          <a:ln w="12700">
            <a:solidFill>
              <a:srgbClr val="333333"/>
            </a:solidFill>
            <a:prstDash val="solid"/>
          </a:ln>
        </p:spPr>
      </p:sp>
      <p:sp>
        <p:nvSpPr>
          <p:cNvPr id="6" name="Text 3"/>
          <p:cNvSpPr/>
          <p:nvPr/>
        </p:nvSpPr>
        <p:spPr>
          <a:xfrm>
            <a:off x="576072" y="1289304"/>
            <a:ext cx="11009376" cy="1673352"/>
          </a:xfrm>
          <a:prstGeom prst="rect">
            <a:avLst/>
          </a:prstGeom>
          <a:noFill/>
          <a:ln/>
        </p:spPr>
        <p:txBody>
          <a:bodyPr wrap="square" lIns="635" tIns="635" rIns="635" bIns="635" rtlCol="0" anchor="t"/>
          <a:lstStyle/>
          <a:p>
            <a:pPr indent="0" marL="0">
              <a:buNone/>
            </a:pPr>
            <a:r>
              <a:rPr lang="en-US" sz="1200" dirty="0">
                <a:solidFill>
                  <a:srgbClr val="FFFFFF"/>
                </a:solidFill>
                <a:latin typeface="Consolas" pitchFamily="34" charset="0"/>
                <a:ea typeface="Consolas" pitchFamily="34" charset="-122"/>
                <a:cs typeface="Consolas" pitchFamily="34" charset="-120"/>
              </a:rPr>
              <a:t>Event 1 | user              -&gt; </a:t>
            </a:r>
            <a:r>
              <a:rPr lang="en-US" sz="1200" dirty="0">
                <a:solidFill>
                  <a:srgbClr val="A2FCA2"/>
                </a:solidFill>
                <a:latin typeface="Consolas" pitchFamily="34" charset="0"/>
                <a:ea typeface="Consolas" pitchFamily="34" charset="-122"/>
                <a:cs typeface="Consolas" pitchFamily="34" charset="-120"/>
              </a:rPr>
              <a:t>"Research this property"</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Event 2 | market_brief      -&gt; no tools, so LLM knowledge only: sometimes</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a:t>
            </a:r>
            <a:r>
              <a:rPr lang="en-US" sz="1200" dirty="0">
                <a:solidFill>
                  <a:srgbClr val="A2FCA2"/>
                </a:solidFill>
                <a:latin typeface="Consolas" pitchFamily="34" charset="0"/>
                <a:ea typeface="Consolas" pitchFamily="34" charset="-122"/>
                <a:cs typeface="Consolas" pitchFamily="34" charset="-120"/>
              </a:rPr>
              <a:t>"I'm unable to access current data"</a:t>
            </a:r>
            <a:r>
              <a:rPr lang="en-US" sz="1200" dirty="0">
                <a:solidFill>
                  <a:srgbClr val="FFFFFF"/>
                </a:solidFill>
                <a:latin typeface="Consolas" pitchFamily="34" charset="0"/>
                <a:ea typeface="Consolas" pitchFamily="34" charset="-122"/>
                <a:cs typeface="Consolas" pitchFamily="34" charset="-120"/>
              </a:rPr>
              <a:t>, sometimes</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invented figures (one run: a </a:t>
            </a:r>
            <a:r>
              <a:rPr lang="en-US" sz="1200" dirty="0">
                <a:solidFill>
                  <a:srgbClr val="A2FCA2"/>
                </a:solidFill>
                <a:latin typeface="Consolas" pitchFamily="34" charset="0"/>
                <a:ea typeface="Consolas" pitchFamily="34" charset="-122"/>
                <a:cs typeface="Consolas" pitchFamily="34" charset="-120"/>
              </a:rPr>
              <a:t>"$720,000 median"</a:t>
            </a:r>
            <a:r>
              <a:rPr lang="en-US" sz="1200" dirty="0">
                <a:solidFill>
                  <a:srgbClr val="FFFFFF"/>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Event 3 | offer_drafter     -&gt; </a:t>
            </a:r>
            <a:r>
              <a:rPr lang="en-US" sz="1200" dirty="0">
                <a:solidFill>
                  <a:srgbClr val="A2FCA2"/>
                </a:solidFill>
                <a:latin typeface="Consolas" pitchFamily="34" charset="0"/>
                <a:ea typeface="Consolas" pitchFamily="34" charset="-122"/>
                <a:cs typeface="Consolas" pitchFamily="34" charset="-120"/>
              </a:rPr>
              <a:t>"We extend an offer of $460,000..."</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Event 4 | message_polisher  -&gt; </a:t>
            </a:r>
            <a:r>
              <a:rPr lang="en-US" sz="1200" dirty="0">
                <a:solidFill>
                  <a:srgbClr val="A2FCA2"/>
                </a:solidFill>
                <a:latin typeface="Consolas" pitchFamily="34" charset="0"/>
                <a:ea typeface="Consolas" pitchFamily="34" charset="-122"/>
                <a:cs typeface="Consolas" pitchFamily="34" charset="-120"/>
              </a:rPr>
              <a:t>"Subject: Initial Offer..."</a:t>
            </a:r>
            <a:endParaRPr lang="en-US" sz="1200" dirty="0"/>
          </a:p>
        </p:txBody>
      </p:sp>
      <p:sp>
        <p:nvSpPr>
          <p:cNvPr id="7" name="Text 4"/>
          <p:cNvSpPr/>
          <p:nvPr/>
        </p:nvSpPr>
        <p:spPr>
          <a:xfrm>
            <a:off x="502920" y="3200400"/>
            <a:ext cx="11155680" cy="1005840"/>
          </a:xfrm>
          <a:prstGeom prst="rect">
            <a:avLst/>
          </a:prstGeom>
          <a:noFill/>
          <a:ln/>
        </p:spPr>
        <p:txBody>
          <a:bodyPr wrap="square" lIns="635" tIns="635" rIns="635" bIns="635" rtlCol="0" anchor="t"/>
          <a:lstStyle/>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State tab after the run: market_summary, offer_text, final_email — every intermediate output is visible</a:t>
            </a:r>
            <a:endParaRPr lang="en-US" sz="1400" dirty="0"/>
          </a:p>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Each agent saw only what it needed: offer_drafter read {market_summary}, not the polisher's output</a:t>
            </a:r>
            <a:endParaRPr lang="en-US" sz="1400" dirty="0"/>
          </a:p>
        </p:txBody>
      </p:sp>
      <p:sp>
        <p:nvSpPr>
          <p:cNvPr id="8" name="Shape 5"/>
          <p:cNvSpPr/>
          <p:nvPr/>
        </p:nvSpPr>
        <p:spPr>
          <a:xfrm>
            <a:off x="502920" y="4434840"/>
            <a:ext cx="11155680" cy="960120"/>
          </a:xfrm>
          <a:prstGeom prst="rect">
            <a:avLst/>
          </a:prstGeom>
          <a:solidFill>
            <a:srgbClr val="CCFBF1"/>
          </a:solidFill>
          <a:ln w="12700">
            <a:solidFill>
              <a:srgbClr val="CCFBF1"/>
            </a:solidFill>
            <a:prstDash val="solid"/>
          </a:ln>
        </p:spPr>
      </p:sp>
      <p:sp>
        <p:nvSpPr>
          <p:cNvPr id="9" name="Text 6"/>
          <p:cNvSpPr/>
          <p:nvPr/>
        </p:nvSpPr>
        <p:spPr>
          <a:xfrm>
            <a:off x="640080" y="4480560"/>
            <a:ext cx="10881360" cy="86868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KEY TAKEAWAY </a:t>
            </a:r>
            <a:r>
              <a:rPr lang="en-US" sz="1300" dirty="0">
                <a:solidFill>
                  <a:srgbClr val="1E293B"/>
                </a:solidFill>
                <a:latin typeface="Fira Sans" pitchFamily="34" charset="0"/>
                <a:ea typeface="Fira Sans" pitchFamily="34" charset="-122"/>
                <a:cs typeface="Fira Sans" pitchFamily="34" charset="-120"/>
              </a:rPr>
              <a:t>State keys create scoped visibility. And an agent with no data tools is not grounded — whether it refuses or invents. That's what MCP tools fix. negotiation/agent.py uses SequentialAgent(buyer, seller).</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05: </a:t>
            </a:r>
            <a:r>
              <a:rPr lang="en-US" sz="3000" b="1" dirty="0">
                <a:solidFill>
                  <a:srgbClr val="FFFFFF"/>
                </a:solidFill>
                <a:latin typeface="Fira Sans" pitchFamily="34" charset="0"/>
                <a:ea typeface="Fira Sans" pitchFamily="34" charset="-122"/>
                <a:cs typeface="Fira Sans" pitchFamily="34" charset="-120"/>
              </a:rPr>
              <a:t>ParallelAgent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Fan-Out: A, B, C Run Concurrently</a:t>
            </a:r>
            <a:endParaRPr lang="en-US" sz="1400" dirty="0"/>
          </a:p>
        </p:txBody>
      </p:sp>
      <p:sp>
        <p:nvSpPr>
          <p:cNvPr id="5" name="Shape 2"/>
          <p:cNvSpPr/>
          <p:nvPr/>
        </p:nvSpPr>
        <p:spPr>
          <a:xfrm>
            <a:off x="502920" y="1234440"/>
            <a:ext cx="5486400" cy="2011680"/>
          </a:xfrm>
          <a:prstGeom prst="rect">
            <a:avLst/>
          </a:prstGeom>
          <a:solidFill>
            <a:srgbClr val="333333"/>
          </a:solidFill>
          <a:ln w="12700">
            <a:solidFill>
              <a:srgbClr val="333333"/>
            </a:solidFill>
            <a:prstDash val="solid"/>
          </a:ln>
        </p:spPr>
      </p:sp>
      <p:sp>
        <p:nvSpPr>
          <p:cNvPr id="6" name="Text 3"/>
          <p:cNvSpPr/>
          <p:nvPr/>
        </p:nvSpPr>
        <p:spPr>
          <a:xfrm>
            <a:off x="576072" y="1289304"/>
            <a:ext cx="5340096" cy="1901952"/>
          </a:xfrm>
          <a:prstGeom prst="rect">
            <a:avLst/>
          </a:prstGeom>
          <a:noFill/>
          <a:ln/>
        </p:spPr>
        <p:txBody>
          <a:bodyPr wrap="square" lIns="635" tIns="635" rIns="635" bIns="635" rtlCol="0" anchor="t"/>
          <a:lstStyle/>
          <a:p>
            <a:pPr indent="0" marL="0">
              <a:buNone/>
            </a:pPr>
            <a:r>
              <a:rPr lang="en-US" sz="1150" dirty="0">
                <a:solidFill>
                  <a:srgbClr val="FFFFFF"/>
                </a:solidFill>
                <a:latin typeface="Consolas" pitchFamily="34" charset="0"/>
                <a:ea typeface="Consolas" pitchFamily="34" charset="-122"/>
                <a:cs typeface="Consolas" pitchFamily="34" charset="-120"/>
              </a:rPr>
              <a:t>schools = LlmAgent(output_key=</a:t>
            </a:r>
            <a:r>
              <a:rPr lang="en-US" sz="1150" dirty="0">
                <a:solidFill>
                  <a:srgbClr val="A2FCA2"/>
                </a:solidFill>
                <a:latin typeface="Consolas" pitchFamily="34" charset="0"/>
                <a:ea typeface="Consolas" pitchFamily="34" charset="-122"/>
                <a:cs typeface="Consolas" pitchFamily="34" charset="-120"/>
              </a:rPr>
              <a:t>"schools"</a:t>
            </a:r>
            <a:r>
              <a:rPr lang="en-US" sz="1150" dirty="0">
                <a:solidFill>
                  <a:srgbClr val="FFFFFF"/>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comps = LlmAgent(output_key=</a:t>
            </a:r>
            <a:r>
              <a:rPr lang="en-US" sz="1150" dirty="0">
                <a:solidFill>
                  <a:srgbClr val="A2FCA2"/>
                </a:solidFill>
                <a:latin typeface="Consolas" pitchFamily="34" charset="0"/>
                <a:ea typeface="Consolas" pitchFamily="34" charset="-122"/>
                <a:cs typeface="Consolas" pitchFamily="34" charset="-120"/>
              </a:rPr>
              <a:t>"comps"</a:t>
            </a:r>
            <a:r>
              <a:rPr lang="en-US" sz="1150" dirty="0">
                <a:solidFill>
                  <a:srgbClr val="FFFFFF"/>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inventory = LlmAgent(output_key=</a:t>
            </a:r>
            <a:r>
              <a:rPr lang="en-US" sz="1150" dirty="0">
                <a:solidFill>
                  <a:srgbClr val="A2FCA2"/>
                </a:solidFill>
                <a:latin typeface="Consolas" pitchFamily="34" charset="0"/>
                <a:ea typeface="Consolas" pitchFamily="34" charset="-122"/>
                <a:cs typeface="Consolas" pitchFamily="34" charset="-120"/>
              </a:rPr>
              <a:t>"inventory"</a:t>
            </a:r>
            <a:r>
              <a:rPr lang="en-US" sz="1150" dirty="0">
                <a:solidFill>
                  <a:srgbClr val="FFFFFF"/>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root_agent = ParallelAgent(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sub_agents=[schools, comps, inventory], </a:t>
            </a:r>
            <a:r>
              <a:rPr lang="en-US" sz="1150" dirty="0">
                <a:solidFill>
                  <a:srgbClr val="9CA3AF"/>
                </a:solidFill>
                <a:latin typeface="Consolas" pitchFamily="34" charset="0"/>
                <a:ea typeface="Consolas" pitchFamily="34" charset="-122"/>
                <a:cs typeface="Consolas" pitchFamily="34" charset="-120"/>
              </a:rPr>
              <a:t> # all at once</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a:t>
            </a:r>
            <a:endParaRPr lang="en-US" sz="1150" dirty="0"/>
          </a:p>
        </p:txBody>
      </p:sp>
      <p:sp>
        <p:nvSpPr>
          <p:cNvPr id="7" name="Text 4"/>
          <p:cNvSpPr/>
          <p:nvPr/>
        </p:nvSpPr>
        <p:spPr>
          <a:xfrm>
            <a:off x="502920" y="3429000"/>
            <a:ext cx="5486400" cy="822960"/>
          </a:xfrm>
          <a:prstGeom prst="rect">
            <a:avLst/>
          </a:prstGeom>
          <a:noFill/>
          <a:ln/>
        </p:spPr>
        <p:txBody>
          <a:bodyPr wrap="square" lIns="635" tIns="635" rIns="635" bIns="635" rtlCol="0" anchor="t"/>
          <a:lstStyle/>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d04 Sequential: A feeds B feeds C (pipeline)</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d05 Parallel: A, B, C run simultaneously (fan-out)</a:t>
            </a:r>
            <a:endParaRPr lang="en-US" sz="1400" dirty="0"/>
          </a:p>
        </p:txBody>
      </p:sp>
      <p:sp>
        <p:nvSpPr>
          <p:cNvPr id="8" name="Shape 5"/>
          <p:cNvSpPr/>
          <p:nvPr/>
        </p:nvSpPr>
        <p:spPr>
          <a:xfrm>
            <a:off x="502920" y="4434840"/>
            <a:ext cx="5486400" cy="868680"/>
          </a:xfrm>
          <a:prstGeom prst="rect">
            <a:avLst/>
          </a:prstGeom>
          <a:solidFill>
            <a:srgbClr val="FEF3C7"/>
          </a:solidFill>
          <a:ln w="12700">
            <a:solidFill>
              <a:srgbClr val="FEF3C7"/>
            </a:solidFill>
            <a:prstDash val="solid"/>
          </a:ln>
        </p:spPr>
      </p:sp>
      <p:sp>
        <p:nvSpPr>
          <p:cNvPr id="9" name="Text 6"/>
          <p:cNvSpPr/>
          <p:nvPr/>
        </p:nvSpPr>
        <p:spPr>
          <a:xfrm>
            <a:off x="640080" y="4480560"/>
            <a:ext cx="5212080" cy="777240"/>
          </a:xfrm>
          <a:prstGeom prst="rect">
            <a:avLst/>
          </a:prstGeom>
          <a:noFill/>
          <a:ln/>
        </p:spPr>
        <p:txBody>
          <a:bodyPr wrap="square" lIns="254" tIns="254" rIns="254" bIns="254" rtlCol="0" anchor="ctr"/>
          <a:lstStyle/>
          <a:p>
            <a:pPr indent="0" marL="0">
              <a:buNone/>
            </a:pPr>
            <a:r>
              <a:rPr lang="en-US" sz="1300" b="1" dirty="0">
                <a:solidFill>
                  <a:srgbClr val="D97706"/>
                </a:solidFill>
                <a:latin typeface="Fira Sans" pitchFamily="34" charset="0"/>
                <a:ea typeface="Fira Sans" pitchFamily="34" charset="-122"/>
                <a:cs typeface="Fira Sans" pitchFamily="34" charset="-120"/>
              </a:rPr>
              <a:t>Rule: </a:t>
            </a:r>
            <a:r>
              <a:rPr lang="en-US" sz="1300" dirty="0">
                <a:solidFill>
                  <a:srgbClr val="1E293B"/>
                </a:solidFill>
                <a:latin typeface="Fira Sans" pitchFamily="34" charset="0"/>
                <a:ea typeface="Fira Sans" pitchFamily="34" charset="-122"/>
                <a:cs typeface="Fira Sans" pitchFamily="34" charset="-120"/>
              </a:rPr>
              <a:t>each agent MUST write to a different output_key. Two agents writing the same key → last one wins.</a:t>
            </a:r>
            <a:endParaRPr lang="en-US" sz="1300" dirty="0"/>
          </a:p>
        </p:txBody>
      </p:sp>
      <p:pic>
        <p:nvPicPr>
          <p:cNvPr id="10" name="Image 1" descr="C:\Users\jeesingh\.copilot\session-state\b8ab4bc6-faf5-4ebd-bea2-f997a4b9a7ea\files\deck\img\x463.png">    </p:cNvPr>
          <p:cNvPicPr>
            <a:picLocks noChangeAspect="1"/>
          </p:cNvPicPr>
          <p:nvPr/>
        </p:nvPicPr>
        <p:blipFill>
          <a:blip r:embed="rId2"/>
          <a:stretch>
            <a:fillRect/>
          </a:stretch>
        </p:blipFill>
        <p:spPr>
          <a:xfrm>
            <a:off x="6223000" y="1296670"/>
            <a:ext cx="5966460" cy="4810760"/>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05: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Independent Signals Gathered</a:t>
            </a:r>
            <a:endParaRPr lang="en-US" sz="1400" dirty="0"/>
          </a:p>
        </p:txBody>
      </p:sp>
      <p:sp>
        <p:nvSpPr>
          <p:cNvPr id="5" name="Shape 2"/>
          <p:cNvSpPr/>
          <p:nvPr/>
        </p:nvSpPr>
        <p:spPr>
          <a:xfrm>
            <a:off x="502920" y="1234440"/>
            <a:ext cx="11155680" cy="960120"/>
          </a:xfrm>
          <a:prstGeom prst="rect">
            <a:avLst/>
          </a:prstGeom>
          <a:solidFill>
            <a:srgbClr val="333333"/>
          </a:solidFill>
          <a:ln w="12700">
            <a:solidFill>
              <a:srgbClr val="333333"/>
            </a:solidFill>
            <a:prstDash val="solid"/>
          </a:ln>
        </p:spPr>
      </p:sp>
      <p:sp>
        <p:nvSpPr>
          <p:cNvPr id="6" name="Text 3"/>
          <p:cNvSpPr/>
          <p:nvPr/>
        </p:nvSpPr>
        <p:spPr>
          <a:xfrm>
            <a:off x="576072" y="1289304"/>
            <a:ext cx="11009376" cy="850392"/>
          </a:xfrm>
          <a:prstGeom prst="rect">
            <a:avLst/>
          </a:prstGeom>
          <a:noFill/>
          <a:ln/>
        </p:spPr>
        <p:txBody>
          <a:bodyPr wrap="square" lIns="635" tIns="635" rIns="635" bIns="635" rtlCol="0" anchor="t"/>
          <a:lstStyle/>
          <a:p>
            <a:pPr indent="0" marL="0">
              <a:buNone/>
            </a:pPr>
            <a:r>
              <a:rPr lang="en-US" sz="1200" dirty="0">
                <a:solidFill>
                  <a:srgbClr val="FFFFFF"/>
                </a:solidFill>
                <a:latin typeface="Consolas" pitchFamily="34" charset="0"/>
                <a:ea typeface="Consolas" pitchFamily="34" charset="-122"/>
                <a:cs typeface="Consolas" pitchFamily="34" charset="-120"/>
              </a:rPr>
              <a:t>schools:    </a:t>
            </a:r>
            <a:r>
              <a:rPr lang="en-US" sz="1200" dirty="0">
                <a:solidFill>
                  <a:srgbClr val="A2FCA2"/>
                </a:solidFill>
                <a:latin typeface="Consolas" pitchFamily="34" charset="0"/>
                <a:ea typeface="Consolas" pitchFamily="34" charset="-122"/>
                <a:cs typeface="Consolas" pitchFamily="34" charset="-120"/>
              </a:rPr>
              <a:t>"Austin ISD has strong academic programs..."</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comps:      </a:t>
            </a:r>
            <a:r>
              <a:rPr lang="en-US" sz="1200" dirty="0">
                <a:solidFill>
                  <a:srgbClr val="A2FCA2"/>
                </a:solidFill>
                <a:latin typeface="Consolas" pitchFamily="34" charset="0"/>
                <a:ea typeface="Consolas" pitchFamily="34" charset="-122"/>
                <a:cs typeface="Consolas" pitchFamily="34" charset="-120"/>
              </a:rPr>
              <a:t>"Recent sales ..."</a:t>
            </a:r>
            <a:r>
              <a:rPr lang="en-US" sz="1200" dirty="0">
                <a:solidFill>
                  <a:srgbClr val="FFFFFF"/>
                </a:solidFill>
                <a:latin typeface="Consolas" pitchFamily="34" charset="0"/>
                <a:ea typeface="Consolas" pitchFamily="34" charset="-122"/>
                <a:cs typeface="Consolas" pitchFamily="34" charset="-120"/>
              </a:rPr>
              <a:t>           </a:t>
            </a:r>
            <a:r>
              <a:rPr lang="en-US" sz="1200" dirty="0">
                <a:solidFill>
                  <a:srgbClr val="9CA3AF"/>
                </a:solidFill>
                <a:latin typeface="Consolas" pitchFamily="34" charset="0"/>
                <a:ea typeface="Consolas" pitchFamily="34" charset="-122"/>
                <a:cs typeface="Consolas" pitchFamily="34" charset="-120"/>
              </a:rPr>
              <a:t> # LLM knowledge — numbers vary run to run</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inventory:  </a:t>
            </a:r>
            <a:r>
              <a:rPr lang="en-US" sz="1200" dirty="0">
                <a:solidFill>
                  <a:srgbClr val="A2FCA2"/>
                </a:solidFill>
                <a:latin typeface="Consolas" pitchFamily="34" charset="0"/>
                <a:ea typeface="Consolas" pitchFamily="34" charset="-122"/>
                <a:cs typeface="Consolas" pitchFamily="34" charset="-120"/>
              </a:rPr>
              <a:t>"Inventory pressure ..."</a:t>
            </a:r>
            <a:endParaRPr lang="en-US" sz="1200" dirty="0"/>
          </a:p>
        </p:txBody>
      </p:sp>
      <p:sp>
        <p:nvSpPr>
          <p:cNvPr id="7" name="Text 4"/>
          <p:cNvSpPr/>
          <p:nvPr/>
        </p:nvSpPr>
        <p:spPr>
          <a:xfrm>
            <a:off x="502920" y="2377440"/>
            <a:ext cx="11155680" cy="548640"/>
          </a:xfrm>
          <a:prstGeom prst="rect">
            <a:avLst/>
          </a:prstGeom>
          <a:noFill/>
          <a:ln/>
        </p:spPr>
        <p:txBody>
          <a:bodyPr wrap="square" lIns="635" tIns="635" rIns="635" bIns="635" rtlCol="0" anchor="t"/>
          <a:lstStyle/>
          <a:p>
            <a:pPr algn="l" indent="0" marL="0">
              <a:buNone/>
            </a:pPr>
            <a:r>
              <a:rPr lang="en-US" sz="1400" dirty="0">
                <a:solidFill>
                  <a:srgbClr val="FFFFFF"/>
                </a:solidFill>
                <a:latin typeface="Fira Sans" pitchFamily="34" charset="0"/>
                <a:ea typeface="Fira Sans" pitchFamily="34" charset="-122"/>
                <a:cs typeface="Fira Sans" pitchFamily="34" charset="-120"/>
              </a:rPr>
              <a:t>Same 4-event structure as d04 — but concurrent execution. The order the three answers finish varies from run to run.</a:t>
            </a:r>
            <a:endParaRPr lang="en-US" sz="1400" dirty="0"/>
          </a:p>
        </p:txBody>
      </p:sp>
      <p:sp>
        <p:nvSpPr>
          <p:cNvPr id="8" name="Shape 5"/>
          <p:cNvSpPr/>
          <p:nvPr/>
        </p:nvSpPr>
        <p:spPr>
          <a:xfrm>
            <a:off x="502920" y="3154680"/>
            <a:ext cx="11155680" cy="960120"/>
          </a:xfrm>
          <a:prstGeom prst="rect">
            <a:avLst/>
          </a:prstGeom>
          <a:solidFill>
            <a:srgbClr val="CCFBF1"/>
          </a:solidFill>
          <a:ln w="12700">
            <a:solidFill>
              <a:srgbClr val="CCFBF1"/>
            </a:solidFill>
            <a:prstDash val="solid"/>
          </a:ln>
        </p:spPr>
      </p:sp>
      <p:sp>
        <p:nvSpPr>
          <p:cNvPr id="9" name="Text 6"/>
          <p:cNvSpPr/>
          <p:nvPr/>
        </p:nvSpPr>
        <p:spPr>
          <a:xfrm>
            <a:off x="640080" y="3200400"/>
            <a:ext cx="10881360" cy="86868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KEY TAKEAWAY </a:t>
            </a:r>
            <a:r>
              <a:rPr lang="en-US" sz="1300" dirty="0">
                <a:solidFill>
                  <a:srgbClr val="1E293B"/>
                </a:solidFill>
                <a:latin typeface="Fira Sans" pitchFamily="34" charset="0"/>
                <a:ea typeface="Fira Sans" pitchFamily="34" charset="-122"/>
                <a:cs typeface="Fira Sans" pitchFamily="34" charset="-120"/>
              </a:rPr>
              <a:t>ParallelAgent = fan-out for independent tasks. SequentialAgent = pipeline for dependent tasks. Both use output_key. No {placeholder} reading between parallel agents — they're independent, which is why ParallelAgent works here.</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06: </a:t>
            </a:r>
            <a:r>
              <a:rPr lang="en-US" sz="3000" b="1" dirty="0">
                <a:solidFill>
                  <a:srgbClr val="FFFFFF"/>
                </a:solidFill>
                <a:latin typeface="Fira Sans" pitchFamily="34" charset="0"/>
                <a:ea typeface="Fira Sans" pitchFamily="34" charset="-122"/>
                <a:cs typeface="Fira Sans" pitchFamily="34" charset="-120"/>
              </a:rPr>
              <a:t>LoopAgent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Iterate Until Done</a:t>
            </a:r>
            <a:endParaRPr lang="en-US" sz="1400" dirty="0"/>
          </a:p>
        </p:txBody>
      </p:sp>
      <p:sp>
        <p:nvSpPr>
          <p:cNvPr id="5" name="Shape 2"/>
          <p:cNvSpPr/>
          <p:nvPr/>
        </p:nvSpPr>
        <p:spPr>
          <a:xfrm>
            <a:off x="502920" y="1234440"/>
            <a:ext cx="11155680" cy="2194560"/>
          </a:xfrm>
          <a:prstGeom prst="rect">
            <a:avLst/>
          </a:prstGeom>
          <a:solidFill>
            <a:srgbClr val="333333"/>
          </a:solidFill>
          <a:ln w="12700">
            <a:solidFill>
              <a:srgbClr val="333333"/>
            </a:solidFill>
            <a:prstDash val="solid"/>
          </a:ln>
        </p:spPr>
      </p:sp>
      <p:sp>
        <p:nvSpPr>
          <p:cNvPr id="6" name="Text 3"/>
          <p:cNvSpPr/>
          <p:nvPr/>
        </p:nvSpPr>
        <p:spPr>
          <a:xfrm>
            <a:off x="576072" y="1289304"/>
            <a:ext cx="11009376" cy="208483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def stop_when_in_range(callback_context: CallbackContext):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price = int(</a:t>
            </a:r>
            <a:r>
              <a:rPr lang="en-US" sz="1100" dirty="0">
                <a:solidFill>
                  <a:srgbClr val="A2FCA2"/>
                </a:solidFill>
                <a:latin typeface="Consolas" pitchFamily="34" charset="0"/>
                <a:ea typeface="Consolas" pitchFamily="34" charset="-122"/>
                <a:cs typeface="Consolas" pitchFamily="34" charset="-120"/>
              </a:rPr>
              <a:t>""</a:t>
            </a:r>
            <a:r>
              <a:rPr lang="en-US" sz="1100" dirty="0">
                <a:solidFill>
                  <a:srgbClr val="FFFFFF"/>
                </a:solidFill>
                <a:latin typeface="Consolas" pitchFamily="34" charset="0"/>
                <a:ea typeface="Consolas" pitchFamily="34" charset="-122"/>
                <a:cs typeface="Consolas" pitchFamily="34" charset="-120"/>
              </a:rPr>
              <a:t>.join(c for c in callback_context.state.get(</a:t>
            </a:r>
            <a:r>
              <a:rPr lang="en-US" sz="1100" dirty="0">
                <a:solidFill>
                  <a:srgbClr val="A2FCA2"/>
                </a:solidFill>
                <a:latin typeface="Consolas" pitchFamily="34" charset="0"/>
                <a:ea typeface="Consolas" pitchFamily="34" charset="-122"/>
                <a:cs typeface="Consolas" pitchFamily="34" charset="-120"/>
              </a:rPr>
              <a:t>"proposal"</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a:t>
            </a:r>
            <a:r>
              <a:rPr lang="en-US" sz="1100" dirty="0">
                <a:solidFill>
                  <a:srgbClr val="FFFFFF"/>
                </a:solidFill>
                <a:latin typeface="Consolas" pitchFamily="34" charset="0"/>
                <a:ea typeface="Consolas" pitchFamily="34" charset="-122"/>
                <a:cs typeface="Consolas" pitchFamily="34" charset="-120"/>
              </a:rPr>
              <a:t>) if c.isdigit()))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if 450_000 &lt;= price &lt;= 470_000: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callback_context.state[</a:t>
            </a:r>
            <a:r>
              <a:rPr lang="en-US" sz="1100" dirty="0">
                <a:solidFill>
                  <a:srgbClr val="A2FCA2"/>
                </a:solidFill>
                <a:latin typeface="Consolas" pitchFamily="34" charset="0"/>
                <a:ea typeface="Consolas" pitchFamily="34" charset="-122"/>
                <a:cs typeface="Consolas" pitchFamily="34" charset="-120"/>
              </a:rPr>
              <a:t>"loop_exit_reason"</a:t>
            </a:r>
            <a:r>
              <a:rPr lang="en-US" sz="1100" dirty="0">
                <a:solidFill>
                  <a:srgbClr val="FFFFFF"/>
                </a:solidFill>
                <a:latin typeface="Consolas" pitchFamily="34" charset="0"/>
                <a:ea typeface="Consolas" pitchFamily="34" charset="-122"/>
                <a:cs typeface="Consolas" pitchFamily="34" charset="-120"/>
              </a:rPr>
              <a:t>] = f</a:t>
            </a:r>
            <a:r>
              <a:rPr lang="en-US" sz="1100" dirty="0">
                <a:solidFill>
                  <a:srgbClr val="A2FCA2"/>
                </a:solidFill>
                <a:latin typeface="Consolas" pitchFamily="34" charset="0"/>
                <a:ea typeface="Consolas" pitchFamily="34" charset="-122"/>
                <a:cs typeface="Consolas" pitchFamily="34" charset="-120"/>
              </a:rPr>
              <a:t>"{price:,} is in range"</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9CA3AF"/>
                </a:solidFill>
                <a:latin typeface="Consolas" pitchFamily="34" charset="0"/>
                <a:ea typeface="Consolas" pitchFamily="34" charset="-122"/>
                <a:cs typeface="Consolas" pitchFamily="34" charset="-120"/>
              </a:rPr>
              <a:t> # required!</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callback_context.actions.escalate = True                            </a:t>
            </a:r>
            <a:r>
              <a:rPr lang="en-US" sz="1100" dirty="0">
                <a:solidFill>
                  <a:srgbClr val="9CA3AF"/>
                </a:solidFill>
                <a:latin typeface="Consolas" pitchFamily="34" charset="0"/>
                <a:ea typeface="Consolas" pitchFamily="34" charset="-122"/>
                <a:cs typeface="Consolas" pitchFamily="34" charset="-120"/>
              </a:rPr>
              <a:t> # breaks the loop</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haggler = LlmAgent(name=</a:t>
            </a:r>
            <a:r>
              <a:rPr lang="en-US" sz="1100" dirty="0">
                <a:solidFill>
                  <a:srgbClr val="A2FCA2"/>
                </a:solidFill>
                <a:latin typeface="Consolas" pitchFamily="34" charset="0"/>
                <a:ea typeface="Consolas" pitchFamily="34" charset="-122"/>
                <a:cs typeface="Consolas" pitchFamily="34" charset="-120"/>
              </a:rPr>
              <a:t>"haggler"</a:t>
            </a:r>
            <a:r>
              <a:rPr lang="en-US" sz="1100" dirty="0">
                <a:solidFill>
                  <a:srgbClr val="FFFFFF"/>
                </a:solidFill>
                <a:latin typeface="Consolas" pitchFamily="34" charset="0"/>
                <a:ea typeface="Consolas" pitchFamily="34" charset="-122"/>
                <a:cs typeface="Consolas" pitchFamily="34" charset="-120"/>
              </a:rPr>
              <a:t>, output_key=</a:t>
            </a:r>
            <a:r>
              <a:rPr lang="en-US" sz="1100" dirty="0">
                <a:solidFill>
                  <a:srgbClr val="A2FCA2"/>
                </a:solidFill>
                <a:latin typeface="Consolas" pitchFamily="34" charset="0"/>
                <a:ea typeface="Consolas" pitchFamily="34" charset="-122"/>
                <a:cs typeface="Consolas" pitchFamily="34" charset="-120"/>
              </a:rPr>
              <a:t>"proposal"</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after_agent_callback=stop_when_in_range,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root_agent = LoopAgent(sub_agents=[haggler], max_iterations=5)  </a:t>
            </a:r>
            <a:r>
              <a:rPr lang="en-US" sz="1100" dirty="0">
                <a:solidFill>
                  <a:srgbClr val="9CA3AF"/>
                </a:solidFill>
                <a:latin typeface="Consolas" pitchFamily="34" charset="0"/>
                <a:ea typeface="Consolas" pitchFamily="34" charset="-122"/>
                <a:cs typeface="Consolas" pitchFamily="34" charset="-120"/>
              </a:rPr>
              <a:t> # bounded</a:t>
            </a:r>
            <a:endParaRPr lang="en-US" sz="1100" dirty="0"/>
          </a:p>
        </p:txBody>
      </p:sp>
      <p:sp>
        <p:nvSpPr>
          <p:cNvPr id="7" name="Text 4"/>
          <p:cNvSpPr/>
          <p:nvPr/>
        </p:nvSpPr>
        <p:spPr>
          <a:xfrm>
            <a:off x="502920" y="361188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TWO STOP CONDITIONS</a:t>
            </a:r>
            <a:endParaRPr lang="en-US" sz="1400" dirty="0"/>
          </a:p>
        </p:txBody>
      </p:sp>
      <p:sp>
        <p:nvSpPr>
          <p:cNvPr id="8" name="Text 5"/>
          <p:cNvSpPr/>
          <p:nvPr/>
        </p:nvSpPr>
        <p:spPr>
          <a:xfrm>
            <a:off x="502920" y="3931920"/>
            <a:ext cx="11155680" cy="777240"/>
          </a:xfrm>
          <a:prstGeom prst="rect">
            <a:avLst/>
          </a:prstGeom>
          <a:noFill/>
          <a:ln/>
        </p:spPr>
        <p:txBody>
          <a:bodyPr wrap="square" lIns="635" tIns="635" rIns="635" bIns="635" rtlCol="0" anchor="t"/>
          <a:lstStyle/>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callback_context.actions.escalate = True — early exit (price in range)</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max_iterations=5 — hard cap (same guarantee as an FSM's max_turns)</a:t>
            </a:r>
            <a:endParaRPr lang="en-US" sz="1400" dirty="0"/>
          </a:p>
        </p:txBody>
      </p:sp>
      <p:sp>
        <p:nvSpPr>
          <p:cNvPr id="9" name="Shape 6"/>
          <p:cNvSpPr/>
          <p:nvPr/>
        </p:nvSpPr>
        <p:spPr>
          <a:xfrm>
            <a:off x="502920" y="4846320"/>
            <a:ext cx="11155680" cy="1005840"/>
          </a:xfrm>
          <a:prstGeom prst="rect">
            <a:avLst/>
          </a:prstGeom>
          <a:solidFill>
            <a:srgbClr val="FEE2E2"/>
          </a:solidFill>
          <a:ln w="12700">
            <a:solidFill>
              <a:srgbClr val="FEE2E2"/>
            </a:solidFill>
            <a:prstDash val="solid"/>
          </a:ln>
        </p:spPr>
      </p:sp>
      <p:sp>
        <p:nvSpPr>
          <p:cNvPr id="10" name="Text 7"/>
          <p:cNvSpPr/>
          <p:nvPr/>
        </p:nvSpPr>
        <p:spPr>
          <a:xfrm>
            <a:off x="640080" y="4892040"/>
            <a:ext cx="10881360" cy="914400"/>
          </a:xfrm>
          <a:prstGeom prst="rect">
            <a:avLst/>
          </a:prstGeom>
          <a:noFill/>
          <a:ln/>
        </p:spPr>
        <p:txBody>
          <a:bodyPr wrap="square" lIns="254" tIns="254" rIns="254" bIns="254" rtlCol="0" anchor="ctr"/>
          <a:lstStyle/>
          <a:p>
            <a:pPr indent="0" marL="0">
              <a:buNone/>
            </a:pPr>
            <a:r>
              <a:rPr lang="en-US" sz="1300" b="1" dirty="0">
                <a:solidFill>
                  <a:srgbClr val="DC2626"/>
                </a:solidFill>
                <a:latin typeface="Fira Sans" pitchFamily="34" charset="0"/>
                <a:ea typeface="Fira Sans" pitchFamily="34" charset="-122"/>
                <a:cs typeface="Fira Sans" pitchFamily="34" charset="-120"/>
              </a:rPr>
              <a:t>ADK gotcha — a bare escalate is silently dropped. </a:t>
            </a:r>
            <a:r>
              <a:rPr lang="en-US" sz="1300" dirty="0">
                <a:solidFill>
                  <a:srgbClr val="1E293B"/>
                </a:solidFill>
                <a:latin typeface="Fira Sans" pitchFamily="34" charset="0"/>
                <a:ea typeface="Fira Sans" pitchFamily="34" charset="-122"/>
                <a:cs typeface="Fira Sans" pitchFamily="34" charset="-120"/>
              </a:rPr>
              <a:t>A callback only becomes an event if it returns content or changes state. Set escalate alone and the loop keeps running (all 5 iterations). Always pair it with a state write. Verified on ADK 1.39 and 2.11.</a:t>
            </a:r>
            <a:endParaRPr lang="en-US" sz="13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06: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Bounded Termination</a:t>
            </a:r>
            <a:endParaRPr lang="en-US" sz="1400" dirty="0"/>
          </a:p>
        </p:txBody>
      </p:sp>
      <p:sp>
        <p:nvSpPr>
          <p:cNvPr id="5" name="Shape 2"/>
          <p:cNvSpPr/>
          <p:nvPr/>
        </p:nvSpPr>
        <p:spPr>
          <a:xfrm>
            <a:off x="502920" y="1234440"/>
            <a:ext cx="5120640" cy="1280160"/>
          </a:xfrm>
          <a:prstGeom prst="rect">
            <a:avLst/>
          </a:prstGeom>
          <a:solidFill>
            <a:srgbClr val="333333"/>
          </a:solidFill>
          <a:ln w="12700">
            <a:solidFill>
              <a:srgbClr val="333333"/>
            </a:solidFill>
            <a:prstDash val="solid"/>
          </a:ln>
        </p:spPr>
      </p:sp>
      <p:sp>
        <p:nvSpPr>
          <p:cNvPr id="6" name="Text 3"/>
          <p:cNvSpPr/>
          <p:nvPr/>
        </p:nvSpPr>
        <p:spPr>
          <a:xfrm>
            <a:off x="576072" y="1289304"/>
            <a:ext cx="4974336" cy="117043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Event 1 | user:    </a:t>
            </a:r>
            <a:r>
              <a:rPr lang="en-US" sz="1100" dirty="0">
                <a:solidFill>
                  <a:srgbClr val="A2FCA2"/>
                </a:solidFill>
                <a:latin typeface="Consolas" pitchFamily="34" charset="0"/>
                <a:ea typeface="Consolas" pitchFamily="34" charset="-122"/>
                <a:cs typeface="Consolas" pitchFamily="34" charset="-120"/>
              </a:rPr>
              <a:t>"start"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Event 2 | haggler: </a:t>
            </a:r>
            <a:r>
              <a:rPr lang="en-US" sz="1100" dirty="0">
                <a:solidFill>
                  <a:srgbClr val="A2FCA2"/>
                </a:solidFill>
                <a:latin typeface="Consolas" pitchFamily="34" charset="0"/>
                <a:ea typeface="Consolas" pitchFamily="34" charset="-122"/>
                <a:cs typeface="Consolas" pitchFamily="34" charset="-120"/>
              </a:rPr>
              <a:t>"465000"</a:t>
            </a:r>
            <a:r>
              <a:rPr lang="en-US" sz="1100" dirty="0">
                <a:solidFill>
                  <a:srgbClr val="FFFFFF"/>
                </a:solidFill>
                <a:latin typeface="Consolas" pitchFamily="34" charset="0"/>
                <a:ea typeface="Consolas" pitchFamily="34" charset="-122"/>
                <a:cs typeface="Consolas" pitchFamily="34" charset="-120"/>
              </a:rPr>
              <a:t>   state_delta {proposal}</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Event 3 | haggler: (no text)  state_delta {loop_exit_reason}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escalate=True -&gt; LoopAgent STOPS</a:t>
            </a:r>
            <a:endParaRPr lang="en-US" sz="1100" dirty="0"/>
          </a:p>
        </p:txBody>
      </p:sp>
      <p:sp>
        <p:nvSpPr>
          <p:cNvPr id="7" name="Text 4"/>
          <p:cNvSpPr/>
          <p:nvPr/>
        </p:nvSpPr>
        <p:spPr>
          <a:xfrm>
            <a:off x="502920" y="2697480"/>
            <a:ext cx="5120640" cy="1828800"/>
          </a:xfrm>
          <a:prstGeom prst="rect">
            <a:avLst/>
          </a:prstGeom>
          <a:noFill/>
          <a:ln/>
        </p:spPr>
        <p:txBody>
          <a:bodyPr wrap="square" lIns="635" tIns="635" rIns="635" bIns="635" rtlCol="0" anchor="t"/>
          <a:lstStyle/>
          <a:p>
            <a:pPr lvl="1" marL="685800" indent="-342900">
              <a:spcAft>
                <a:spcPts val="600"/>
              </a:spcAft>
              <a:buSzPct val="100000"/>
              <a:buChar char="•"/>
            </a:pPr>
            <a:r>
              <a:rPr lang="en-US" sz="1300" dirty="0">
                <a:solidFill>
                  <a:srgbClr val="FFFFFF"/>
                </a:solidFill>
                <a:latin typeface="Fira Sans" pitchFamily="34" charset="0"/>
                <a:ea typeface="Fira Sans" pitchFamily="34" charset="-122"/>
                <a:cs typeface="Fira Sans" pitchFamily="34" charset="-120"/>
              </a:rPr>
              <a:t>Event 3 exists only because the callback wrote state — that event carries the escalation</a:t>
            </a:r>
            <a:endParaRPr lang="en-US" sz="1300" dirty="0"/>
          </a:p>
          <a:p>
            <a:pPr lvl="1" marL="685800" indent="-342900">
              <a:spcAft>
                <a:spcPts val="600"/>
              </a:spcAft>
              <a:buSzPct val="100000"/>
              <a:buChar char="•"/>
            </a:pPr>
            <a:r>
              <a:rPr lang="en-US" sz="1300" dirty="0">
                <a:solidFill>
                  <a:srgbClr val="FFFFFF"/>
                </a:solidFill>
                <a:latin typeface="Fira Sans" pitchFamily="34" charset="0"/>
                <a:ea typeface="Fira Sans" pitchFamily="34" charset="-122"/>
                <a:cs typeface="Fira Sans" pitchFamily="34" charset="-120"/>
              </a:rPr>
              <a:t>output_key in a loop overwrites the same key each iteration; only the last value survives</a:t>
            </a:r>
            <a:endParaRPr lang="en-US" sz="1300" dirty="0"/>
          </a:p>
          <a:p>
            <a:pPr lvl="1" marL="685800" indent="-342900">
              <a:spcAft>
                <a:spcPts val="600"/>
              </a:spcAft>
              <a:buSzPct val="100000"/>
              <a:buChar char="•"/>
            </a:pPr>
            <a:r>
              <a:rPr lang="en-US" sz="1300" dirty="0">
                <a:solidFill>
                  <a:srgbClr val="FFFFFF"/>
                </a:solidFill>
                <a:latin typeface="Fira Sans" pitchFamily="34" charset="0"/>
                <a:ea typeface="Fira Sans" pitchFamily="34" charset="-122"/>
                <a:cs typeface="Fira Sans" pitchFamily="34" charset="-120"/>
              </a:rPr>
              <a:t>Worst case: 5 iterations, never more</a:t>
            </a:r>
            <a:endParaRPr lang="en-US" sz="1300" dirty="0"/>
          </a:p>
        </p:txBody>
      </p:sp>
      <p:sp>
        <p:nvSpPr>
          <p:cNvPr id="8" name="Shape 5"/>
          <p:cNvSpPr/>
          <p:nvPr/>
        </p:nvSpPr>
        <p:spPr>
          <a:xfrm>
            <a:off x="502920" y="4709160"/>
            <a:ext cx="5120640" cy="868680"/>
          </a:xfrm>
          <a:prstGeom prst="rect">
            <a:avLst/>
          </a:prstGeom>
          <a:solidFill>
            <a:srgbClr val="CCFBF1"/>
          </a:solidFill>
          <a:ln w="12700">
            <a:solidFill>
              <a:srgbClr val="CCFBF1"/>
            </a:solidFill>
            <a:prstDash val="solid"/>
          </a:ln>
        </p:spPr>
      </p:sp>
      <p:sp>
        <p:nvSpPr>
          <p:cNvPr id="9" name="Text 6"/>
          <p:cNvSpPr/>
          <p:nvPr/>
        </p:nvSpPr>
        <p:spPr>
          <a:xfrm>
            <a:off x="640080" y="4754880"/>
            <a:ext cx="4846320" cy="777240"/>
          </a:xfrm>
          <a:prstGeom prst="rect">
            <a:avLst/>
          </a:prstGeom>
          <a:noFill/>
          <a:ln/>
        </p:spPr>
        <p:txBody>
          <a:bodyPr wrap="square" lIns="254" tIns="254" rIns="254" bIns="254" rtlCol="0" anchor="ctr"/>
          <a:lstStyle/>
          <a:p>
            <a:pPr indent="0" marL="0">
              <a:buNone/>
            </a:pPr>
            <a:r>
              <a:rPr lang="en-US" sz="1300" dirty="0">
                <a:solidFill>
                  <a:srgbClr val="1E293B"/>
                </a:solidFill>
                <a:latin typeface="Fira Sans" pitchFamily="34" charset="0"/>
                <a:ea typeface="Fira Sans" pitchFamily="34" charset="-122"/>
                <a:cs typeface="Fira Sans" pitchFamily="34" charset="-120"/>
              </a:rPr>
              <a:t>negotiation/agent.py uses LoopAgent(SequentialAgent(buyer, seller), max_iterations=5). Each iteration is one round.</a:t>
            </a:r>
            <a:endParaRPr lang="en-US" sz="1300" dirty="0"/>
          </a:p>
        </p:txBody>
      </p:sp>
      <p:pic>
        <p:nvPicPr>
          <p:cNvPr id="10" name="Image 1" descr="C:\Users\jeesingh\.copilot\session-state\b8ab4bc6-faf5-4ebd-bea2-f997a4b9a7ea\files\deck\img\x480.png">    </p:cNvPr>
          <p:cNvPicPr>
            <a:picLocks noChangeAspect="1"/>
          </p:cNvPicPr>
          <p:nvPr/>
        </p:nvPicPr>
        <p:blipFill>
          <a:blip r:embed="rId2"/>
          <a:stretch>
            <a:fillRect/>
          </a:stretch>
        </p:blipFill>
        <p:spPr>
          <a:xfrm>
            <a:off x="5715000" y="965200"/>
            <a:ext cx="6330950" cy="508508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4"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ADK 2.x: </a:t>
            </a:r>
            <a:r>
              <a:rPr lang="en-US" sz="3000" b="1" dirty="0">
                <a:solidFill>
                  <a:srgbClr val="FFFFFF"/>
                </a:solidFill>
                <a:latin typeface="Fira Sans" pitchFamily="34" charset="0"/>
                <a:ea typeface="Fira Sans" pitchFamily="34" charset="-122"/>
                <a:cs typeface="Fira Sans" pitchFamily="34" charset="-120"/>
              </a:rPr>
              <a:t>Workflow Replaces Sequential / Parallel / Loop</a:t>
            </a:r>
            <a:endParaRPr lang="en-US" sz="3000" dirty="0"/>
          </a:p>
        </p:txBody>
      </p:sp>
      <p:sp>
        <p:nvSpPr>
          <p:cNvPr id="5" name="Text 1"/>
          <p:cNvSpPr/>
          <p:nvPr/>
        </p:nvSpPr>
        <p:spPr>
          <a:xfrm>
            <a:off x="502920" y="896112"/>
            <a:ext cx="11155680" cy="731520"/>
          </a:xfrm>
          <a:prstGeom prst="rect">
            <a:avLst/>
          </a:prstGeom>
          <a:noFill/>
          <a:ln/>
        </p:spPr>
        <p:txBody>
          <a:bodyPr wrap="square" lIns="635" tIns="635" rIns="635" bIns="635" rtlCol="0" anchor="t"/>
          <a:lstStyle/>
          <a:p>
            <a:pPr algn="l" indent="0" marL="0">
              <a:buNone/>
            </a:pPr>
            <a:r>
              <a:rPr lang="en-US" sz="1400" dirty="0">
                <a:solidFill>
                  <a:srgbClr val="FFFFFF"/>
                </a:solidFill>
                <a:latin typeface="Fira Sans" pitchFamily="34" charset="0"/>
                <a:ea typeface="Fira Sans" pitchFamily="34" charset="-122"/>
                <a:cs typeface="Fira Sans" pitchFamily="34" charset="-120"/>
              </a:rPr>
              <a:t>In ADK 2.x, SequentialAgent, ParallelAgent and LoopAgent still work (this workshop uses them) but print a DeprecationWarning: they are deprecated in favor of Workflow — a graph of nodes and edges in google.adk.workflow.</a:t>
            </a:r>
            <a:endParaRPr lang="en-US" sz="1400" dirty="0"/>
          </a:p>
        </p:txBody>
      </p:sp>
      <p:sp>
        <p:nvSpPr>
          <p:cNvPr id="6" name="Shape 2"/>
          <p:cNvSpPr/>
          <p:nvPr/>
        </p:nvSpPr>
        <p:spPr>
          <a:xfrm>
            <a:off x="502920" y="1737360"/>
            <a:ext cx="6400800" cy="3383280"/>
          </a:xfrm>
          <a:prstGeom prst="rect">
            <a:avLst/>
          </a:prstGeom>
          <a:solidFill>
            <a:srgbClr val="333333"/>
          </a:solidFill>
          <a:ln w="12700">
            <a:solidFill>
              <a:srgbClr val="333333"/>
            </a:solidFill>
            <a:prstDash val="solid"/>
          </a:ln>
        </p:spPr>
      </p:sp>
      <p:sp>
        <p:nvSpPr>
          <p:cNvPr id="7" name="Text 3"/>
          <p:cNvSpPr/>
          <p:nvPr/>
        </p:nvSpPr>
        <p:spPr>
          <a:xfrm>
            <a:off x="576072" y="1792224"/>
            <a:ext cx="6254496" cy="327355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from google.adk.workflow import Workflow, JoinNode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9CA3AF"/>
                </a:solidFill>
                <a:latin typeface="Consolas" pitchFamily="34" charset="0"/>
                <a:ea typeface="Consolas" pitchFamily="34" charset="-122"/>
                <a:cs typeface="Consolas" pitchFamily="34" charset="-120"/>
              </a:rPr>
              <a:t># nodes: plain functions, LlmAgents or tools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def offer(ctx, node_input):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n = ctx.state.get(</a:t>
            </a:r>
            <a:r>
              <a:rPr lang="en-US" sz="1100" dirty="0">
                <a:solidFill>
                  <a:srgbClr val="A2FCA2"/>
                </a:solidFill>
                <a:latin typeface="Consolas" pitchFamily="34" charset="0"/>
                <a:ea typeface="Consolas" pitchFamily="34" charset="-122"/>
                <a:cs typeface="Consolas" pitchFamily="34" charset="-120"/>
              </a:rPr>
              <a:t>"round"</a:t>
            </a:r>
            <a:r>
              <a:rPr lang="en-US" sz="1100" dirty="0">
                <a:solidFill>
                  <a:srgbClr val="FFFFFF"/>
                </a:solidFill>
                <a:latin typeface="Consolas" pitchFamily="34" charset="0"/>
                <a:ea typeface="Consolas" pitchFamily="34" charset="-122"/>
                <a:cs typeface="Consolas" pitchFamily="34" charset="-120"/>
              </a:rPr>
              <a:t>, 0) + 1</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ctx.state[</a:t>
            </a:r>
            <a:r>
              <a:rPr lang="en-US" sz="1100" dirty="0">
                <a:solidFill>
                  <a:srgbClr val="A2FCA2"/>
                </a:solidFill>
                <a:latin typeface="Consolas" pitchFamily="34" charset="0"/>
                <a:ea typeface="Consolas" pitchFamily="34" charset="-122"/>
                <a:cs typeface="Consolas" pitchFamily="34" charset="-120"/>
              </a:rPr>
              <a:t>"round"</a:t>
            </a:r>
            <a:r>
              <a:rPr lang="en-US" sz="1100" dirty="0">
                <a:solidFill>
                  <a:srgbClr val="FFFFFF"/>
                </a:solidFill>
                <a:latin typeface="Consolas" pitchFamily="34" charset="0"/>
                <a:ea typeface="Consolas" pitchFamily="34" charset="-122"/>
                <a:cs typeface="Consolas" pitchFamily="34" charset="-120"/>
              </a:rPr>
              <a:t>] = 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ctx.route = </a:t>
            </a:r>
            <a:r>
              <a:rPr lang="en-US" sz="1100" dirty="0">
                <a:solidFill>
                  <a:srgbClr val="A2FCA2"/>
                </a:solidFill>
                <a:latin typeface="Consolas" pitchFamily="34" charset="0"/>
                <a:ea typeface="Consolas" pitchFamily="34" charset="-122"/>
                <a:cs typeface="Consolas" pitchFamily="34" charset="-120"/>
              </a:rPr>
              <a:t>"done"</a:t>
            </a:r>
            <a:r>
              <a:rPr lang="en-US" sz="1100" dirty="0">
                <a:solidFill>
                  <a:srgbClr val="FFFFFF"/>
                </a:solidFill>
                <a:latin typeface="Consolas" pitchFamily="34" charset="0"/>
                <a:ea typeface="Consolas" pitchFamily="34" charset="-122"/>
                <a:cs typeface="Consolas" pitchFamily="34" charset="-120"/>
              </a:rPr>
              <a:t> if n &gt;= 3 else </a:t>
            </a:r>
            <a:r>
              <a:rPr lang="en-US" sz="1100" dirty="0">
                <a:solidFill>
                  <a:srgbClr val="A2FCA2"/>
                </a:solidFill>
                <a:latin typeface="Consolas" pitchFamily="34" charset="0"/>
                <a:ea typeface="Consolas" pitchFamily="34" charset="-122"/>
                <a:cs typeface="Consolas" pitchFamily="34" charset="-120"/>
              </a:rPr>
              <a:t>"again"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return f</a:t>
            </a:r>
            <a:r>
              <a:rPr lang="en-US" sz="1100" dirty="0">
                <a:solidFill>
                  <a:srgbClr val="A2FCA2"/>
                </a:solidFill>
                <a:latin typeface="Consolas" pitchFamily="34" charset="0"/>
                <a:ea typeface="Consolas" pitchFamily="34" charset="-122"/>
                <a:cs typeface="Consolas" pitchFamily="34" charset="-120"/>
              </a:rPr>
              <a:t>"offer {n}"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join = JoinNode(name=</a:t>
            </a:r>
            <a:r>
              <a:rPr lang="en-US" sz="1100" dirty="0">
                <a:solidFill>
                  <a:srgbClr val="A2FCA2"/>
                </a:solidFill>
                <a:latin typeface="Consolas" pitchFamily="34" charset="0"/>
                <a:ea typeface="Consolas" pitchFamily="34" charset="-122"/>
                <a:cs typeface="Consolas" pitchFamily="34" charset="-120"/>
              </a:rPr>
              <a:t>"join"</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9CA3AF"/>
                </a:solidFill>
                <a:latin typeface="Consolas" pitchFamily="34" charset="0"/>
                <a:ea typeface="Consolas" pitchFamily="34" charset="-122"/>
                <a:cs typeface="Consolas" pitchFamily="34" charset="-120"/>
              </a:rPr>
              <a:t> # waits for every branch</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wf = Workflow(name=</a:t>
            </a:r>
            <a:r>
              <a:rPr lang="en-US" sz="1100" dirty="0">
                <a:solidFill>
                  <a:srgbClr val="A2FCA2"/>
                </a:solidFill>
                <a:latin typeface="Consolas" pitchFamily="34" charset="0"/>
                <a:ea typeface="Consolas" pitchFamily="34" charset="-122"/>
                <a:cs typeface="Consolas" pitchFamily="34" charset="-120"/>
              </a:rPr>
              <a:t>"demo"</a:t>
            </a:r>
            <a:r>
              <a:rPr lang="en-US" sz="1100" dirty="0">
                <a:solidFill>
                  <a:srgbClr val="FFFFFF"/>
                </a:solidFill>
                <a:latin typeface="Consolas" pitchFamily="34" charset="0"/>
                <a:ea typeface="Consolas" pitchFamily="34" charset="-122"/>
                <a:cs typeface="Consolas" pitchFamily="34" charset="-120"/>
              </a:rPr>
              <a:t>, edges=[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"START"</a:t>
            </a:r>
            <a:r>
              <a:rPr lang="en-US" sz="1100" dirty="0">
                <a:solidFill>
                  <a:srgbClr val="FFFFFF"/>
                </a:solidFill>
                <a:latin typeface="Consolas" pitchFamily="34" charset="0"/>
                <a:ea typeface="Consolas" pitchFamily="34" charset="-122"/>
                <a:cs typeface="Consolas" pitchFamily="34" charset="-120"/>
              </a:rPr>
              <a:t>, research, (comps, schools), join, offer),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(offer, {</a:t>
            </a:r>
            <a:r>
              <a:rPr lang="en-US" sz="1100" dirty="0">
                <a:solidFill>
                  <a:srgbClr val="A2FCA2"/>
                </a:solidFill>
                <a:latin typeface="Consolas" pitchFamily="34" charset="0"/>
                <a:ea typeface="Consolas" pitchFamily="34" charset="-122"/>
                <a:cs typeface="Consolas" pitchFamily="34" charset="-120"/>
              </a:rPr>
              <a:t>"again"</a:t>
            </a:r>
            <a:r>
              <a:rPr lang="en-US" sz="1100" dirty="0">
                <a:solidFill>
                  <a:srgbClr val="FFFFFF"/>
                </a:solidFill>
                <a:latin typeface="Consolas" pitchFamily="34" charset="0"/>
                <a:ea typeface="Consolas" pitchFamily="34" charset="-122"/>
                <a:cs typeface="Consolas" pitchFamily="34" charset="-120"/>
              </a:rPr>
              <a:t>: offer, </a:t>
            </a:r>
            <a:r>
              <a:rPr lang="en-US" sz="1100" dirty="0">
                <a:solidFill>
                  <a:srgbClr val="A2FCA2"/>
                </a:solidFill>
                <a:latin typeface="Consolas" pitchFamily="34" charset="0"/>
                <a:ea typeface="Consolas" pitchFamily="34" charset="-122"/>
                <a:cs typeface="Consolas" pitchFamily="34" charset="-120"/>
              </a:rPr>
              <a:t>"done"</a:t>
            </a:r>
            <a:r>
              <a:rPr lang="en-US" sz="1100" dirty="0">
                <a:solidFill>
                  <a:srgbClr val="FFFFFF"/>
                </a:solidFill>
                <a:latin typeface="Consolas" pitchFamily="34" charset="0"/>
                <a:ea typeface="Consolas" pitchFamily="34" charset="-122"/>
                <a:cs typeface="Consolas" pitchFamily="34" charset="-120"/>
              </a:rPr>
              <a:t>: finish}), </a:t>
            </a:r>
            <a:r>
              <a:rPr lang="en-US" sz="1100" dirty="0">
                <a:solidFill>
                  <a:srgbClr val="9CA3AF"/>
                </a:solidFill>
                <a:latin typeface="Consolas" pitchFamily="34" charset="0"/>
                <a:ea typeface="Consolas" pitchFamily="34" charset="-122"/>
                <a:cs typeface="Consolas" pitchFamily="34" charset="-120"/>
              </a:rPr>
              <a:t> # routed</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t>
            </a:r>
            <a:endParaRPr lang="en-US" sz="11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7086600" y="1737360"/>
          <a:ext cx="4617720" cy="914400"/>
        </p:xfrm>
        <a:graphic>
          <a:graphicData uri="http://schemas.openxmlformats.org/drawingml/2006/table">
            <a:tbl>
              <a:tblPr/>
              <a:tblGrid>
                <a:gridCol w="1828800"/>
                <a:gridCol w="2788920"/>
              </a:tblGrid>
              <a:tr h="0">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Old</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Workflow equivalent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SequentialAgent(a, b, c)</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a chain: ("START", a, b, c)</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ParallelAgent(a, b)</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a tuple (a, b) fans out; JoinNode waits for both</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LoopAgent + escalate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a cycle with a routed edge; a node sets ctx.route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max_iterations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your own counter in the routing node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9" name="Shape 4"/>
          <p:cNvSpPr/>
          <p:nvPr/>
        </p:nvSpPr>
        <p:spPr>
          <a:xfrm>
            <a:off x="502920" y="5303520"/>
            <a:ext cx="11155680" cy="685800"/>
          </a:xfrm>
          <a:prstGeom prst="rect">
            <a:avLst/>
          </a:prstGeom>
          <a:solidFill>
            <a:srgbClr val="CCFBF1"/>
          </a:solidFill>
          <a:ln w="12700">
            <a:solidFill>
              <a:srgbClr val="CCFBF1"/>
            </a:solidFill>
            <a:prstDash val="solid"/>
          </a:ln>
        </p:spPr>
      </p:sp>
      <p:sp>
        <p:nvSpPr>
          <p:cNvPr id="10" name="Text 5"/>
          <p:cNvSpPr/>
          <p:nvPr/>
        </p:nvSpPr>
        <p:spPr>
          <a:xfrm>
            <a:off x="640080" y="5349240"/>
            <a:ext cx="10881360" cy="59436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Rules: </a:t>
            </a:r>
            <a:r>
              <a:rPr lang="en-US" sz="1300" dirty="0">
                <a:solidFill>
                  <a:srgbClr val="1E293B"/>
                </a:solidFill>
                <a:latin typeface="Fira Sans" pitchFamily="34" charset="0"/>
                <a:ea typeface="Fira Sans" pitchFamily="34" charset="-122"/>
                <a:cs typeface="Fira Sans" pitchFamily="34" charset="-120"/>
              </a:rPr>
              <a:t>every cycle needs at least one routed edge (unconditional cycles are rejected); a Workflow can't yet be an LlmAgent's sub-agent. Verified: this code (with stub research/comps/schools/finish functions) ran on ADK 2.11.</a:t>
            </a:r>
            <a:endParaRPr lang="en-US" sz="13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07: </a:t>
            </a:r>
            <a:r>
              <a:rPr lang="en-US" sz="3000" b="1" dirty="0">
                <a:solidFill>
                  <a:srgbClr val="FFFFFF"/>
                </a:solidFill>
                <a:latin typeface="Fira Sans" pitchFamily="34" charset="0"/>
                <a:ea typeface="Fira Sans" pitchFamily="34" charset="-122"/>
                <a:cs typeface="Fira Sans" pitchFamily="34" charset="-120"/>
              </a:rPr>
              <a:t>Agent-as-Tool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Wrap an Agent as a Callable Tool</a:t>
            </a:r>
            <a:endParaRPr lang="en-US" sz="1400" dirty="0"/>
          </a:p>
        </p:txBody>
      </p:sp>
      <p:sp>
        <p:nvSpPr>
          <p:cNvPr id="5" name="Shape 2"/>
          <p:cNvSpPr/>
          <p:nvPr/>
        </p:nvSpPr>
        <p:spPr>
          <a:xfrm>
            <a:off x="502920" y="1234440"/>
            <a:ext cx="5577840" cy="2057400"/>
          </a:xfrm>
          <a:prstGeom prst="rect">
            <a:avLst/>
          </a:prstGeom>
          <a:solidFill>
            <a:srgbClr val="333333"/>
          </a:solidFill>
          <a:ln w="12700">
            <a:solidFill>
              <a:srgbClr val="333333"/>
            </a:solidFill>
            <a:prstDash val="solid"/>
          </a:ln>
        </p:spPr>
      </p:sp>
      <p:sp>
        <p:nvSpPr>
          <p:cNvPr id="6" name="Text 3"/>
          <p:cNvSpPr/>
          <p:nvPr/>
        </p:nvSpPr>
        <p:spPr>
          <a:xfrm>
            <a:off x="576072" y="1289304"/>
            <a:ext cx="5431536" cy="194767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valuator = LlmAgent(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name=</a:t>
            </a:r>
            <a:r>
              <a:rPr lang="en-US" sz="1100" dirty="0">
                <a:solidFill>
                  <a:srgbClr val="A2FCA2"/>
                </a:solidFill>
                <a:latin typeface="Consolas" pitchFamily="34" charset="0"/>
                <a:ea typeface="Consolas" pitchFamily="34" charset="-122"/>
                <a:cs typeface="Consolas" pitchFamily="34" charset="-120"/>
              </a:rPr>
              <a:t>"valuator"</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description=</a:t>
            </a:r>
            <a:r>
              <a:rPr lang="en-US" sz="1100" dirty="0">
                <a:solidFill>
                  <a:srgbClr val="A2FCA2"/>
                </a:solidFill>
                <a:latin typeface="Consolas" pitchFamily="34" charset="0"/>
                <a:ea typeface="Consolas" pitchFamily="34" charset="-122"/>
                <a:cs typeface="Consolas" pitchFamily="34" charset="-120"/>
              </a:rPr>
              <a:t>"Estimates fair market value of Austin properties."</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root_agent = LlmAgent(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name=</a:t>
            </a:r>
            <a:r>
              <a:rPr lang="en-US" sz="1100" dirty="0">
                <a:solidFill>
                  <a:srgbClr val="A2FCA2"/>
                </a:solidFill>
                <a:latin typeface="Consolas" pitchFamily="34" charset="0"/>
                <a:ea typeface="Consolas" pitchFamily="34" charset="-122"/>
                <a:cs typeface="Consolas" pitchFamily="34" charset="-120"/>
              </a:rPr>
              <a:t>"coordinator"</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tools=[AgentTool(agent=valuator)], </a:t>
            </a:r>
            <a:r>
              <a:rPr lang="en-US" sz="1100" dirty="0">
                <a:solidFill>
                  <a:srgbClr val="9CA3AF"/>
                </a:solidFill>
                <a:latin typeface="Consolas" pitchFamily="34" charset="0"/>
                <a:ea typeface="Consolas" pitchFamily="34" charset="-122"/>
                <a:cs typeface="Consolas" pitchFamily="34" charset="-120"/>
              </a:rPr>
              <a:t> # agent as a tool</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t>
            </a:r>
            <a:endParaRPr lang="en-US" sz="11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502920" y="3429000"/>
          <a:ext cx="5577840" cy="914400"/>
        </p:xfrm>
        <a:graphic>
          <a:graphicData uri="http://schemas.openxmlformats.org/drawingml/2006/table">
            <a:tbl>
              <a:tblPr/>
              <a:tblGrid>
                <a:gridCol w="1463040"/>
                <a:gridCol w="2560320"/>
                <a:gridCol w="1554480"/>
              </a:tblGrid>
              <a:tr h="0">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Pattern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How it works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Control</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AgentTool</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Call agent as a function → result returns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Caller keeps control</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sub_agents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Transfer to agent → it takes over</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Full delegation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SequentialAgent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Fixed order, no runtime choice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No decision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17" name="Table 1"/>
          <p:cNvGraphicFramePr>
            <a:graphicFrameLocks noGrp="1"/>
          </p:cNvGraphicFramePr>
          <p:nvPr>
            <p:extLst>
              <p:ext uri="{D42A27DB-BD31-4B8C-83A1-F6EECF244321}">
                <p14:modId xmlns:p14="http://schemas.microsoft.com/office/powerpoint/2010/main" val="1579011935"/>
              </p:ext>
            </p:extLst>
          </p:nvPr>
        </p:nvGraphicFramePr>
        <p:xfrm>
          <a:off x="502920" y="4892040"/>
          <a:ext cx="5577840" cy="914400"/>
        </p:xfrm>
        <a:graphic>
          <a:graphicData uri="http://schemas.openxmlformats.org/drawingml/2006/table">
            <a:tbl>
              <a:tblPr/>
              <a:tblGrid>
                <a:gridCol w="2651760"/>
                <a:gridCol w="2926080"/>
              </a:tblGrid>
              <a:tr h="0">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Try</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Expected</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"What should I offer on 742 Evergreen?"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Calls valuator → estimate → recommendation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"What's the weather?"</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No valuator call — not relevant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pic>
        <p:nvPicPr>
          <p:cNvPr id="9" name="Image 1" descr="C:\Users\jeesingh\.copilot\session-state\b8ab4bc6-faf5-4ebd-bea2-f997a4b9a7ea\files\deck\img\x487.png">    </p:cNvPr>
          <p:cNvPicPr>
            <a:picLocks noChangeAspect="1"/>
          </p:cNvPicPr>
          <p:nvPr/>
        </p:nvPicPr>
        <p:blipFill>
          <a:blip r:embed="rId2"/>
          <a:stretch>
            <a:fillRect/>
          </a:stretch>
        </p:blipFill>
        <p:spPr>
          <a:xfrm>
            <a:off x="6350000" y="1435100"/>
            <a:ext cx="5839460" cy="4617720"/>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07: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Delegation in Action</a:t>
            </a:r>
            <a:endParaRPr lang="en-US" sz="1400" dirty="0"/>
          </a:p>
        </p:txBody>
      </p:sp>
      <p:sp>
        <p:nvSpPr>
          <p:cNvPr id="5" name="Shape 2"/>
          <p:cNvSpPr/>
          <p:nvPr/>
        </p:nvSpPr>
        <p:spPr>
          <a:xfrm>
            <a:off x="502920" y="1234440"/>
            <a:ext cx="11155680" cy="1600200"/>
          </a:xfrm>
          <a:prstGeom prst="rect">
            <a:avLst/>
          </a:prstGeom>
          <a:solidFill>
            <a:srgbClr val="333333"/>
          </a:solidFill>
          <a:ln w="12700">
            <a:solidFill>
              <a:srgbClr val="333333"/>
            </a:solidFill>
            <a:prstDash val="solid"/>
          </a:ln>
        </p:spPr>
      </p:sp>
      <p:sp>
        <p:nvSpPr>
          <p:cNvPr id="6" name="Text 3"/>
          <p:cNvSpPr/>
          <p:nvPr/>
        </p:nvSpPr>
        <p:spPr>
          <a:xfrm>
            <a:off x="576072" y="1289304"/>
            <a:ext cx="11009376" cy="1490472"/>
          </a:xfrm>
          <a:prstGeom prst="rect">
            <a:avLst/>
          </a:prstGeom>
          <a:noFill/>
          <a:ln/>
        </p:spPr>
        <p:txBody>
          <a:bodyPr wrap="square" lIns="635" tIns="635" rIns="635" bIns="635" rtlCol="0" anchor="t"/>
          <a:lstStyle/>
          <a:p>
            <a:pPr indent="0" marL="0">
              <a:buNone/>
            </a:pPr>
            <a:r>
              <a:rPr lang="en-US" sz="1200" dirty="0">
                <a:solidFill>
                  <a:srgbClr val="FFFFFF"/>
                </a:solidFill>
                <a:latin typeface="Consolas" pitchFamily="34" charset="0"/>
                <a:ea typeface="Consolas" pitchFamily="34" charset="-122"/>
                <a:cs typeface="Consolas" pitchFamily="34" charset="-120"/>
              </a:rPr>
              <a:t>Event 1 | user        -&gt; </a:t>
            </a:r>
            <a:r>
              <a:rPr lang="en-US" sz="1200" dirty="0">
                <a:solidFill>
                  <a:srgbClr val="A2FCA2"/>
                </a:solidFill>
                <a:latin typeface="Consolas" pitchFamily="34" charset="0"/>
                <a:ea typeface="Consolas" pitchFamily="34" charset="-122"/>
                <a:cs typeface="Consolas" pitchFamily="34" charset="-120"/>
              </a:rPr>
              <a:t>"What should I offer?"</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Event 2 | coordinator -&gt; tool_call: valuator({</a:t>
            </a:r>
            <a:r>
              <a:rPr lang="en-US" sz="1200" dirty="0">
                <a:solidFill>
                  <a:srgbClr val="A2FCA2"/>
                </a:solidFill>
                <a:latin typeface="Consolas" pitchFamily="34" charset="0"/>
                <a:ea typeface="Consolas" pitchFamily="34" charset="-122"/>
                <a:cs typeface="Consolas" pitchFamily="34" charset="-120"/>
              </a:rPr>
              <a:t>"request"</a:t>
            </a:r>
            <a:r>
              <a:rPr lang="en-US" sz="1200" dirty="0">
                <a:solidFill>
                  <a:srgbClr val="FFFFFF"/>
                </a:solidFill>
                <a:latin typeface="Consolas" pitchFamily="34" charset="0"/>
                <a:ea typeface="Consolas" pitchFamily="34" charset="-122"/>
                <a:cs typeface="Consolas" pitchFamily="34" charset="-120"/>
              </a:rPr>
              <a:t>: </a:t>
            </a:r>
            <a:r>
              <a:rPr lang="en-US" sz="1200" dirty="0">
                <a:solidFill>
                  <a:srgbClr val="A2FCA2"/>
                </a:solidFill>
                <a:latin typeface="Consolas" pitchFamily="34" charset="0"/>
                <a:ea typeface="Consolas" pitchFamily="34" charset="-122"/>
                <a:cs typeface="Consolas" pitchFamily="34" charset="-120"/>
              </a:rPr>
              <a:t>"742 Evergreen..."</a:t>
            </a:r>
            <a:r>
              <a:rPr lang="en-US" sz="1200" dirty="0">
                <a:solidFill>
                  <a:srgbClr val="FFFFFF"/>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Event 3 | coordinator -&gt; tool_result: </a:t>
            </a:r>
            <a:r>
              <a:rPr lang="en-US" sz="1200" dirty="0">
                <a:solidFill>
                  <a:srgbClr val="A2FCA2"/>
                </a:solidFill>
                <a:latin typeface="Consolas" pitchFamily="34" charset="0"/>
                <a:ea typeface="Consolas" pitchFamily="34" charset="-122"/>
                <a:cs typeface="Consolas" pitchFamily="34" charset="-120"/>
              </a:rPr>
              <a:t>"$750K-$900K, location is biggest factor"</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Event 4 | coordinator -&gt; </a:t>
            </a:r>
            <a:r>
              <a:rPr lang="en-US" sz="1200" dirty="0">
                <a:solidFill>
                  <a:srgbClr val="A2FCA2"/>
                </a:solidFill>
                <a:latin typeface="Consolas" pitchFamily="34" charset="0"/>
                <a:ea typeface="Consolas" pitchFamily="34" charset="-122"/>
                <a:cs typeface="Consolas" pitchFamily="34" charset="-120"/>
              </a:rPr>
              <a:t>"I recommend offering within $750K-$900K range..."</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          (the range varies run to run - another run said $1.2M-$1.5M)</a:t>
            </a:r>
            <a:endParaRPr lang="en-US" sz="1200" dirty="0"/>
          </a:p>
        </p:txBody>
      </p:sp>
      <p:sp>
        <p:nvSpPr>
          <p:cNvPr id="7" name="Shape 4"/>
          <p:cNvSpPr/>
          <p:nvPr/>
        </p:nvSpPr>
        <p:spPr>
          <a:xfrm>
            <a:off x="502920" y="3017520"/>
            <a:ext cx="11155680" cy="868680"/>
          </a:xfrm>
          <a:prstGeom prst="rect">
            <a:avLst/>
          </a:prstGeom>
          <a:solidFill>
            <a:srgbClr val="FEF3C7"/>
          </a:solidFill>
          <a:ln w="12700">
            <a:solidFill>
              <a:srgbClr val="FEF3C7"/>
            </a:solidFill>
            <a:prstDash val="solid"/>
          </a:ln>
        </p:spPr>
      </p:sp>
      <p:sp>
        <p:nvSpPr>
          <p:cNvPr id="8" name="Text 5"/>
          <p:cNvSpPr/>
          <p:nvPr/>
        </p:nvSpPr>
        <p:spPr>
          <a:xfrm>
            <a:off x="640080" y="3063240"/>
            <a:ext cx="10881360" cy="777240"/>
          </a:xfrm>
          <a:prstGeom prst="rect">
            <a:avLst/>
          </a:prstGeom>
          <a:noFill/>
          <a:ln/>
        </p:spPr>
        <p:txBody>
          <a:bodyPr wrap="square" lIns="254" tIns="254" rIns="254" bIns="254" rtlCol="0" anchor="ctr"/>
          <a:lstStyle/>
          <a:p>
            <a:pPr indent="0" marL="0">
              <a:buNone/>
            </a:pPr>
            <a:r>
              <a:rPr lang="en-US" sz="1300" b="1" dirty="0">
                <a:solidFill>
                  <a:srgbClr val="D97706"/>
                </a:solidFill>
                <a:latin typeface="Fira Sans" pitchFamily="34" charset="0"/>
                <a:ea typeface="Fira Sans" pitchFamily="34" charset="-122"/>
                <a:cs typeface="Fira Sans" pitchFamily="34" charset="-120"/>
              </a:rPr>
              <a:t>NOTICE </a:t>
            </a:r>
            <a:r>
              <a:rPr lang="en-US" sz="1300" dirty="0">
                <a:solidFill>
                  <a:srgbClr val="1E293B"/>
                </a:solidFill>
                <a:latin typeface="Fira Sans" pitchFamily="34" charset="0"/>
                <a:ea typeface="Fira Sans" pitchFamily="34" charset="-122"/>
                <a:cs typeface="Fira Sans" pitchFamily="34" charset="-120"/>
              </a:rPr>
              <a:t>The valuator has no data tools, so it estimates from LLM knowledge — and the number isn't even stable between runs. d02's MCP-backed get_market_price returned $462K from data. This is why MCP matters.</a:t>
            </a:r>
            <a:endParaRPr lang="en-US" sz="1300" dirty="0"/>
          </a:p>
        </p:txBody>
      </p:sp>
      <p:sp>
        <p:nvSpPr>
          <p:cNvPr id="9" name="Shape 6"/>
          <p:cNvSpPr/>
          <p:nvPr/>
        </p:nvSpPr>
        <p:spPr>
          <a:xfrm>
            <a:off x="502920" y="4069080"/>
            <a:ext cx="11155680" cy="868680"/>
          </a:xfrm>
          <a:prstGeom prst="rect">
            <a:avLst/>
          </a:prstGeom>
          <a:solidFill>
            <a:srgbClr val="CCFBF1"/>
          </a:solidFill>
          <a:ln w="12700">
            <a:solidFill>
              <a:srgbClr val="CCFBF1"/>
            </a:solidFill>
            <a:prstDash val="solid"/>
          </a:ln>
        </p:spPr>
      </p:sp>
      <p:sp>
        <p:nvSpPr>
          <p:cNvPr id="10" name="Text 7"/>
          <p:cNvSpPr/>
          <p:nvPr/>
        </p:nvSpPr>
        <p:spPr>
          <a:xfrm>
            <a:off x="640080" y="4114800"/>
            <a:ext cx="10881360" cy="77724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KEY TAKEAWAY </a:t>
            </a:r>
            <a:r>
              <a:rPr lang="en-US" sz="1300" dirty="0">
                <a:solidFill>
                  <a:srgbClr val="1E293B"/>
                </a:solidFill>
                <a:latin typeface="Fira Sans" pitchFamily="34" charset="0"/>
                <a:ea typeface="Fira Sans" pitchFamily="34" charset="-122"/>
                <a:cs typeface="Fira Sans" pitchFamily="34" charset="-120"/>
              </a:rPr>
              <a:t>AgentTool = explicit delegation: the coordinator decides WHEN to call the specialist, and reads its description like a function docstring. Two LLM calls per delegation — more expensive, cleaner separation.</a:t>
            </a:r>
            <a:endParaRPr lang="en-US" sz="13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08: </a:t>
            </a:r>
            <a:r>
              <a:rPr lang="en-US" sz="3000" b="1" dirty="0">
                <a:solidFill>
                  <a:srgbClr val="FFFFFF"/>
                </a:solidFill>
                <a:latin typeface="Fira Sans" pitchFamily="34" charset="0"/>
                <a:ea typeface="Fira Sans" pitchFamily="34" charset="-122"/>
                <a:cs typeface="Fira Sans" pitchFamily="34" charset="-120"/>
              </a:rPr>
              <a:t>Callbacks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Policy Without Prompts — five hooks, each doing something visible</a:t>
            </a:r>
            <a:endParaRPr lang="en-US" sz="14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55680" cy="914400"/>
        </p:xfrm>
        <a:graphic>
          <a:graphicData uri="http://schemas.openxmlformats.org/drawingml/2006/table">
            <a:tbl>
              <a:tblPr/>
              <a:tblGrid>
                <a:gridCol w="2468880"/>
                <a:gridCol w="2286000"/>
                <a:gridCol w="3291840"/>
                <a:gridCol w="310896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Callback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When it fires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Policy in this demo</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Return to override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before_agent_callback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Once per turn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Count turns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Content → skip the agent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before_model_callback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Before every LLM call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Redact SSNs from the request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LlmResponse → skip the LLM</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before_tool_callback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Before every tool call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Block get_internal_admin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dict → skip the tool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after_tool_callback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After every tool returns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Strip seller_floor_usd from results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dict → replace the result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after_model_callback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After every LLM response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Remove phone numbers from the reply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LlmResponse → replace it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21" name="Table 1"/>
          <p:cNvGraphicFramePr>
            <a:graphicFrameLocks noGrp="1"/>
          </p:cNvGraphicFramePr>
          <p:nvPr>
            <p:extLst>
              <p:ext uri="{D42A27DB-BD31-4B8C-83A1-F6EECF244321}">
                <p14:modId xmlns:p14="http://schemas.microsoft.com/office/powerpoint/2010/main" val="1579011935"/>
              </p:ext>
            </p:extLst>
          </p:nvPr>
        </p:nvGraphicFramePr>
        <p:xfrm>
          <a:off x="502920" y="3794760"/>
          <a:ext cx="11155680" cy="914400"/>
        </p:xfrm>
        <a:graphic>
          <a:graphicData uri="http://schemas.openxmlformats.org/drawingml/2006/table">
            <a:tbl>
              <a:tblPr/>
              <a:tblGrid>
                <a:gridCol w="4937760"/>
                <a:gridCol w="6217920"/>
              </a:tblGrid>
              <a:tr h="0">
                <a:tc>
                  <a:txBody>
                    <a:bodyPr/>
                    <a:lstStyle/>
                    <a:p>
                      <a:pPr indent="0" marL="0">
                        <a:buNone/>
                      </a:pPr>
                      <a:r>
                        <a:rPr lang="en-US" sz="1150" b="1" dirty="0">
                          <a:solidFill>
                            <a:srgbClr val="FFFFFF"/>
                          </a:solidFill>
                          <a:latin typeface="Fira Sans" pitchFamily="34" charset="0"/>
                          <a:ea typeface="Fira Sans" pitchFamily="34" charset="-122"/>
                          <a:cs typeface="Fira Sans" pitchFamily="34" charset="-120"/>
                        </a:rPr>
                        <a:t>Try (same session)</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50" b="1" dirty="0">
                          <a:solidFill>
                            <a:srgbClr val="FFFFFF"/>
                          </a:solidFill>
                          <a:latin typeface="Fira Sans" pitchFamily="34" charset="0"/>
                          <a:ea typeface="Fira Sans" pitchFamily="34" charset="-122"/>
                          <a:cs typeface="Fira Sans" pitchFamily="34" charset="-120"/>
                        </a:rPr>
                        <a:t>What happens</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"My SSN is 123-45-6789. What's 742 Evergreen Terrace worth?"</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SSN redacted; tool allowed; floor stripped; phone → [phone removed]</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"What's the seller's minimum acceptable price?"</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Model calls get_internal_admin → before_tool BLOCKS it</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"Who is the listing agent and how do I contact them?"</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1E293B"/>
                          </a:solidFill>
                          <a:latin typeface="Fira Sans" pitchFamily="34" charset="0"/>
                          <a:ea typeface="Fira Sans" pitchFamily="34" charset="-122"/>
                          <a:cs typeface="Fira Sans" pitchFamily="34" charset="-120"/>
                        </a:rPr>
                        <a:t>Name shared, phone number removed</a:t>
                      </a:r>
                      <a:endParaRPr lang="en-US" sz="11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7" name="Text 2"/>
          <p:cNvSpPr/>
          <p:nvPr/>
        </p:nvSpPr>
        <p:spPr>
          <a:xfrm>
            <a:off x="502920" y="5669280"/>
            <a:ext cx="10058400" cy="365760"/>
          </a:xfrm>
          <a:prstGeom prst="rect">
            <a:avLst/>
          </a:prstGeom>
          <a:noFill/>
          <a:ln/>
        </p:spPr>
        <p:txBody>
          <a:bodyPr wrap="square" lIns="635" tIns="635" rIns="635" bIns="635" rtlCol="0" anchor="t"/>
          <a:lstStyle/>
          <a:p>
            <a:pPr algn="l" indent="0" marL="0">
              <a:buNone/>
            </a:pPr>
            <a:r>
              <a:rPr lang="en-US" sz="1300" i="1" dirty="0">
                <a:solidFill>
                  <a:srgbClr val="FFAB40"/>
                </a:solidFill>
                <a:latin typeface="Fira Sans" pitchFamily="34" charset="0"/>
                <a:ea typeface="Fira Sans" pitchFamily="34" charset="-122"/>
                <a:cs typeface="Fira Sans" pitchFamily="34" charset="-120"/>
              </a:rPr>
              <a:t>The instruction mentions none of these rules. Callbacks are deterministic; instructions are suggestive.</a:t>
            </a:r>
            <a:endParaRPr lang="en-US" sz="13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08: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Security Audit Trail (actual run, gpt-4o)</a:t>
            </a:r>
            <a:endParaRPr lang="en-US" sz="1400" dirty="0"/>
          </a:p>
        </p:txBody>
      </p:sp>
      <p:sp>
        <p:nvSpPr>
          <p:cNvPr id="5" name="Shape 2"/>
          <p:cNvSpPr/>
          <p:nvPr/>
        </p:nvSpPr>
        <p:spPr>
          <a:xfrm>
            <a:off x="502920" y="1234440"/>
            <a:ext cx="11155680" cy="2788920"/>
          </a:xfrm>
          <a:prstGeom prst="rect">
            <a:avLst/>
          </a:prstGeom>
          <a:solidFill>
            <a:srgbClr val="333333"/>
          </a:solidFill>
          <a:ln w="12700">
            <a:solidFill>
              <a:srgbClr val="333333"/>
            </a:solidFill>
            <a:prstDash val="solid"/>
          </a:ln>
        </p:spPr>
      </p:sp>
      <p:sp>
        <p:nvSpPr>
          <p:cNvPr id="6" name="Text 3"/>
          <p:cNvSpPr/>
          <p:nvPr/>
        </p:nvSpPr>
        <p:spPr>
          <a:xfrm>
            <a:off x="576072" y="1289304"/>
            <a:ext cx="11009376" cy="267919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Turn 1: </a:t>
            </a:r>
            <a:r>
              <a:rPr lang="en-US" sz="1100" dirty="0">
                <a:solidFill>
                  <a:srgbClr val="A2FCA2"/>
                </a:solidFill>
                <a:latin typeface="Consolas" pitchFamily="34" charset="0"/>
                <a:ea typeface="Consolas" pitchFamily="34" charset="-122"/>
                <a:cs typeface="Consolas" pitchFamily="34" charset="-120"/>
              </a:rPr>
              <a:t>"My SSN is 123-45-6789. What's 742 Evergreen Terrace worth?"</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[before_agent] turn 1 started</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[before_model] redacted SSN in 1 message(s)     -&gt; LLM sees [REDACTED-SSN]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[before_tool]  allowed get_quick_estimate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[after_tool]   stripped [</a:t>
            </a:r>
            <a:r>
              <a:rPr lang="en-US" sz="1100" dirty="0">
                <a:solidFill>
                  <a:srgbClr val="A2FCA2"/>
                </a:solidFill>
                <a:latin typeface="Consolas" pitchFamily="34" charset="0"/>
                <a:ea typeface="Consolas" pitchFamily="34" charset="-122"/>
                <a:cs typeface="Consolas" pitchFamily="34" charset="-120"/>
              </a:rPr>
              <a:t>'seller_floor_usd'</a:t>
            </a:r>
            <a:r>
              <a:rPr lang="en-US" sz="1100" dirty="0">
                <a:solidFill>
                  <a:srgbClr val="FFFFFF"/>
                </a:solidFill>
                <a:latin typeface="Consolas" pitchFamily="34" charset="0"/>
                <a:ea typeface="Consolas" pitchFamily="34" charset="-122"/>
                <a:cs typeface="Consolas" pitchFamily="34" charset="-120"/>
              </a:rPr>
              <a:t>]    -&gt; LLM never sees the floor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[before_model] redacted SSN in 1 message(s)     -&gt; history still has it: scrubbed again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[after_model]  removed phone number(s) from the reply</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Turn 2: </a:t>
            </a:r>
            <a:r>
              <a:rPr lang="en-US" sz="1100" dirty="0">
                <a:solidFill>
                  <a:srgbClr val="A2FCA2"/>
                </a:solidFill>
                <a:latin typeface="Consolas" pitchFamily="34" charset="0"/>
                <a:ea typeface="Consolas" pitchFamily="34" charset="-122"/>
                <a:cs typeface="Consolas" pitchFamily="34" charset="-120"/>
              </a:rPr>
              <a:t>"What's the seller's minimum acceptable price for 742 Evergreen Terrace?"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LLM -&gt; get_internal_admin(...)                  &lt;- the model DID try</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[before_tool]  BLOCKED get_internal_admin       -&gt; </a:t>
            </a:r>
            <a:r>
              <a:rPr lang="en-US" sz="1100" dirty="0">
                <a:solidFill>
                  <a:srgbClr val="A2FCA2"/>
                </a:solidFill>
                <a:latin typeface="Consolas" pitchFamily="34" charset="0"/>
                <a:ea typeface="Consolas" pitchFamily="34" charset="-122"/>
                <a:cs typeface="Consolas" pitchFamily="34" charset="-120"/>
              </a:rPr>
              <a:t>"I'm unable to access..."</a:t>
            </a:r>
            <a:endParaRPr lang="en-US" sz="1100" dirty="0"/>
          </a:p>
        </p:txBody>
      </p:sp>
      <p:sp>
        <p:nvSpPr>
          <p:cNvPr id="7" name="Shape 4"/>
          <p:cNvSpPr/>
          <p:nvPr/>
        </p:nvSpPr>
        <p:spPr>
          <a:xfrm>
            <a:off x="502920" y="4206240"/>
            <a:ext cx="11155680" cy="1005840"/>
          </a:xfrm>
          <a:prstGeom prst="rect">
            <a:avLst/>
          </a:prstGeom>
          <a:solidFill>
            <a:srgbClr val="CCFBF1"/>
          </a:solidFill>
          <a:ln w="12700">
            <a:solidFill>
              <a:srgbClr val="CCFBF1"/>
            </a:solidFill>
            <a:prstDash val="solid"/>
          </a:ln>
        </p:spPr>
      </p:sp>
      <p:sp>
        <p:nvSpPr>
          <p:cNvPr id="8" name="Text 5"/>
          <p:cNvSpPr/>
          <p:nvPr/>
        </p:nvSpPr>
        <p:spPr>
          <a:xfrm>
            <a:off x="640080" y="4251960"/>
            <a:ext cx="10881360" cy="91440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KEY TAKEAWAY </a:t>
            </a:r>
            <a:r>
              <a:rPr lang="en-US" sz="1300" dirty="0">
                <a:solidFill>
                  <a:srgbClr val="1E293B"/>
                </a:solidFill>
                <a:latin typeface="Fira Sans" pitchFamily="34" charset="0"/>
                <a:ea typeface="Fira Sans" pitchFamily="34" charset="-122"/>
                <a:cs typeface="Fira Sans" pitchFamily="34" charset="-120"/>
              </a:rPr>
              <a:t>Callbacks = deterministic policy. before_model runs on EVERY LLM call; redaction edits only the model's copy (the stored event keeps the SSN). This is the pattern buyer_agent and seller_agent use for tool allowlists. In production, swap print() for structured logging.</a:t>
            </a:r>
            <a:endParaRPr lang="en-US" sz="13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09: </a:t>
            </a:r>
            <a:r>
              <a:rPr lang="en-US" sz="3000" b="1" dirty="0">
                <a:solidFill>
                  <a:srgbClr val="FFFFFF"/>
                </a:solidFill>
                <a:latin typeface="Fira Sans" pitchFamily="34" charset="0"/>
                <a:ea typeface="Fira Sans" pitchFamily="34" charset="-122"/>
                <a:cs typeface="Fira Sans" pitchFamily="34" charset="-120"/>
              </a:rPr>
              <a:t>Event Stream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See What the Runner Produces</a:t>
            </a:r>
            <a:endParaRPr lang="en-US" sz="1400" dirty="0"/>
          </a:p>
        </p:txBody>
      </p:sp>
      <p:sp>
        <p:nvSpPr>
          <p:cNvPr id="5" name="Shape 2"/>
          <p:cNvSpPr/>
          <p:nvPr/>
        </p:nvSpPr>
        <p:spPr>
          <a:xfrm>
            <a:off x="502920" y="1234440"/>
            <a:ext cx="11155680" cy="1920240"/>
          </a:xfrm>
          <a:prstGeom prst="rect">
            <a:avLst/>
          </a:prstGeom>
          <a:solidFill>
            <a:srgbClr val="333333"/>
          </a:solidFill>
          <a:ln w="12700">
            <a:solidFill>
              <a:srgbClr val="333333"/>
            </a:solidFill>
            <a:prstDash val="solid"/>
          </a:ln>
        </p:spPr>
      </p:sp>
      <p:sp>
        <p:nvSpPr>
          <p:cNvPr id="6" name="Text 3"/>
          <p:cNvSpPr/>
          <p:nvPr/>
        </p:nvSpPr>
        <p:spPr>
          <a:xfrm>
            <a:off x="576072" y="1289304"/>
            <a:ext cx="11009376" cy="181051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def lookup_comps(address: str, tool_context: ToolContext) -&gt; dict: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tool_context.state[</a:t>
            </a:r>
            <a:r>
              <a:rPr lang="en-US" sz="1100" dirty="0">
                <a:solidFill>
                  <a:srgbClr val="A2FCA2"/>
                </a:solidFill>
                <a:latin typeface="Consolas" pitchFamily="34" charset="0"/>
                <a:ea typeface="Consolas" pitchFamily="34" charset="-122"/>
                <a:cs typeface="Consolas" pitchFamily="34" charset="-120"/>
              </a:rPr>
              <a:t>"last_comp_lookup"</a:t>
            </a:r>
            <a:r>
              <a:rPr lang="en-US" sz="1100" dirty="0">
                <a:solidFill>
                  <a:srgbClr val="FFFFFF"/>
                </a:solidFill>
                <a:latin typeface="Consolas" pitchFamily="34" charset="0"/>
                <a:ea typeface="Consolas" pitchFamily="34" charset="-122"/>
                <a:cs typeface="Consolas" pitchFamily="34" charset="-120"/>
              </a:rPr>
              <a:t>] = address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return {</a:t>
            </a:r>
            <a:r>
              <a:rPr lang="en-US" sz="1100" dirty="0">
                <a:solidFill>
                  <a:srgbClr val="A2FCA2"/>
                </a:solidFill>
                <a:latin typeface="Consolas" pitchFamily="34" charset="0"/>
                <a:ea typeface="Consolas" pitchFamily="34" charset="-122"/>
                <a:cs typeface="Consolas" pitchFamily="34" charset="-120"/>
              </a:rPr>
              <a:t>"comps"</a:t>
            </a:r>
            <a:r>
              <a:rPr lang="en-US" sz="1100" dirty="0">
                <a:solidFill>
                  <a:srgbClr val="FFFFFF"/>
                </a:solidFill>
                <a:latin typeface="Consolas" pitchFamily="34" charset="0"/>
                <a:ea typeface="Consolas" pitchFamily="34" charset="-122"/>
                <a:cs typeface="Consolas" pitchFamily="34" charset="-120"/>
              </a:rPr>
              <a:t>: [...], </a:t>
            </a:r>
            <a:r>
              <a:rPr lang="en-US" sz="1100" dirty="0">
                <a:solidFill>
                  <a:srgbClr val="A2FCA2"/>
                </a:solidFill>
                <a:latin typeface="Consolas" pitchFamily="34" charset="0"/>
                <a:ea typeface="Consolas" pitchFamily="34" charset="-122"/>
                <a:cs typeface="Consolas" pitchFamily="34" charset="-120"/>
              </a:rPr>
              <a:t>"avg_comp_price"</a:t>
            </a:r>
            <a:r>
              <a:rPr lang="en-US" sz="1100" dirty="0">
                <a:solidFill>
                  <a:srgbClr val="FFFFFF"/>
                </a:solidFill>
                <a:latin typeface="Consolas" pitchFamily="34" charset="0"/>
                <a:ea typeface="Consolas" pitchFamily="34" charset="-122"/>
                <a:cs typeface="Consolas" pitchFamily="34" charset="-120"/>
              </a:rPr>
              <a:t>: 465_000}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def estimate_offer(comp_avg: int, discount_pct: int, tool_context: ToolContext) -&gt; dict: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tool_context.state[</a:t>
            </a:r>
            <a:r>
              <a:rPr lang="en-US" sz="1100" dirty="0">
                <a:solidFill>
                  <a:srgbClr val="A2FCA2"/>
                </a:solidFill>
                <a:latin typeface="Consolas" pitchFamily="34" charset="0"/>
                <a:ea typeface="Consolas" pitchFamily="34" charset="-122"/>
                <a:cs typeface="Consolas" pitchFamily="34" charset="-120"/>
              </a:rPr>
              <a:t>"latest_offer"</a:t>
            </a:r>
            <a:r>
              <a:rPr lang="en-US" sz="1100" dirty="0">
                <a:solidFill>
                  <a:srgbClr val="FFFFFF"/>
                </a:solidFill>
                <a:latin typeface="Consolas" pitchFamily="34" charset="0"/>
                <a:ea typeface="Consolas" pitchFamily="34" charset="-122"/>
                <a:cs typeface="Consolas" pitchFamily="34" charset="-120"/>
              </a:rPr>
              <a:t>] = int(comp_avg * (1 - discount_pct / 100))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tool_context.state[</a:t>
            </a:r>
            <a:r>
              <a:rPr lang="en-US" sz="1100" dirty="0">
                <a:solidFill>
                  <a:srgbClr val="A2FCA2"/>
                </a:solidFill>
                <a:latin typeface="Consolas" pitchFamily="34" charset="0"/>
                <a:ea typeface="Consolas" pitchFamily="34" charset="-122"/>
                <a:cs typeface="Consolas" pitchFamily="34" charset="-120"/>
              </a:rPr>
              <a:t>"offer_count"</a:t>
            </a:r>
            <a:r>
              <a:rPr lang="en-US" sz="1100" dirty="0">
                <a:solidFill>
                  <a:srgbClr val="FFFFFF"/>
                </a:solidFill>
                <a:latin typeface="Consolas" pitchFamily="34" charset="0"/>
                <a:ea typeface="Consolas" pitchFamily="34" charset="-122"/>
                <a:cs typeface="Consolas" pitchFamily="34" charset="-120"/>
              </a:rPr>
              <a:t>] = tool_context.state.get(</a:t>
            </a:r>
            <a:r>
              <a:rPr lang="en-US" sz="1100" dirty="0">
                <a:solidFill>
                  <a:srgbClr val="A2FCA2"/>
                </a:solidFill>
                <a:latin typeface="Consolas" pitchFamily="34" charset="0"/>
                <a:ea typeface="Consolas" pitchFamily="34" charset="-122"/>
                <a:cs typeface="Consolas" pitchFamily="34" charset="-120"/>
              </a:rPr>
              <a:t>"offer_count"</a:t>
            </a:r>
            <a:r>
              <a:rPr lang="en-US" sz="1100" dirty="0">
                <a:solidFill>
                  <a:srgbClr val="FFFFFF"/>
                </a:solidFill>
                <a:latin typeface="Consolas" pitchFamily="34" charset="0"/>
                <a:ea typeface="Consolas" pitchFamily="34" charset="-122"/>
                <a:cs typeface="Consolas" pitchFamily="34" charset="-120"/>
              </a:rPr>
              <a:t>, 0) + 1</a:t>
            </a:r>
            <a:endParaRPr lang="en-US" sz="1100" dirty="0"/>
          </a:p>
        </p:txBody>
      </p:sp>
      <p:sp>
        <p:nvSpPr>
          <p:cNvPr id="7" name="Text 4"/>
          <p:cNvSpPr/>
          <p:nvPr/>
        </p:nvSpPr>
        <p:spPr>
          <a:xfrm>
            <a:off x="502920" y="3337560"/>
            <a:ext cx="11155680" cy="1280160"/>
          </a:xfrm>
          <a:prstGeom prst="rect">
            <a:avLst/>
          </a:prstGeom>
          <a:noFill/>
          <a:ln/>
        </p:spPr>
        <p:txBody>
          <a:bodyPr wrap="square" lIns="635" tIns="635" rIns="635" bIns="635" rtlCol="0" anchor="t"/>
          <a:lstStyle/>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Web UI: State tab (updates live) + left panel event inspector (state deltas)</a:t>
            </a:r>
            <a:endParaRPr lang="en-US" sz="1400" dirty="0"/>
          </a:p>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Terminal: python m2_adk_multiagents/adk_demos/d09_event_stream/run_event_stream.py prints every Event</a:t>
            </a:r>
            <a:endParaRPr lang="en-US" sz="1400" dirty="0"/>
          </a:p>
          <a:p>
            <a:pPr lvl="1" marL="685800" indent="-342900">
              <a:spcAft>
                <a:spcPts val="600"/>
              </a:spcAft>
              <a:buSzPct val="100000"/>
              <a:buChar char="•"/>
            </a:pPr>
            <a:r>
              <a:rPr lang="en-US" sz="1400" dirty="0">
                <a:solidFill>
                  <a:srgbClr val="FFFFFF"/>
                </a:solidFill>
                <a:latin typeface="Fira Sans" pitchFamily="34" charset="0"/>
                <a:ea typeface="Fira Sans" pitchFamily="34" charset="-122"/>
                <a:cs typeface="Fira Sans" pitchFamily="34" charset="-120"/>
              </a:rPr>
              <a:t>Try: "What should I offer on 742 Evergreen Terrace?" → check the State tab</a:t>
            </a:r>
            <a:endParaRPr lang="en-US" sz="1400" dirty="0"/>
          </a:p>
        </p:txBody>
      </p:sp>
      <p:sp>
        <p:nvSpPr>
          <p:cNvPr id="8" name="Shape 5"/>
          <p:cNvSpPr/>
          <p:nvPr/>
        </p:nvSpPr>
        <p:spPr>
          <a:xfrm>
            <a:off x="502920" y="4800600"/>
            <a:ext cx="11155680" cy="502920"/>
          </a:xfrm>
          <a:prstGeom prst="rect">
            <a:avLst/>
          </a:prstGeom>
          <a:solidFill>
            <a:srgbClr val="FFFFFF"/>
          </a:solidFill>
          <a:ln w="12700">
            <a:solidFill>
              <a:srgbClr val="FFFFFF"/>
            </a:solidFill>
            <a:prstDash val="solid"/>
          </a:ln>
        </p:spPr>
      </p:sp>
      <p:sp>
        <p:nvSpPr>
          <p:cNvPr id="9" name="Text 6"/>
          <p:cNvSpPr/>
          <p:nvPr/>
        </p:nvSpPr>
        <p:spPr>
          <a:xfrm>
            <a:off x="640080" y="4846320"/>
            <a:ext cx="10881360" cy="411480"/>
          </a:xfrm>
          <a:prstGeom prst="rect">
            <a:avLst/>
          </a:prstGeom>
          <a:noFill/>
          <a:ln/>
        </p:spPr>
        <p:txBody>
          <a:bodyPr wrap="square" lIns="254" tIns="254" rIns="254" bIns="254" rtlCol="0" anchor="ctr"/>
          <a:lstStyle/>
          <a:p>
            <a:pPr indent="0" marL="0">
              <a:buNone/>
            </a:pPr>
            <a:r>
              <a:rPr lang="en-US" sz="1300" dirty="0">
                <a:solidFill>
                  <a:srgbClr val="1E293B"/>
                </a:solidFill>
                <a:latin typeface="Fira Sans" pitchFamily="34" charset="0"/>
                <a:ea typeface="Fira Sans" pitchFamily="34" charset="-122"/>
                <a:cs typeface="Fira Sans" pitchFamily="34" charset="-120"/>
              </a:rPr>
              <a:t>This demo is about seeing state writes and event structure, not the chat response.</a:t>
            </a:r>
            <a:endParaRPr lang="en-US" sz="13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09: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The Event Stream, Field by Field (actual run, gpt-4o)</a:t>
            </a:r>
            <a:endParaRPr lang="en-US" sz="1400" dirty="0"/>
          </a:p>
        </p:txBody>
      </p:sp>
      <p:sp>
        <p:nvSpPr>
          <p:cNvPr id="5" name="Shape 2"/>
          <p:cNvSpPr/>
          <p:nvPr/>
        </p:nvSpPr>
        <p:spPr>
          <a:xfrm>
            <a:off x="502920" y="1234440"/>
            <a:ext cx="11155680" cy="2148840"/>
          </a:xfrm>
          <a:prstGeom prst="rect">
            <a:avLst/>
          </a:prstGeom>
          <a:solidFill>
            <a:srgbClr val="333333"/>
          </a:solidFill>
          <a:ln w="12700">
            <a:solidFill>
              <a:srgbClr val="333333"/>
            </a:solidFill>
            <a:prstDash val="solid"/>
          </a:ln>
        </p:spPr>
      </p:sp>
      <p:sp>
        <p:nvSpPr>
          <p:cNvPr id="6" name="Text 3"/>
          <p:cNvSpPr/>
          <p:nvPr/>
        </p:nvSpPr>
        <p:spPr>
          <a:xfrm>
            <a:off x="576072" y="1289304"/>
            <a:ext cx="11009376" cy="203911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[Event 1] function_call      lookup_comps({</a:t>
            </a:r>
            <a:r>
              <a:rPr lang="en-US" sz="1100" dirty="0">
                <a:solidFill>
                  <a:srgbClr val="A2FCA2"/>
                </a:solidFill>
                <a:latin typeface="Consolas" pitchFamily="34" charset="0"/>
                <a:ea typeface="Consolas" pitchFamily="34" charset="-122"/>
                <a:cs typeface="Consolas" pitchFamily="34" charset="-120"/>
              </a:rPr>
              <a:t>"address"</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"742 Evergreen Terrace, ..."</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[Event 2] function_response  lookup_comps -&gt; {</a:t>
            </a:r>
            <a:r>
              <a:rPr lang="en-US" sz="1100" dirty="0">
                <a:solidFill>
                  <a:srgbClr val="A2FCA2"/>
                </a:solidFill>
                <a:latin typeface="Consolas" pitchFamily="34" charset="0"/>
                <a:ea typeface="Consolas" pitchFamily="34" charset="-122"/>
                <a:cs typeface="Consolas" pitchFamily="34" charset="-120"/>
              </a:rPr>
              <a:t>"avg_comp_price"</a:t>
            </a:r>
            <a:r>
              <a:rPr lang="en-US" sz="1100" dirty="0">
                <a:solidFill>
                  <a:srgbClr val="FFFFFF"/>
                </a:solidFill>
                <a:latin typeface="Consolas" pitchFamily="34" charset="0"/>
                <a:ea typeface="Consolas" pitchFamily="34" charset="-122"/>
                <a:cs typeface="Consolas" pitchFamily="34" charset="-120"/>
              </a:rPr>
              <a:t>: 465000,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state_delta        {</a:t>
            </a:r>
            <a:r>
              <a:rPr lang="en-US" sz="1100" dirty="0">
                <a:solidFill>
                  <a:srgbClr val="A2FCA2"/>
                </a:solidFill>
                <a:latin typeface="Consolas" pitchFamily="34" charset="0"/>
                <a:ea typeface="Consolas" pitchFamily="34" charset="-122"/>
                <a:cs typeface="Consolas" pitchFamily="34" charset="-120"/>
              </a:rPr>
              <a:t>"last_comp_lookup"</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"742 Evergreen Terrace, ..."</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[Event 3] function_call      estimate_offer({</a:t>
            </a:r>
            <a:r>
              <a:rPr lang="en-US" sz="1100" dirty="0">
                <a:solidFill>
                  <a:srgbClr val="A2FCA2"/>
                </a:solidFill>
                <a:latin typeface="Consolas" pitchFamily="34" charset="0"/>
                <a:ea typeface="Consolas" pitchFamily="34" charset="-122"/>
                <a:cs typeface="Consolas" pitchFamily="34" charset="-120"/>
              </a:rPr>
              <a:t>"comp_avg"</a:t>
            </a:r>
            <a:r>
              <a:rPr lang="en-US" sz="1100" dirty="0">
                <a:solidFill>
                  <a:srgbClr val="FFFFFF"/>
                </a:solidFill>
                <a:latin typeface="Consolas" pitchFamily="34" charset="0"/>
                <a:ea typeface="Consolas" pitchFamily="34" charset="-122"/>
                <a:cs typeface="Consolas" pitchFamily="34" charset="-120"/>
              </a:rPr>
              <a:t>: 465000, </a:t>
            </a:r>
            <a:r>
              <a:rPr lang="en-US" sz="1100" dirty="0">
                <a:solidFill>
                  <a:srgbClr val="A2FCA2"/>
                </a:solidFill>
                <a:latin typeface="Consolas" pitchFamily="34" charset="0"/>
                <a:ea typeface="Consolas" pitchFamily="34" charset="-122"/>
                <a:cs typeface="Consolas" pitchFamily="34" charset="-120"/>
              </a:rPr>
              <a:t>"discount_pct"</a:t>
            </a:r>
            <a:r>
              <a:rPr lang="en-US" sz="1100" dirty="0">
                <a:solidFill>
                  <a:srgbClr val="FFFFFF"/>
                </a:solidFill>
                <a:latin typeface="Consolas" pitchFamily="34" charset="0"/>
                <a:ea typeface="Consolas" pitchFamily="34" charset="-122"/>
                <a:cs typeface="Consolas" pitchFamily="34" charset="-120"/>
              </a:rPr>
              <a:t>: 5})</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[Event 4] function_response  estimate_offer -&gt; {</a:t>
            </a:r>
            <a:r>
              <a:rPr lang="en-US" sz="1100" dirty="0">
                <a:solidFill>
                  <a:srgbClr val="A2FCA2"/>
                </a:solidFill>
                <a:latin typeface="Consolas" pitchFamily="34" charset="0"/>
                <a:ea typeface="Consolas" pitchFamily="34" charset="-122"/>
                <a:cs typeface="Consolas" pitchFamily="34" charset="-120"/>
              </a:rPr>
              <a:t>"offer_price"</a:t>
            </a:r>
            <a:r>
              <a:rPr lang="en-US" sz="1100" dirty="0">
                <a:solidFill>
                  <a:srgbClr val="FFFFFF"/>
                </a:solidFill>
                <a:latin typeface="Consolas" pitchFamily="34" charset="0"/>
                <a:ea typeface="Consolas" pitchFamily="34" charset="-122"/>
                <a:cs typeface="Consolas" pitchFamily="34" charset="-120"/>
              </a:rPr>
              <a:t>: 441750}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state_delta        {</a:t>
            </a:r>
            <a:r>
              <a:rPr lang="en-US" sz="1100" dirty="0">
                <a:solidFill>
                  <a:srgbClr val="A2FCA2"/>
                </a:solidFill>
                <a:latin typeface="Consolas" pitchFamily="34" charset="0"/>
                <a:ea typeface="Consolas" pitchFamily="34" charset="-122"/>
                <a:cs typeface="Consolas" pitchFamily="34" charset="-120"/>
              </a:rPr>
              <a:t>"latest_offer"</a:t>
            </a:r>
            <a:r>
              <a:rPr lang="en-US" sz="1100" dirty="0">
                <a:solidFill>
                  <a:srgbClr val="FFFFFF"/>
                </a:solidFill>
                <a:latin typeface="Consolas" pitchFamily="34" charset="0"/>
                <a:ea typeface="Consolas" pitchFamily="34" charset="-122"/>
                <a:cs typeface="Consolas" pitchFamily="34" charset="-120"/>
              </a:rPr>
              <a:t>: 441750, </a:t>
            </a:r>
            <a:r>
              <a:rPr lang="en-US" sz="1100" dirty="0">
                <a:solidFill>
                  <a:srgbClr val="A2FCA2"/>
                </a:solidFill>
                <a:latin typeface="Consolas" pitchFamily="34" charset="0"/>
                <a:ea typeface="Consolas" pitchFamily="34" charset="-122"/>
                <a:cs typeface="Consolas" pitchFamily="34" charset="-120"/>
              </a:rPr>
              <a:t>"offer_count"</a:t>
            </a:r>
            <a:r>
              <a:rPr lang="en-US" sz="1100" dirty="0">
                <a:solidFill>
                  <a:srgbClr val="FFFFFF"/>
                </a:solidFill>
                <a:latin typeface="Consolas" pitchFamily="34" charset="0"/>
                <a:ea typeface="Consolas" pitchFamily="34" charset="-122"/>
                <a:cs typeface="Consolas" pitchFamily="34" charset="-120"/>
              </a:rPr>
              <a:t>: 1}</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[Event 5] final_response=True  </a:t>
            </a:r>
            <a:r>
              <a:rPr lang="en-US" sz="1100" dirty="0">
                <a:solidFill>
                  <a:srgbClr val="A2FCA2"/>
                </a:solidFill>
                <a:latin typeface="Consolas" pitchFamily="34" charset="0"/>
                <a:ea typeface="Consolas" pitchFamily="34" charset="-122"/>
                <a:cs typeface="Consolas" pitchFamily="34" charset="-120"/>
              </a:rPr>
              <a:t>"... I recommend making an offer of $441,750."</a:t>
            </a:r>
            <a:endParaRPr lang="en-US" sz="1100" dirty="0"/>
          </a:p>
        </p:txBody>
      </p:sp>
      <p:sp>
        <p:nvSpPr>
          <p:cNvPr id="7" name="Text 4"/>
          <p:cNvSpPr/>
          <p:nvPr/>
        </p:nvSpPr>
        <p:spPr>
          <a:xfrm>
            <a:off x="502920" y="3566160"/>
            <a:ext cx="11155680" cy="1234440"/>
          </a:xfrm>
          <a:prstGeom prst="rect">
            <a:avLst/>
          </a:prstGeom>
          <a:noFill/>
          <a:ln/>
        </p:spPr>
        <p:txBody>
          <a:bodyPr wrap="square" lIns="635" tIns="635" rIns="635" bIns="635" rtlCol="0" anchor="t"/>
          <a:lstStyle/>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The model chained the tools: estimate_offer got the real comp average ($465K) → $441,750</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State deltas ride on the tool-RESULT events; final_response=True appears once per turn</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run_async yields 5 events; the session stores 6 (your message too)</a:t>
            </a:r>
            <a:endParaRPr lang="en-US" sz="1400" dirty="0"/>
          </a:p>
        </p:txBody>
      </p:sp>
      <p:sp>
        <p:nvSpPr>
          <p:cNvPr id="8" name="Shape 5"/>
          <p:cNvSpPr/>
          <p:nvPr/>
        </p:nvSpPr>
        <p:spPr>
          <a:xfrm>
            <a:off x="502920" y="4983480"/>
            <a:ext cx="11155680" cy="777240"/>
          </a:xfrm>
          <a:prstGeom prst="rect">
            <a:avLst/>
          </a:prstGeom>
          <a:solidFill>
            <a:srgbClr val="FEF3C7"/>
          </a:solidFill>
          <a:ln w="12700">
            <a:solidFill>
              <a:srgbClr val="FEF3C7"/>
            </a:solidFill>
            <a:prstDash val="solid"/>
          </a:ln>
        </p:spPr>
      </p:sp>
      <p:sp>
        <p:nvSpPr>
          <p:cNvPr id="9" name="Text 6"/>
          <p:cNvSpPr/>
          <p:nvPr/>
        </p:nvSpPr>
        <p:spPr>
          <a:xfrm>
            <a:off x="640080" y="5029200"/>
            <a:ext cx="10881360" cy="685800"/>
          </a:xfrm>
          <a:prstGeom prst="rect">
            <a:avLst/>
          </a:prstGeom>
          <a:noFill/>
          <a:ln/>
        </p:spPr>
        <p:txBody>
          <a:bodyPr wrap="square" lIns="254" tIns="254" rIns="254" bIns="254" rtlCol="0" anchor="ctr"/>
          <a:lstStyle/>
          <a:p>
            <a:pPr indent="0" marL="0">
              <a:buNone/>
            </a:pPr>
            <a:r>
              <a:rPr lang="en-US" sz="1300" b="1" dirty="0">
                <a:solidFill>
                  <a:srgbClr val="D97706"/>
                </a:solidFill>
                <a:latin typeface="Fira Sans" pitchFamily="34" charset="0"/>
                <a:ea typeface="Fira Sans" pitchFamily="34" charset="-122"/>
                <a:cs typeface="Fira Sans" pitchFamily="34" charset="-120"/>
              </a:rPr>
              <a:t>Parallel tool pitfall: </a:t>
            </a:r>
            <a:r>
              <a:rPr lang="en-US" sz="1300" dirty="0">
                <a:solidFill>
                  <a:srgbClr val="1E293B"/>
                </a:solidFill>
                <a:latin typeface="Fira Sans" pitchFamily="34" charset="0"/>
                <a:ea typeface="Fira Sans" pitchFamily="34" charset="-122"/>
                <a:cs typeface="Fira Sans" pitchFamily="34" charset="-120"/>
              </a:rPr>
              <a:t>if a model emits both calls at once, it must guess comp_avg before seeing the lookup. When tool B depends on tool A, enforce the order — a SequentialAgent (or Workflow chain).</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pic>
        <p:nvPicPr>
          <p:cNvPr id="3" name="Image 1" descr="C:\Users\jeesingh\.copilot\session-state\b8ab4bc6-faf5-4ebd-bea2-f997a4b9a7ea\files\deck\img\x365.png">    </p:cNvPr>
          <p:cNvPicPr>
            <a:picLocks noChangeAspect="1"/>
          </p:cNvPicPr>
          <p:nvPr/>
        </p:nvPicPr>
        <p:blipFill>
          <a:blip r:embed="rId2"/>
          <a:stretch>
            <a:fillRect/>
          </a:stretch>
        </p:blipFill>
        <p:spPr>
          <a:xfrm>
            <a:off x="7302500" y="0"/>
            <a:ext cx="7285990" cy="6858000"/>
          </a:xfrm>
          <a:prstGeom prst="rect">
            <a:avLst/>
          </a:prstGeom>
        </p:spPr>
      </p:pic>
      <p:sp>
        <p:nvSpPr>
          <p:cNvPr id="4" name="Text 0"/>
          <p:cNvSpPr/>
          <p:nvPr/>
        </p:nvSpPr>
        <p:spPr>
          <a:xfrm>
            <a:off x="411480" y="274320"/>
            <a:ext cx="6766560" cy="822960"/>
          </a:xfrm>
          <a:prstGeom prst="rect">
            <a:avLst/>
          </a:prstGeom>
          <a:noFill/>
          <a:ln/>
        </p:spPr>
        <p:txBody>
          <a:bodyPr wrap="square" rtlCol="0" anchor="ctr"/>
          <a:lstStyle/>
          <a:p>
            <a:pPr indent="0" marL="0">
              <a:buNone/>
            </a:pPr>
            <a:r>
              <a:rPr lang="en-US" sz="2000" b="1" dirty="0">
                <a:solidFill>
                  <a:srgbClr val="FFAB40"/>
                </a:solidFill>
                <a:latin typeface="Fira Sans" pitchFamily="34" charset="0"/>
                <a:ea typeface="Fira Sans" pitchFamily="34" charset="-122"/>
                <a:cs typeface="Fira Sans" pitchFamily="34" charset="-120"/>
              </a:rPr>
              <a:t>No Question Is Too Small Every Question Deserves an Answer!!</a:t>
            </a:r>
            <a:endParaRPr lang="en-US" sz="2000" dirty="0"/>
          </a:p>
        </p:txBody>
      </p:sp>
      <p:sp>
        <p:nvSpPr>
          <p:cNvPr id="5" name="Text 1"/>
          <p:cNvSpPr/>
          <p:nvPr/>
        </p:nvSpPr>
        <p:spPr>
          <a:xfrm>
            <a:off x="411480" y="1234440"/>
            <a:ext cx="6583680" cy="4023360"/>
          </a:xfrm>
          <a:prstGeom prst="rect">
            <a:avLst/>
          </a:prstGeom>
          <a:noFill/>
          <a:ln/>
        </p:spPr>
        <p:txBody>
          <a:bodyPr wrap="square" rtlCol="0" anchor="ctr"/>
          <a:lstStyle/>
          <a:p>
            <a:pPr indent="0" marL="0">
              <a:spcAft>
                <a:spcPts val="400"/>
              </a:spcAft>
              <a:buNone/>
            </a:pPr>
            <a:r>
              <a:rPr lang="en-US" sz="1600" b="1" dirty="0">
                <a:solidFill>
                  <a:srgbClr val="FFFFFF"/>
                </a:solidFill>
                <a:latin typeface="Fira Sans" pitchFamily="34" charset="0"/>
                <a:ea typeface="Fira Sans" pitchFamily="34" charset="-122"/>
                <a:cs typeface="Fira Sans" pitchFamily="34" charset="-120"/>
              </a:rPr>
              <a:t>Ask about anything:</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Concepts from today's modules</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How this applies to your work</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Implementation details</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Clarifications on what we covered</a:t>
            </a:r>
            <a:endParaRPr lang="en-US" sz="1600" dirty="0"/>
          </a:p>
          <a:p>
            <a:pPr indent="0" marL="0">
              <a:spcAft>
                <a:spcPts val="400"/>
              </a:spcAft>
              <a:buNone/>
            </a:pPr>
            <a:r>
              <a:rPr lang="en-US" sz="1600" dirty="0">
                <a:solidFill>
                  <a:srgbClr val="FFFFFF"/>
                </a:solidFill>
                <a:latin typeface="Fira Sans" pitchFamily="34" charset="0"/>
                <a:ea typeface="Fira Sans" pitchFamily="34" charset="-122"/>
                <a:cs typeface="Fira Sans" pitchFamily="34" charset="-120"/>
              </a:rPr>
              <a:t> </a:t>
            </a:r>
            <a:endParaRPr lang="en-US" sz="1600" dirty="0"/>
          </a:p>
          <a:p>
            <a:pPr indent="0" marL="0">
              <a:spcAft>
                <a:spcPts val="400"/>
              </a:spcAft>
              <a:buNone/>
            </a:pPr>
            <a:r>
              <a:rPr lang="en-US" sz="1600" b="1" dirty="0">
                <a:solidFill>
                  <a:srgbClr val="FFFFFF"/>
                </a:solidFill>
                <a:latin typeface="Fira Sans" pitchFamily="34" charset="0"/>
                <a:ea typeface="Fira Sans" pitchFamily="34" charset="-122"/>
                <a:cs typeface="Fira Sans" pitchFamily="34" charset="-120"/>
              </a:rPr>
              <a:t>Quick Request</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Please do not mind if a question gets skipped accidentally</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Repost politely in chat if needed</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We will try our best to cover as many questions as possible</a:t>
            </a:r>
            <a:endParaRPr lang="en-US" sz="1600" dirty="0"/>
          </a:p>
        </p:txBody>
      </p:sp>
      <p:sp>
        <p:nvSpPr>
          <p:cNvPr id="6" name="Text 2"/>
          <p:cNvSpPr/>
          <p:nvPr/>
        </p:nvSpPr>
        <p:spPr>
          <a:xfrm>
            <a:off x="411480" y="5577840"/>
            <a:ext cx="6583680" cy="548640"/>
          </a:xfrm>
          <a:prstGeom prst="rect">
            <a:avLst/>
          </a:prstGeom>
          <a:noFill/>
          <a:ln/>
        </p:spPr>
        <p:txBody>
          <a:bodyPr wrap="square" rtlCol="0" anchor="ctr"/>
          <a:lstStyle/>
          <a:p>
            <a:pPr indent="0" marL="0">
              <a:buNone/>
            </a:pPr>
            <a:r>
              <a:rPr lang="en-US" sz="1500" b="1" dirty="0">
                <a:solidFill>
                  <a:srgbClr val="FFFFFF"/>
                </a:solidFill>
                <a:latin typeface="Fira Sans" pitchFamily="34" charset="0"/>
                <a:ea typeface="Fira Sans" pitchFamily="34" charset="-122"/>
                <a:cs typeface="Fira Sans" pitchFamily="34" charset="-120"/>
              </a:rPr>
              <a:t>Remember: </a:t>
            </a:r>
            <a:r>
              <a:rPr lang="en-US" sz="1500" dirty="0">
                <a:solidFill>
                  <a:srgbClr val="FFAB40"/>
                </a:solidFill>
                <a:latin typeface="Fira Sans" pitchFamily="34" charset="0"/>
                <a:ea typeface="Fira Sans" pitchFamily="34" charset="-122"/>
                <a:cs typeface="Fira Sans" pitchFamily="34" charset="-120"/>
              </a:rPr>
              <a:t>If you're wondering about it, others probably are too.</a:t>
            </a:r>
            <a:endParaRPr lang="en-US" sz="15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7315200" cy="658368"/>
          </a:xfrm>
          <a:prstGeom prst="rect">
            <a:avLst/>
          </a:prstGeom>
          <a:noFill/>
          <a:ln/>
        </p:spPr>
        <p:txBody>
          <a:bodyPr wrap="square" lIns="0" tIns="0" rIns="0" bIns="0" rtlCol="0" anchor="ctr"/>
          <a:lstStyle/>
          <a:p>
            <a:pPr indent="0" marL="0">
              <a:buNone/>
            </a:pPr>
            <a:r>
              <a:rPr lang="en-US" sz="3000" b="1" dirty="0">
                <a:solidFill>
                  <a:srgbClr val="3896D2"/>
                </a:solidFill>
                <a:latin typeface="Fira Sans" pitchFamily="34" charset="0"/>
                <a:ea typeface="Fira Sans" pitchFamily="34" charset="-122"/>
                <a:cs typeface="Fira Sans" pitchFamily="34" charset="-120"/>
              </a:rPr>
              <a:t>Time for a Break</a:t>
            </a:r>
            <a:endParaRPr lang="en-US" sz="3000" dirty="0"/>
          </a:p>
        </p:txBody>
      </p:sp>
      <p:pic>
        <p:nvPicPr>
          <p:cNvPr id="4" name="Image 1" descr="C:\Users\jeesingh\.copilot\session-state\b8ab4bc6-faf5-4ebd-bea2-f997a4b9a7ea\files\deck\img\x524.png">    </p:cNvPr>
          <p:cNvPicPr>
            <a:picLocks noChangeAspect="1"/>
          </p:cNvPicPr>
          <p:nvPr/>
        </p:nvPicPr>
        <p:blipFill>
          <a:blip r:embed="rId2"/>
          <a:stretch>
            <a:fillRect/>
          </a:stretch>
        </p:blipFill>
        <p:spPr>
          <a:xfrm>
            <a:off x="2188210" y="1115060"/>
            <a:ext cx="7628890" cy="4291330"/>
          </a:xfrm>
          <a:prstGeom prst="rect">
            <a:avLst/>
          </a:prstGeom>
        </p:spPr>
      </p:pic>
      <p:sp>
        <p:nvSpPr>
          <p:cNvPr id="5" name="Text 1"/>
          <p:cNvSpPr/>
          <p:nvPr/>
        </p:nvSpPr>
        <p:spPr>
          <a:xfrm>
            <a:off x="1280160" y="5532120"/>
            <a:ext cx="9601200" cy="777240"/>
          </a:xfrm>
          <a:prstGeom prst="rect">
            <a:avLst/>
          </a:prstGeom>
          <a:noFill/>
          <a:ln/>
        </p:spPr>
        <p:txBody>
          <a:bodyPr wrap="square" rtlCol="0" anchor="ctr"/>
          <a:lstStyle/>
          <a:p>
            <a:pPr algn="ctr" indent="0" marL="0">
              <a:buNone/>
            </a:pPr>
            <a:r>
              <a:rPr lang="en-US" sz="2000" b="1" dirty="0">
                <a:solidFill>
                  <a:srgbClr val="FFAB40"/>
                </a:solidFill>
                <a:latin typeface="Fira Sans" pitchFamily="34" charset="0"/>
                <a:ea typeface="Fira Sans" pitchFamily="34" charset="-122"/>
                <a:cs typeface="Fira Sans" pitchFamily="34" charset="-120"/>
              </a:rPr>
              <a:t>A 5-minute break is starting now. Please return when the timer ends to continue the presentation</a:t>
            </a:r>
            <a:endParaRPr lang="en-US" sz="2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7315200" cy="658368"/>
          </a:xfrm>
          <a:prstGeom prst="rect">
            <a:avLst/>
          </a:prstGeom>
          <a:noFill/>
          <a:ln/>
        </p:spPr>
        <p:txBody>
          <a:bodyPr wrap="square" lIns="0" tIns="0" rIns="0" bIns="0" rtlCol="0" anchor="ctr"/>
          <a:lstStyle/>
          <a:p>
            <a:pPr indent="0" marL="0">
              <a:buNone/>
            </a:pPr>
            <a:r>
              <a:rPr lang="en-US" sz="3000" b="1" dirty="0">
                <a:solidFill>
                  <a:srgbClr val="3896D2"/>
                </a:solidFill>
                <a:latin typeface="Fira Sans" pitchFamily="34" charset="0"/>
                <a:ea typeface="Fira Sans" pitchFamily="34" charset="-122"/>
                <a:cs typeface="Fira Sans" pitchFamily="34" charset="-120"/>
              </a:rPr>
              <a:t>Live Zoom Poll</a:t>
            </a:r>
            <a:endParaRPr lang="en-US" sz="3000" dirty="0"/>
          </a:p>
        </p:txBody>
      </p:sp>
      <p:pic>
        <p:nvPicPr>
          <p:cNvPr id="4" name="Image 1" descr="C:\Users\jeesingh\.copilot\session-state\b8ab4bc6-faf5-4ebd-bea2-f997a4b9a7ea\files\deck\img\x531.png">    </p:cNvPr>
          <p:cNvPicPr>
            <a:picLocks noChangeAspect="1"/>
          </p:cNvPicPr>
          <p:nvPr/>
        </p:nvPicPr>
        <p:blipFill>
          <a:blip r:embed="rId2"/>
          <a:stretch>
            <a:fillRect/>
          </a:stretch>
        </p:blipFill>
        <p:spPr>
          <a:xfrm>
            <a:off x="3841750" y="1160780"/>
            <a:ext cx="4321810" cy="4321810"/>
          </a:xfrm>
          <a:prstGeom prst="rect">
            <a:avLst/>
          </a:prstGeom>
        </p:spPr>
      </p:pic>
      <p:sp>
        <p:nvSpPr>
          <p:cNvPr id="5" name="Text 1"/>
          <p:cNvSpPr/>
          <p:nvPr/>
        </p:nvSpPr>
        <p:spPr>
          <a:xfrm>
            <a:off x="2194560" y="5623560"/>
            <a:ext cx="7772400" cy="731520"/>
          </a:xfrm>
          <a:prstGeom prst="rect">
            <a:avLst/>
          </a:prstGeom>
          <a:noFill/>
          <a:ln/>
        </p:spPr>
        <p:txBody>
          <a:bodyPr wrap="square" rtlCol="0" anchor="ctr"/>
          <a:lstStyle/>
          <a:p>
            <a:pPr algn="ctr" indent="0" marL="0">
              <a:buNone/>
            </a:pPr>
            <a:r>
              <a:rPr lang="en-US" sz="2000" b="1" dirty="0">
                <a:solidFill>
                  <a:srgbClr val="FFAB40"/>
                </a:solidFill>
                <a:latin typeface="Fira Sans" pitchFamily="34" charset="0"/>
                <a:ea typeface="Fira Sans" pitchFamily="34" charset="-122"/>
                <a:cs typeface="Fira Sans" pitchFamily="34" charset="-120"/>
              </a:rPr>
              <a:t>We are launching a poll on Zoom. Please take 2 minutes to fill out the form.</a:t>
            </a:r>
            <a:endParaRPr lang="en-US" sz="2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What is A2A?</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Agent-to-Agent Protocol</a:t>
            </a:r>
            <a:endParaRPr lang="en-US" sz="1400" dirty="0"/>
          </a:p>
        </p:txBody>
      </p:sp>
      <p:sp>
        <p:nvSpPr>
          <p:cNvPr id="5" name="Text 2"/>
          <p:cNvSpPr/>
          <p:nvPr/>
        </p:nvSpPr>
        <p:spPr>
          <a:xfrm>
            <a:off x="502920" y="1234440"/>
            <a:ext cx="5120640" cy="2194560"/>
          </a:xfrm>
          <a:prstGeom prst="rect">
            <a:avLst/>
          </a:prstGeom>
          <a:noFill/>
          <a:ln/>
        </p:spPr>
        <p:txBody>
          <a:bodyPr wrap="square" rtlCol="0" anchor="ctr"/>
          <a:lstStyle/>
          <a:p>
            <a:pPr indent="0" marL="0">
              <a:buNone/>
            </a:pPr>
            <a:r>
              <a:rPr lang="en-US" sz="1500" b="1" dirty="0">
                <a:solidFill>
                  <a:srgbClr val="FFAB40"/>
                </a:solidFill>
                <a:latin typeface="Fira Sans" pitchFamily="34" charset="0"/>
                <a:ea typeface="Fira Sans" pitchFamily="34" charset="-122"/>
                <a:cs typeface="Fira Sans" pitchFamily="34" charset="-120"/>
              </a:rPr>
              <a:t>The problem: </a:t>
            </a:r>
            <a:r>
              <a:rPr lang="en-US" sz="1500" dirty="0">
                <a:solidFill>
                  <a:srgbClr val="FFFFFF"/>
                </a:solidFill>
                <a:latin typeface="Fira Sans" pitchFamily="34" charset="0"/>
                <a:ea typeface="Fira Sans" pitchFamily="34" charset="-122"/>
                <a:cs typeface="Fira Sans" pitchFamily="34" charset="-120"/>
              </a:rPr>
              <a:t>so far all our agents run in the SAME process — buyer and seller are Python objects in one adk web instance. What if they're on different machines, teams, languages?</a:t>
            </a:r>
            <a:endParaRPr lang="en-US" sz="1500" dirty="0"/>
          </a:p>
          <a:p>
            <a:pPr indent="0" marL="0">
              <a:buNone/>
            </a:pPr>
            <a:r>
              <a:rPr lang="en-US" sz="600" dirty="0">
                <a:solidFill>
                  <a:srgbClr val="FFFFFF"/>
                </a:solidFill>
                <a:latin typeface="Fira Sans" pitchFamily="34" charset="0"/>
                <a:ea typeface="Fira Sans" pitchFamily="34" charset="-122"/>
                <a:cs typeface="Fira Sans" pitchFamily="34" charset="-120"/>
              </a:rPr>
              <a:t> </a:t>
            </a:r>
            <a:endParaRPr lang="en-US" sz="1500" dirty="0"/>
          </a:p>
          <a:p>
            <a:pPr indent="0" marL="0">
              <a:buNone/>
            </a:pPr>
            <a:r>
              <a:rPr lang="en-US" sz="1500" b="1" dirty="0">
                <a:solidFill>
                  <a:srgbClr val="FFAB40"/>
                </a:solidFill>
                <a:latin typeface="Fira Sans" pitchFamily="34" charset="0"/>
                <a:ea typeface="Fira Sans" pitchFamily="34" charset="-122"/>
                <a:cs typeface="Fira Sans" pitchFamily="34" charset="-120"/>
              </a:rPr>
              <a:t>A2A solves this: </a:t>
            </a:r>
            <a:r>
              <a:rPr lang="en-US" sz="1500" dirty="0">
                <a:solidFill>
                  <a:srgbClr val="FFFFFF"/>
                </a:solidFill>
                <a:latin typeface="Fira Sans" pitchFamily="34" charset="0"/>
                <a:ea typeface="Fira Sans" pitchFamily="34" charset="-122"/>
                <a:cs typeface="Fira Sans" pitchFamily="34" charset="-120"/>
              </a:rPr>
              <a:t>an open protocol for agents to discover each other and communicate over HTTP.</a:t>
            </a:r>
            <a:endParaRPr lang="en-US" sz="1500" dirty="0"/>
          </a:p>
        </p:txBody>
      </p:sp>
      <p:sp>
        <p:nvSpPr>
          <p:cNvPr id="6" name="Text 3"/>
          <p:cNvSpPr/>
          <p:nvPr/>
        </p:nvSpPr>
        <p:spPr>
          <a:xfrm>
            <a:off x="502920" y="35661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THREE OPERATIONS (SAME PATTERN AS MCP)</a:t>
            </a:r>
            <a:endParaRPr lang="en-US" sz="1400" dirty="0"/>
          </a:p>
        </p:txBody>
      </p:sp>
      <p:sp>
        <p:nvSpPr>
          <p:cNvPr id="7" name="Text 4"/>
          <p:cNvSpPr/>
          <p:nvPr/>
        </p:nvSpPr>
        <p:spPr>
          <a:xfrm>
            <a:off x="502920" y="3931920"/>
            <a:ext cx="5120640" cy="210312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Discovery: </a:t>
            </a:r>
            <a:r>
              <a:rPr lang="en-US" sz="1400" dirty="0">
                <a:solidFill>
                  <a:srgbClr val="FFFFFF"/>
                </a:solidFill>
                <a:latin typeface="Fira Sans" pitchFamily="34" charset="0"/>
                <a:ea typeface="Fira Sans" pitchFamily="34" charset="-122"/>
                <a:cs typeface="Fira Sans" pitchFamily="34" charset="-120"/>
              </a:rPr>
              <a:t>GET /.well-known/agent-card.json — "Who are you and what can you do?"</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Schema: </a:t>
            </a:r>
            <a:r>
              <a:rPr lang="en-US" sz="1400" dirty="0">
                <a:solidFill>
                  <a:srgbClr val="FFFFFF"/>
                </a:solidFill>
                <a:latin typeface="Fira Sans" pitchFamily="34" charset="0"/>
                <a:ea typeface="Fira Sans" pitchFamily="34" charset="-122"/>
                <a:cs typeface="Fira Sans" pitchFamily="34" charset="-120"/>
              </a:rPr>
              <a:t>the Agent Card — name, description, skills, capabilities</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Invocation: </a:t>
            </a:r>
            <a:r>
              <a:rPr lang="en-US" sz="1400" dirty="0">
                <a:solidFill>
                  <a:srgbClr val="FFFFFF"/>
                </a:solidFill>
                <a:latin typeface="Fira Sans" pitchFamily="34" charset="0"/>
                <a:ea typeface="Fira Sans" pitchFamily="34" charset="-122"/>
                <a:cs typeface="Fira Sans" pitchFamily="34" charset="-120"/>
              </a:rPr>
              <a:t>POST to the card's url (JSON-RPC message/send) — "Handle this task"</a:t>
            </a:r>
            <a:endParaRPr lang="en-US" sz="1400" dirty="0"/>
          </a:p>
        </p:txBody>
      </p:sp>
      <p:pic>
        <p:nvPicPr>
          <p:cNvPr id="8" name="Image 1" descr="C:\Users\jeesingh\.copilot\session-state\b8ab4bc6-faf5-4ebd-bea2-f997a4b9a7ea\files\deck\img\x538.png">    </p:cNvPr>
          <p:cNvPicPr>
            <a:picLocks noChangeAspect="1"/>
          </p:cNvPicPr>
          <p:nvPr/>
        </p:nvPicPr>
        <p:blipFill>
          <a:blip r:embed="rId2"/>
          <a:stretch>
            <a:fillRect/>
          </a:stretch>
        </p:blipFill>
        <p:spPr>
          <a:xfrm>
            <a:off x="5902960" y="1212850"/>
            <a:ext cx="6142990" cy="4734560"/>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Why A2A Matters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From In-Process to Network Services</a:t>
            </a:r>
            <a:endParaRPr lang="en-US" sz="1400" dirty="0"/>
          </a:p>
        </p:txBody>
      </p:sp>
      <p:sp>
        <p:nvSpPr>
          <p:cNvPr id="5" name="Text 2"/>
          <p:cNvSpPr/>
          <p:nvPr/>
        </p:nvSpPr>
        <p:spPr>
          <a:xfrm>
            <a:off x="502920" y="128016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WITHOUT A2A (d01–d09)</a:t>
            </a:r>
            <a:endParaRPr lang="en-US" sz="1400" dirty="0"/>
          </a:p>
        </p:txBody>
      </p:sp>
      <p:sp>
        <p:nvSpPr>
          <p:cNvPr id="6" name="Text 3"/>
          <p:cNvSpPr/>
          <p:nvPr/>
        </p:nvSpPr>
        <p:spPr>
          <a:xfrm>
            <a:off x="502920" y="1600200"/>
            <a:ext cx="5120640" cy="1463040"/>
          </a:xfrm>
          <a:prstGeom prst="rect">
            <a:avLst/>
          </a:prstGeom>
          <a:noFill/>
          <a:ln/>
        </p:spPr>
        <p:txBody>
          <a:bodyPr wrap="square" lIns="635" tIns="635" rIns="635" bIns="635" rtlCol="0" anchor="t"/>
          <a:lstStyle/>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Buyer and seller are Python objects in the same process</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They communicate via shared session state (output_key, {placeholder})</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Tightly coupled — you must import both to run either</a:t>
            </a:r>
            <a:endParaRPr lang="en-US" sz="1400" dirty="0"/>
          </a:p>
        </p:txBody>
      </p:sp>
      <p:sp>
        <p:nvSpPr>
          <p:cNvPr id="7" name="Text 4"/>
          <p:cNvSpPr/>
          <p:nvPr/>
        </p:nvSpPr>
        <p:spPr>
          <a:xfrm>
            <a:off x="502920" y="324612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WITH A2A</a:t>
            </a:r>
            <a:endParaRPr lang="en-US" sz="1400" dirty="0"/>
          </a:p>
        </p:txBody>
      </p:sp>
      <p:sp>
        <p:nvSpPr>
          <p:cNvPr id="8" name="Text 5"/>
          <p:cNvSpPr/>
          <p:nvPr/>
        </p:nvSpPr>
        <p:spPr>
          <a:xfrm>
            <a:off x="502920" y="3566160"/>
            <a:ext cx="5120640" cy="1920240"/>
          </a:xfrm>
          <a:prstGeom prst="rect">
            <a:avLst/>
          </a:prstGeom>
          <a:noFill/>
          <a:ln/>
        </p:spPr>
        <p:txBody>
          <a:bodyPr wrap="square" lIns="635" tIns="635" rIns="635" bIns="635" rtlCol="0" anchor="t"/>
          <a:lstStyle/>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Buyer runs on machine A, seller on machine B</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They communicate via HTTP JSON-RPC</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Neither knows how the other is built — only its Agent Card</a:t>
            </a:r>
            <a:endParaRPr lang="en-US" sz="1400" dirty="0"/>
          </a:p>
          <a:p>
            <a:pPr lvl="1" marL="685800" indent="-342900">
              <a:spcAft>
                <a:spcPts val="400"/>
              </a:spcAft>
              <a:buSzPct val="100000"/>
              <a:buChar char="•"/>
            </a:pPr>
            <a:r>
              <a:rPr lang="en-US" sz="1400" dirty="0">
                <a:solidFill>
                  <a:srgbClr val="FFFFFF"/>
                </a:solidFill>
                <a:latin typeface="Fira Sans" pitchFamily="34" charset="0"/>
                <a:ea typeface="Fira Sans" pitchFamily="34" charset="-122"/>
                <a:cs typeface="Fira Sans" pitchFamily="34" charset="-120"/>
              </a:rPr>
              <a:t>Could be different languages, teams, companies</a:t>
            </a:r>
            <a:endParaRPr lang="en-US" sz="1400" dirty="0"/>
          </a:p>
        </p:txBody>
      </p:sp>
      <p:pic>
        <p:nvPicPr>
          <p:cNvPr id="9" name="Image 1" descr="C:\Users\jeesingh\.copilot\session-state\b8ab4bc6-faf5-4ebd-bea2-f997a4b9a7ea\files\deck\img\x545.png">    </p:cNvPr>
          <p:cNvPicPr>
            <a:picLocks noChangeAspect="1"/>
          </p:cNvPicPr>
          <p:nvPr/>
        </p:nvPicPr>
        <p:blipFill>
          <a:blip r:embed="rId2"/>
          <a:stretch>
            <a:fillRect/>
          </a:stretch>
        </p:blipFill>
        <p:spPr>
          <a:xfrm>
            <a:off x="5748020" y="977900"/>
            <a:ext cx="6441440" cy="4902200"/>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Agent Card</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Agent Card = the agent's business card</a:t>
            </a:r>
            <a:endParaRPr lang="en-US" sz="1400" dirty="0"/>
          </a:p>
        </p:txBody>
      </p:sp>
      <p:sp>
        <p:nvSpPr>
          <p:cNvPr id="5" name="Text 2"/>
          <p:cNvSpPr/>
          <p:nvPr/>
        </p:nvSpPr>
        <p:spPr>
          <a:xfrm>
            <a:off x="502920" y="1188720"/>
            <a:ext cx="11155680" cy="594360"/>
          </a:xfrm>
          <a:prstGeom prst="rect">
            <a:avLst/>
          </a:prstGeom>
          <a:noFill/>
          <a:ln/>
        </p:spPr>
        <p:txBody>
          <a:bodyPr wrap="square" lIns="635" tIns="635" rIns="635" bIns="635" rtlCol="0" anchor="t"/>
          <a:lstStyle/>
          <a:p>
            <a:pPr algn="l" indent="0" marL="0">
              <a:buNone/>
            </a:pPr>
            <a:r>
              <a:rPr lang="en-US" sz="1400" dirty="0">
                <a:solidFill>
                  <a:srgbClr val="FFFFFF"/>
                </a:solidFill>
                <a:latin typeface="Fira Sans" pitchFamily="34" charset="0"/>
                <a:ea typeface="Fira Sans" pitchFamily="34" charset="-122"/>
                <a:cs typeface="Fira Sans" pitchFamily="34" charset="-120"/>
              </a:rPr>
              <a:t>Every A2A agent publishes a JSON document at /.well-known/agent-card.json. With adk web --a2a, it's the agent.json next to agent.py:</a:t>
            </a:r>
            <a:endParaRPr lang="en-US" sz="1400" dirty="0"/>
          </a:p>
        </p:txBody>
      </p:sp>
      <p:sp>
        <p:nvSpPr>
          <p:cNvPr id="6" name="Shape 3"/>
          <p:cNvSpPr/>
          <p:nvPr/>
        </p:nvSpPr>
        <p:spPr>
          <a:xfrm>
            <a:off x="502920" y="1874520"/>
            <a:ext cx="6309360" cy="3794760"/>
          </a:xfrm>
          <a:prstGeom prst="rect">
            <a:avLst/>
          </a:prstGeom>
          <a:solidFill>
            <a:srgbClr val="333333"/>
          </a:solidFill>
          <a:ln w="12700">
            <a:solidFill>
              <a:srgbClr val="333333"/>
            </a:solidFill>
            <a:prstDash val="solid"/>
          </a:ln>
        </p:spPr>
      </p:sp>
      <p:sp>
        <p:nvSpPr>
          <p:cNvPr id="7" name="Text 4"/>
          <p:cNvSpPr/>
          <p:nvPr/>
        </p:nvSpPr>
        <p:spPr>
          <a:xfrm>
            <a:off x="576072" y="1929384"/>
            <a:ext cx="6163056" cy="3685032"/>
          </a:xfrm>
          <a:prstGeom prst="rect">
            <a:avLst/>
          </a:prstGeom>
          <a:noFill/>
          <a:ln/>
        </p:spPr>
        <p:txBody>
          <a:bodyPr wrap="square" lIns="635" tIns="635" rIns="635" bIns="635" rtlCol="0" anchor="t"/>
          <a:lstStyle/>
          <a:p>
            <a:pPr indent="0" marL="0">
              <a:buNone/>
            </a:pP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"name"</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"seller_agent"</a:t>
            </a: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"description"</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"Real estate seller agent for 742 Evergreen Terrace..."</a:t>
            </a: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"url"</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"http://localhost:8000/a2a/seller_agent"</a:t>
            </a: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"preferredTransport"</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"JSONRPC"</a:t>
            </a: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"protocolVersion"</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"0.3.0"</a:t>
            </a: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"capabilities"</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"streaming"</a:t>
            </a:r>
            <a:r>
              <a:rPr lang="en-US" sz="1150" dirty="0">
                <a:solidFill>
                  <a:srgbClr val="FFFFFF"/>
                </a:solidFill>
                <a:latin typeface="Consolas" pitchFamily="34" charset="0"/>
                <a:ea typeface="Consolas" pitchFamily="34" charset="-122"/>
                <a:cs typeface="Consolas" pitchFamily="34" charset="-120"/>
              </a:rPr>
              <a:t>: true, </a:t>
            </a:r>
            <a:r>
              <a:rPr lang="en-US" sz="1150" dirty="0">
                <a:solidFill>
                  <a:srgbClr val="A2FCA2"/>
                </a:solidFill>
                <a:latin typeface="Consolas" pitchFamily="34" charset="0"/>
                <a:ea typeface="Consolas" pitchFamily="34" charset="-122"/>
                <a:cs typeface="Consolas" pitchFamily="34" charset="-120"/>
              </a:rPr>
              <a:t>"pushNotifications"</a:t>
            </a:r>
            <a:r>
              <a:rPr lang="en-US" sz="1150" dirty="0">
                <a:solidFill>
                  <a:srgbClr val="FFFFFF"/>
                </a:solidFill>
                <a:latin typeface="Consolas" pitchFamily="34" charset="0"/>
                <a:ea typeface="Consolas" pitchFamily="34" charset="-122"/>
                <a:cs typeface="Consolas" pitchFamily="34" charset="-120"/>
              </a:rPr>
              <a:t>: false},</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"skills"</a:t>
            </a:r>
            <a:r>
              <a:rPr lang="en-US" sz="1150" dirty="0">
                <a:solidFill>
                  <a:srgbClr val="FFFFFF"/>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"id"</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"negotiation_response"</a:t>
            </a: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"name"</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"Real Estate Seller Negotiation"</a:t>
            </a: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"tags"</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"real_estate"</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"seller"</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"negotiation"</a:t>
            </a:r>
            <a:r>
              <a:rPr lang="en-US" sz="1150" dirty="0">
                <a:solidFill>
                  <a:srgbClr val="FFFFFF"/>
                </a:solidFill>
                <a:latin typeface="Consolas" pitchFamily="34" charset="0"/>
                <a:ea typeface="Consolas" pitchFamily="34" charset="-122"/>
                <a:cs typeface="Consolas" pitchFamily="34" charset="-120"/>
              </a:rPr>
              <a:t>, </a:t>
            </a:r>
            <a:r>
              <a:rPr lang="en-US" sz="1150" dirty="0">
                <a:solidFill>
                  <a:srgbClr val="A2FCA2"/>
                </a:solidFill>
                <a:latin typeface="Consolas" pitchFamily="34" charset="0"/>
                <a:ea typeface="Consolas" pitchFamily="34" charset="-122"/>
                <a:cs typeface="Consolas" pitchFamily="34" charset="-120"/>
              </a:rPr>
              <a:t>"mcp"</a:t>
            </a:r>
            <a:r>
              <a:rPr lang="en-US" sz="1150" dirty="0">
                <a:solidFill>
                  <a:srgbClr val="FFFFFF"/>
                </a:solidFill>
                <a:latin typeface="Consolas" pitchFamily="34" charset="0"/>
                <a:ea typeface="Consolas" pitchFamily="34" charset="-122"/>
                <a:cs typeface="Consolas" pitchFamily="34" charset="-120"/>
              </a:rPr>
              <a:t>]</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  }]</a:t>
            </a:r>
            <a:endParaRPr lang="en-US" sz="1150" dirty="0"/>
          </a:p>
          <a:p>
            <a:pPr indent="0" marL="0">
              <a:buNone/>
            </a:pPr>
            <a:r>
              <a:rPr lang="en-US" sz="1150" dirty="0">
                <a:solidFill>
                  <a:srgbClr val="FFFFFF"/>
                </a:solidFill>
                <a:latin typeface="Consolas" pitchFamily="34" charset="0"/>
                <a:ea typeface="Consolas" pitchFamily="34" charset="-122"/>
                <a:cs typeface="Consolas" pitchFamily="34" charset="-120"/>
              </a:rPr>
              <a:t>}</a:t>
            </a:r>
            <a:endParaRPr lang="en-US" sz="1150" dirty="0"/>
          </a:p>
        </p:txBody>
      </p:sp>
      <p:sp>
        <p:nvSpPr>
          <p:cNvPr id="8" name="Text 5"/>
          <p:cNvSpPr/>
          <p:nvPr/>
        </p:nvSpPr>
        <p:spPr>
          <a:xfrm>
            <a:off x="7086600" y="187452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WHAT A CLIENT LEARNS FROM THE CARD</a:t>
            </a:r>
            <a:endParaRPr lang="en-US" sz="1400" dirty="0"/>
          </a:p>
        </p:txBody>
      </p:sp>
      <p:sp>
        <p:nvSpPr>
          <p:cNvPr id="9" name="Text 6"/>
          <p:cNvSpPr/>
          <p:nvPr/>
        </p:nvSpPr>
        <p:spPr>
          <a:xfrm>
            <a:off x="7086600" y="2240280"/>
            <a:ext cx="4572000" cy="2743200"/>
          </a:xfrm>
          <a:prstGeom prst="rect">
            <a:avLst/>
          </a:prstGeom>
          <a:noFill/>
          <a:ln/>
        </p:spPr>
        <p:txBody>
          <a:bodyPr wrap="square" lIns="635" tIns="635" rIns="635" bIns="635" rtlCol="0" anchor="t"/>
          <a:lstStyle/>
          <a:p>
            <a:pPr lvl="1" marL="685800" indent="-342900">
              <a:spcAft>
                <a:spcPts val="800"/>
              </a:spcAft>
              <a:buSzPct val="100000"/>
              <a:buChar char="•"/>
            </a:pPr>
            <a:r>
              <a:rPr lang="en-US" sz="1400" dirty="0">
                <a:solidFill>
                  <a:srgbClr val="FFFFFF"/>
                </a:solidFill>
                <a:latin typeface="Fira Sans" pitchFamily="34" charset="0"/>
                <a:ea typeface="Fira Sans" pitchFamily="34" charset="-122"/>
                <a:cs typeface="Fira Sans" pitchFamily="34" charset="-120"/>
              </a:rPr>
              <a:t>What this agent does (description + skills)</a:t>
            </a:r>
            <a:endParaRPr lang="en-US" sz="1400" dirty="0"/>
          </a:p>
          <a:p>
            <a:pPr lvl="1" marL="685800" indent="-342900">
              <a:spcAft>
                <a:spcPts val="800"/>
              </a:spcAft>
              <a:buSzPct val="100000"/>
              <a:buChar char="•"/>
            </a:pPr>
            <a:r>
              <a:rPr lang="en-US" sz="1400" dirty="0">
                <a:solidFill>
                  <a:srgbClr val="FFFFFF"/>
                </a:solidFill>
                <a:latin typeface="Fira Sans" pitchFamily="34" charset="0"/>
                <a:ea typeface="Fira Sans" pitchFamily="34" charset="-122"/>
                <a:cs typeface="Fira Sans" pitchFamily="34" charset="-120"/>
              </a:rPr>
              <a:t>Where to send messages (url) and how (preferredTransport)</a:t>
            </a:r>
            <a:endParaRPr lang="en-US" sz="1400" dirty="0"/>
          </a:p>
          <a:p>
            <a:pPr lvl="1" marL="685800" indent="-342900">
              <a:spcAft>
                <a:spcPts val="800"/>
              </a:spcAft>
              <a:buSzPct val="100000"/>
              <a:buChar char="•"/>
            </a:pPr>
            <a:r>
              <a:rPr lang="en-US" sz="1400" dirty="0">
                <a:solidFill>
                  <a:srgbClr val="FFFFFF"/>
                </a:solidFill>
                <a:latin typeface="Fira Sans" pitchFamily="34" charset="0"/>
                <a:ea typeface="Fira Sans" pitchFamily="34" charset="-122"/>
                <a:cs typeface="Fira Sans" pitchFamily="34" charset="-120"/>
              </a:rPr>
              <a:t>Which optional features it supports (capabilities)</a:t>
            </a:r>
            <a:endParaRPr lang="en-US" sz="1400" dirty="0"/>
          </a:p>
          <a:p>
            <a:pPr lvl="1" marL="685800" indent="-342900">
              <a:spcAft>
                <a:spcPts val="800"/>
              </a:spcAft>
              <a:buSzPct val="100000"/>
              <a:buChar char="•"/>
            </a:pPr>
            <a:r>
              <a:rPr lang="en-US" sz="1400" dirty="0">
                <a:solidFill>
                  <a:srgbClr val="FFFFFF"/>
                </a:solidFill>
                <a:latin typeface="Fira Sans" pitchFamily="34" charset="0"/>
                <a:ea typeface="Fira Sans" pitchFamily="34" charset="-122"/>
                <a:cs typeface="Fira Sans" pitchFamily="34" charset="-120"/>
              </a:rPr>
              <a:t>No documentation needed — self-describing, like MCP tool schemas</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4"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Agent Card Capabilities: </a:t>
            </a:r>
            <a:r>
              <a:rPr lang="en-US" sz="3000" b="1" dirty="0">
                <a:solidFill>
                  <a:srgbClr val="FFFFFF"/>
                </a:solidFill>
                <a:latin typeface="Fira Sans" pitchFamily="34" charset="0"/>
                <a:ea typeface="Fira Sans" pitchFamily="34" charset="-122"/>
                <a:cs typeface="Fira Sans" pitchFamily="34" charset="-120"/>
              </a:rPr>
              <a:t>All Four, and What They Turn On</a:t>
            </a:r>
            <a:endParaRPr lang="en-US" sz="30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11155680" cy="914400"/>
        </p:xfrm>
        <a:graphic>
          <a:graphicData uri="http://schemas.openxmlformats.org/drawingml/2006/table">
            <a:tbl>
              <a:tblPr/>
              <a:tblGrid>
                <a:gridCol w="2194560"/>
                <a:gridCol w="3108960"/>
                <a:gridCol w="3200400"/>
                <a:gridCol w="265176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Capability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Meaning (spec v0.3.0)</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What it turns 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Our cards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b="1" dirty="0">
                          <a:solidFill>
                            <a:srgbClr val="1E293B"/>
                          </a:solidFill>
                          <a:latin typeface="Consolas" pitchFamily="34" charset="0"/>
                          <a:ea typeface="Consolas" pitchFamily="34" charset="-122"/>
                          <a:cs typeface="Consolas" pitchFamily="34" charset="-120"/>
                        </a:rPr>
                        <a:t>streaming</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Supports Server-Sent Events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message/stream, tasks/resubscribe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seller: true · buyer, negotiation: false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293B"/>
                          </a:solidFill>
                          <a:latin typeface="Consolas" pitchFamily="34" charset="0"/>
                          <a:ea typeface="Consolas" pitchFamily="34" charset="-122"/>
                          <a:cs typeface="Consolas" pitchFamily="34" charset="-120"/>
                        </a:rPr>
                        <a:t>pushNotifications</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Can POST task updates to a client webhook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tasks/pushNotificationConfig/set·get·list·delete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false everywhere (not demoed)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b="1" dirty="0">
                          <a:solidFill>
                            <a:srgbClr val="1E293B"/>
                          </a:solidFill>
                          <a:latin typeface="Consolas" pitchFamily="34" charset="0"/>
                          <a:ea typeface="Consolas" pitchFamily="34" charset="-122"/>
                          <a:cs typeface="Consolas" pitchFamily="34" charset="-120"/>
                        </a:rPr>
                        <a:t>stateTransitionHistory</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Provides a history of a task's state transitions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Informational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not set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293B"/>
                          </a:solidFill>
                          <a:latin typeface="Consolas" pitchFamily="34" charset="0"/>
                          <a:ea typeface="Consolas" pitchFamily="34" charset="-122"/>
                          <a:cs typeface="Consolas" pitchFamily="34" charset="-120"/>
                        </a:rPr>
                        <a:t>extensions</a:t>
                      </a:r>
                      <a:endParaRPr lang="en-US" sz="1200" dirty="0">
                        <a:latin typeface="Consolas" charset="0"/>
                        <a:ea typeface="Consolas" charset="0"/>
                        <a:cs typeface="Consola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Protocol extensions (uri, description, required, params)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Extension-specific</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not set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6" name="Text 1"/>
          <p:cNvSpPr/>
          <p:nvPr/>
        </p:nvSpPr>
        <p:spPr>
          <a:xfrm>
            <a:off x="502920" y="3611880"/>
            <a:ext cx="11155680" cy="2103120"/>
          </a:xfrm>
          <a:prstGeom prst="rect">
            <a:avLst/>
          </a:prstGeom>
          <a:noFill/>
          <a:ln/>
        </p:spPr>
        <p:txBody>
          <a:bodyPr wrap="square" lIns="635" tIns="635" rIns="635" bIns="635" rtlCol="0" anchor="t"/>
          <a:lstStyle/>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Not a capability: </a:t>
            </a:r>
            <a:r>
              <a:rPr lang="en-US" sz="1400" dirty="0">
                <a:solidFill>
                  <a:srgbClr val="FFFFFF"/>
                </a:solidFill>
                <a:latin typeface="Fira Sans" pitchFamily="34" charset="0"/>
                <a:ea typeface="Fira Sans" pitchFamily="34" charset="-122"/>
                <a:cs typeface="Fira Sans" pitchFamily="34" charset="-120"/>
              </a:rPr>
              <a:t>message/send, tasks/get and tasks/cancel always exist — so polling works with any agent</a:t>
            </a:r>
            <a:endParaRPr lang="en-US" sz="1400" dirty="0"/>
          </a:p>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Enforced by the a2a-sdk server: </a:t>
            </a:r>
            <a:r>
              <a:rPr lang="en-US" sz="1400" dirty="0">
                <a:solidFill>
                  <a:srgbClr val="FFFFFF"/>
                </a:solidFill>
                <a:latin typeface="Fira Sans" pitchFamily="34" charset="0"/>
                <a:ea typeface="Fira Sans" pitchFamily="34" charset="-122"/>
                <a:cs typeface="Fira Sans" pitchFamily="34" charset="-120"/>
              </a:rPr>
              <a:t>only message/stream (needs streaming) and pushNotificationConfig/set (needs pushNotifications). Both refusals come back as JSON-RPC -32603</a:t>
            </a:r>
            <a:endParaRPr lang="en-US" sz="1400" dirty="0"/>
          </a:p>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The SDK Client reads the card too: </a:t>
            </a:r>
            <a:r>
              <a:rPr lang="en-US" sz="1400" dirty="0">
                <a:solidFill>
                  <a:srgbClr val="FFFFFF"/>
                </a:solidFill>
                <a:latin typeface="Fira Sans" pitchFamily="34" charset="0"/>
                <a:ea typeface="Fira Sans" pitchFamily="34" charset="-122"/>
                <a:cs typeface="Fira Sans" pitchFamily="34" charset="-120"/>
              </a:rPr>
              <a:t>with ClientConfig(streaming=True) it streams only if card.capabilities.streaming is true, else falls back to message/send</a:t>
            </a:r>
            <a:endParaRPr lang="en-US" sz="1400" dirty="0"/>
          </a:p>
        </p:txBody>
      </p:sp>
      <p:sp>
        <p:nvSpPr>
          <p:cNvPr id="7" name="Text 2"/>
          <p:cNvSpPr/>
          <p:nvPr/>
        </p:nvSpPr>
        <p:spPr>
          <a:xfrm>
            <a:off x="502920" y="5760720"/>
            <a:ext cx="10058400" cy="457200"/>
          </a:xfrm>
          <a:prstGeom prst="rect">
            <a:avLst/>
          </a:prstGeom>
          <a:noFill/>
          <a:ln/>
        </p:spPr>
        <p:txBody>
          <a:bodyPr wrap="square" lIns="635" tIns="635" rIns="635" bIns="635" rtlCol="0" anchor="t"/>
          <a:lstStyle/>
          <a:p>
            <a:pPr algn="l" indent="0" marL="0">
              <a:buNone/>
            </a:pPr>
            <a:r>
              <a:rPr lang="en-US" sz="1200" i="1" dirty="0">
                <a:solidFill>
                  <a:srgbClr val="CBD5E1"/>
                </a:solidFill>
                <a:latin typeface="Fira Sans" pitchFamily="34" charset="0"/>
                <a:ea typeface="Fira Sans" pitchFamily="34" charset="-122"/>
                <a:cs typeface="Fira Sans" pitchFamily="34" charset="-120"/>
              </a:rPr>
              <a:t>Other card fields advertise features too: securitySchemes / security (how to authenticate), supportsAuthenticatedExtendedCard, additionalInterfaces, signatures.</a:t>
            </a:r>
            <a:endParaRPr lang="en-US" sz="12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How Clients Find Agent Cards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Three discovery strategies (A2A docs)</a:t>
            </a:r>
            <a:endParaRPr lang="en-US" sz="1400" dirty="0"/>
          </a:p>
        </p:txBody>
      </p:sp>
      <p:sp>
        <p:nvSpPr>
          <p:cNvPr id="5" name="Shape 2"/>
          <p:cNvSpPr/>
          <p:nvPr/>
        </p:nvSpPr>
        <p:spPr>
          <a:xfrm>
            <a:off x="502920" y="1325880"/>
            <a:ext cx="3584448" cy="2240280"/>
          </a:xfrm>
          <a:prstGeom prst="rect">
            <a:avLst/>
          </a:prstGeom>
          <a:solidFill>
            <a:srgbClr val="FFFFFF"/>
          </a:solidFill>
          <a:ln w="19050">
            <a:solidFill>
              <a:srgbClr val="2563EB"/>
            </a:solidFill>
            <a:prstDash val="solid"/>
          </a:ln>
        </p:spPr>
      </p:sp>
      <p:sp>
        <p:nvSpPr>
          <p:cNvPr id="6" name="Shape 3"/>
          <p:cNvSpPr/>
          <p:nvPr/>
        </p:nvSpPr>
        <p:spPr>
          <a:xfrm>
            <a:off x="502920" y="1325880"/>
            <a:ext cx="3584448" cy="457200"/>
          </a:xfrm>
          <a:prstGeom prst="rect">
            <a:avLst/>
          </a:prstGeom>
          <a:solidFill>
            <a:srgbClr val="2563EB"/>
          </a:solidFill>
          <a:ln w="12700">
            <a:solidFill>
              <a:srgbClr val="2563EB"/>
            </a:solidFill>
            <a:prstDash val="solid"/>
          </a:ln>
        </p:spPr>
      </p:sp>
      <p:sp>
        <p:nvSpPr>
          <p:cNvPr id="7" name="Text 4"/>
          <p:cNvSpPr/>
          <p:nvPr/>
        </p:nvSpPr>
        <p:spPr>
          <a:xfrm>
            <a:off x="502920" y="1325880"/>
            <a:ext cx="3584448" cy="457200"/>
          </a:xfrm>
          <a:prstGeom prst="rect">
            <a:avLst/>
          </a:prstGeom>
          <a:noFill/>
          <a:ln/>
        </p:spPr>
        <p:txBody>
          <a:bodyPr wrap="square" rtlCol="0" anchor="ctr"/>
          <a:lstStyle/>
          <a:p>
            <a:pPr algn="ctr" indent="0" marL="0">
              <a:buNone/>
            </a:pPr>
            <a:r>
              <a:rPr lang="en-US" sz="1600" b="1" dirty="0">
                <a:solidFill>
                  <a:srgbClr val="FFFFFF"/>
                </a:solidFill>
                <a:latin typeface="Fira Sans" pitchFamily="34" charset="0"/>
                <a:ea typeface="Fira Sans" pitchFamily="34" charset="-122"/>
                <a:cs typeface="Fira Sans" pitchFamily="34" charset="-120"/>
              </a:rPr>
              <a:t>Well-known URI</a:t>
            </a:r>
            <a:endParaRPr lang="en-US" sz="1600" dirty="0"/>
          </a:p>
        </p:txBody>
      </p:sp>
      <p:sp>
        <p:nvSpPr>
          <p:cNvPr id="8" name="Text 5"/>
          <p:cNvSpPr/>
          <p:nvPr/>
        </p:nvSpPr>
        <p:spPr>
          <a:xfrm>
            <a:off x="640080" y="1874520"/>
            <a:ext cx="3310128" cy="1600200"/>
          </a:xfrm>
          <a:prstGeom prst="rect">
            <a:avLst/>
          </a:prstGeom>
          <a:noFill/>
          <a:ln/>
        </p:spPr>
        <p:txBody>
          <a:bodyPr wrap="square" rtlCol="0" anchor="t"/>
          <a:lstStyle/>
          <a:p>
            <a:pPr indent="0" marL="0">
              <a:buNone/>
            </a:pPr>
            <a:r>
              <a:rPr lang="en-US" sz="1300" dirty="0">
                <a:solidFill>
                  <a:srgbClr val="1E293B"/>
                </a:solidFill>
                <a:latin typeface="Fira Sans" pitchFamily="34" charset="0"/>
                <a:ea typeface="Fira Sans" pitchFamily="34" charset="-122"/>
                <a:cs typeface="Fira Sans" pitchFamily="34" charset="-120"/>
              </a:rPr>
              <a:t>GET https://host/.well-known/agent-card.json — the agent's own domain advertises it</a:t>
            </a:r>
            <a:endParaRPr lang="en-US" sz="1300" dirty="0"/>
          </a:p>
        </p:txBody>
      </p:sp>
      <p:sp>
        <p:nvSpPr>
          <p:cNvPr id="9" name="Shape 6"/>
          <p:cNvSpPr/>
          <p:nvPr/>
        </p:nvSpPr>
        <p:spPr>
          <a:xfrm>
            <a:off x="4270248" y="1325880"/>
            <a:ext cx="3584448" cy="2240280"/>
          </a:xfrm>
          <a:prstGeom prst="rect">
            <a:avLst/>
          </a:prstGeom>
          <a:solidFill>
            <a:srgbClr val="FFFFFF"/>
          </a:solidFill>
          <a:ln w="19050">
            <a:solidFill>
              <a:srgbClr val="7C3AED"/>
            </a:solidFill>
            <a:prstDash val="solid"/>
          </a:ln>
        </p:spPr>
      </p:sp>
      <p:sp>
        <p:nvSpPr>
          <p:cNvPr id="10" name="Shape 7"/>
          <p:cNvSpPr/>
          <p:nvPr/>
        </p:nvSpPr>
        <p:spPr>
          <a:xfrm>
            <a:off x="4270248" y="1325880"/>
            <a:ext cx="3584448" cy="457200"/>
          </a:xfrm>
          <a:prstGeom prst="rect">
            <a:avLst/>
          </a:prstGeom>
          <a:solidFill>
            <a:srgbClr val="7C3AED"/>
          </a:solidFill>
          <a:ln w="12700">
            <a:solidFill>
              <a:srgbClr val="7C3AED"/>
            </a:solidFill>
            <a:prstDash val="solid"/>
          </a:ln>
        </p:spPr>
      </p:sp>
      <p:sp>
        <p:nvSpPr>
          <p:cNvPr id="11" name="Text 8"/>
          <p:cNvSpPr/>
          <p:nvPr/>
        </p:nvSpPr>
        <p:spPr>
          <a:xfrm>
            <a:off x="4270248" y="1325880"/>
            <a:ext cx="3584448" cy="457200"/>
          </a:xfrm>
          <a:prstGeom prst="rect">
            <a:avLst/>
          </a:prstGeom>
          <a:noFill/>
          <a:ln/>
        </p:spPr>
        <p:txBody>
          <a:bodyPr wrap="square" rtlCol="0" anchor="ctr"/>
          <a:lstStyle/>
          <a:p>
            <a:pPr algn="ctr" indent="0" marL="0">
              <a:buNone/>
            </a:pPr>
            <a:r>
              <a:rPr lang="en-US" sz="1600" b="1" dirty="0">
                <a:solidFill>
                  <a:srgbClr val="FFFFFF"/>
                </a:solidFill>
                <a:latin typeface="Fira Sans" pitchFamily="34" charset="0"/>
                <a:ea typeface="Fira Sans" pitchFamily="34" charset="-122"/>
                <a:cs typeface="Fira Sans" pitchFamily="34" charset="-120"/>
              </a:rPr>
              <a:t>Curated registry</a:t>
            </a:r>
            <a:endParaRPr lang="en-US" sz="1600" dirty="0"/>
          </a:p>
        </p:txBody>
      </p:sp>
      <p:sp>
        <p:nvSpPr>
          <p:cNvPr id="12" name="Text 9"/>
          <p:cNvSpPr/>
          <p:nvPr/>
        </p:nvSpPr>
        <p:spPr>
          <a:xfrm>
            <a:off x="4407408" y="1874520"/>
            <a:ext cx="3310128" cy="1600200"/>
          </a:xfrm>
          <a:prstGeom prst="rect">
            <a:avLst/>
          </a:prstGeom>
          <a:noFill/>
          <a:ln/>
        </p:spPr>
        <p:txBody>
          <a:bodyPr wrap="square" rtlCol="0" anchor="t"/>
          <a:lstStyle/>
          <a:p>
            <a:pPr indent="0" marL="0">
              <a:buNone/>
            </a:pPr>
            <a:r>
              <a:rPr lang="en-US" sz="1300" dirty="0">
                <a:solidFill>
                  <a:srgbClr val="1E293B"/>
                </a:solidFill>
                <a:latin typeface="Fira Sans" pitchFamily="34" charset="0"/>
                <a:ea typeface="Fira Sans" pitchFamily="34" charset="-122"/>
                <a:cs typeface="Fira Sans" pitchFamily="34" charset="-120"/>
              </a:rPr>
              <a:t>Agents publish cards to a catalog; clients search by skill, tag or keyword (e.g. Google Cloud Agent Registry, AGNTCY Agent Directory)</a:t>
            </a:r>
            <a:endParaRPr lang="en-US" sz="1300" dirty="0"/>
          </a:p>
        </p:txBody>
      </p:sp>
      <p:sp>
        <p:nvSpPr>
          <p:cNvPr id="13" name="Shape 10"/>
          <p:cNvSpPr/>
          <p:nvPr/>
        </p:nvSpPr>
        <p:spPr>
          <a:xfrm>
            <a:off x="8037576" y="1325880"/>
            <a:ext cx="3584448" cy="2240280"/>
          </a:xfrm>
          <a:prstGeom prst="rect">
            <a:avLst/>
          </a:prstGeom>
          <a:solidFill>
            <a:srgbClr val="FFFFFF"/>
          </a:solidFill>
          <a:ln w="19050">
            <a:solidFill>
              <a:srgbClr val="0F766E"/>
            </a:solidFill>
            <a:prstDash val="solid"/>
          </a:ln>
        </p:spPr>
      </p:sp>
      <p:sp>
        <p:nvSpPr>
          <p:cNvPr id="14" name="Shape 11"/>
          <p:cNvSpPr/>
          <p:nvPr/>
        </p:nvSpPr>
        <p:spPr>
          <a:xfrm>
            <a:off x="8037576" y="1325880"/>
            <a:ext cx="3584448" cy="457200"/>
          </a:xfrm>
          <a:prstGeom prst="rect">
            <a:avLst/>
          </a:prstGeom>
          <a:solidFill>
            <a:srgbClr val="0F766E"/>
          </a:solidFill>
          <a:ln w="12700">
            <a:solidFill>
              <a:srgbClr val="0F766E"/>
            </a:solidFill>
            <a:prstDash val="solid"/>
          </a:ln>
        </p:spPr>
      </p:sp>
      <p:sp>
        <p:nvSpPr>
          <p:cNvPr id="15" name="Text 12"/>
          <p:cNvSpPr/>
          <p:nvPr/>
        </p:nvSpPr>
        <p:spPr>
          <a:xfrm>
            <a:off x="8037576" y="1325880"/>
            <a:ext cx="3584448" cy="457200"/>
          </a:xfrm>
          <a:prstGeom prst="rect">
            <a:avLst/>
          </a:prstGeom>
          <a:noFill/>
          <a:ln/>
        </p:spPr>
        <p:txBody>
          <a:bodyPr wrap="square" rtlCol="0" anchor="ctr"/>
          <a:lstStyle/>
          <a:p>
            <a:pPr algn="ctr" indent="0" marL="0">
              <a:buNone/>
            </a:pPr>
            <a:r>
              <a:rPr lang="en-US" sz="1600" b="1" dirty="0">
                <a:solidFill>
                  <a:srgbClr val="FFFFFF"/>
                </a:solidFill>
                <a:latin typeface="Fira Sans" pitchFamily="34" charset="0"/>
                <a:ea typeface="Fira Sans" pitchFamily="34" charset="-122"/>
                <a:cs typeface="Fira Sans" pitchFamily="34" charset="-120"/>
              </a:rPr>
              <a:t>Direct configuration</a:t>
            </a:r>
            <a:endParaRPr lang="en-US" sz="1600" dirty="0"/>
          </a:p>
        </p:txBody>
      </p:sp>
      <p:sp>
        <p:nvSpPr>
          <p:cNvPr id="16" name="Text 13"/>
          <p:cNvSpPr/>
          <p:nvPr/>
        </p:nvSpPr>
        <p:spPr>
          <a:xfrm>
            <a:off x="8174736" y="1874520"/>
            <a:ext cx="3310128" cy="1600200"/>
          </a:xfrm>
          <a:prstGeom prst="rect">
            <a:avLst/>
          </a:prstGeom>
          <a:noFill/>
          <a:ln/>
        </p:spPr>
        <p:txBody>
          <a:bodyPr wrap="square" rtlCol="0" anchor="t"/>
          <a:lstStyle/>
          <a:p>
            <a:pPr indent="0" marL="0">
              <a:buNone/>
            </a:pPr>
            <a:r>
              <a:rPr lang="en-US" sz="1300" dirty="0">
                <a:solidFill>
                  <a:srgbClr val="1E293B"/>
                </a:solidFill>
                <a:latin typeface="Fira Sans" pitchFamily="34" charset="0"/>
                <a:ea typeface="Fira Sans" pitchFamily="34" charset="-122"/>
                <a:cs typeface="Fira Sans" pitchFamily="34" charset="-120"/>
              </a:rPr>
              <a:t>The client is told the URL — what our demos do with --seller-url</a:t>
            </a:r>
            <a:endParaRPr lang="en-US" sz="1300" dirty="0"/>
          </a:p>
        </p:txBody>
      </p:sp>
      <p:sp>
        <p:nvSpPr>
          <p:cNvPr id="17" name="Shape 14"/>
          <p:cNvSpPr/>
          <p:nvPr/>
        </p:nvSpPr>
        <p:spPr>
          <a:xfrm>
            <a:off x="502920" y="3794760"/>
            <a:ext cx="11155680" cy="960120"/>
          </a:xfrm>
          <a:prstGeom prst="rect">
            <a:avLst/>
          </a:prstGeom>
          <a:solidFill>
            <a:srgbClr val="CCFBF1"/>
          </a:solidFill>
          <a:ln w="12700">
            <a:solidFill>
              <a:srgbClr val="CCFBF1"/>
            </a:solidFill>
            <a:prstDash val="solid"/>
          </a:ln>
        </p:spPr>
      </p:sp>
      <p:sp>
        <p:nvSpPr>
          <p:cNvPr id="18" name="Text 15"/>
          <p:cNvSpPr/>
          <p:nvPr/>
        </p:nvSpPr>
        <p:spPr>
          <a:xfrm>
            <a:off x="640080" y="3840480"/>
            <a:ext cx="10881360" cy="868680"/>
          </a:xfrm>
          <a:prstGeom prst="rect">
            <a:avLst/>
          </a:prstGeom>
          <a:noFill/>
          <a:ln/>
        </p:spPr>
        <p:txBody>
          <a:bodyPr wrap="square" lIns="254" tIns="254" rIns="254" bIns="254" rtlCol="0" anchor="ctr"/>
          <a:lstStyle/>
          <a:p>
            <a:pPr indent="0" marL="0">
              <a:buNone/>
            </a:pPr>
            <a:r>
              <a:rPr lang="en-US" sz="1400" b="1" dirty="0">
                <a:solidFill>
                  <a:srgbClr val="0F766E"/>
                </a:solidFill>
                <a:latin typeface="Fira Sans" pitchFamily="34" charset="0"/>
                <a:ea typeface="Fira Sans" pitchFamily="34" charset="-122"/>
                <a:cs typeface="Fira Sans" pitchFamily="34" charset="-120"/>
              </a:rPr>
              <a:t>The A2A spec doesn't define a registry API — </a:t>
            </a:r>
            <a:r>
              <a:rPr lang="en-US" sz="1400" dirty="0">
                <a:solidFill>
                  <a:srgbClr val="1E293B"/>
                </a:solidFill>
                <a:latin typeface="Fira Sans" pitchFamily="34" charset="0"/>
                <a:ea typeface="Fira Sans" pitchFamily="34" charset="-122"/>
                <a:cs typeface="Fira Sans" pitchFamily="34" charset="-120"/>
              </a:rPr>
              <a:t>every registry has its own. Whatever the source, the client ends up with the same thing: an Agent Card, and it reads url, skills, capabilities and securitySchemes to decide how to call the agent.</a:t>
            </a:r>
            <a:endParaRPr lang="en-US" sz="1400" dirty="0"/>
          </a:p>
        </p:txBody>
      </p:sp>
      <p:sp>
        <p:nvSpPr>
          <p:cNvPr id="19" name="Text 16"/>
          <p:cNvSpPr/>
          <p:nvPr/>
        </p:nvSpPr>
        <p:spPr>
          <a:xfrm>
            <a:off x="502920" y="4937760"/>
            <a:ext cx="11155680" cy="457200"/>
          </a:xfrm>
          <a:prstGeom prst="rect">
            <a:avLst/>
          </a:prstGeom>
          <a:noFill/>
          <a:ln/>
        </p:spPr>
        <p:txBody>
          <a:bodyPr wrap="square" lIns="635" tIns="635" rIns="635" bIns="635" rtlCol="0" anchor="t"/>
          <a:lstStyle/>
          <a:p>
            <a:pPr algn="l" indent="0" marL="0">
              <a:buNone/>
            </a:pPr>
            <a:r>
              <a:rPr lang="en-US" sz="1400" i="1" dirty="0">
                <a:solidFill>
                  <a:srgbClr val="FFAB40"/>
                </a:solidFill>
                <a:latin typeface="Fira Sans" pitchFamily="34" charset="0"/>
                <a:ea typeface="Fira Sans" pitchFamily="34" charset="-122"/>
                <a:cs typeface="Fira Sans" pitchFamily="34" charset="-120"/>
              </a:rPr>
              <a:t>That's why rich, accurate skill descriptions and tags in agent.json matter: they are what gets searched.</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10: </a:t>
            </a:r>
            <a:r>
              <a:rPr lang="en-US" sz="3000" b="1" dirty="0">
                <a:solidFill>
                  <a:srgbClr val="FFFFFF"/>
                </a:solidFill>
                <a:latin typeface="Fira Sans" pitchFamily="34" charset="0"/>
                <a:ea typeface="Fira Sans" pitchFamily="34" charset="-122"/>
                <a:cs typeface="Fira Sans" pitchFamily="34" charset="-120"/>
              </a:rPr>
              <a:t>A2A Wire Format &amp; the Task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Agent Card → the real HTTP bytes of message/send → the Task, taken apart</a:t>
            </a:r>
            <a:endParaRPr lang="en-US" sz="1400" dirty="0"/>
          </a:p>
        </p:txBody>
      </p:sp>
      <p:sp>
        <p:nvSpPr>
          <p:cNvPr id="5" name="Shape 2"/>
          <p:cNvSpPr/>
          <p:nvPr/>
        </p:nvSpPr>
        <p:spPr>
          <a:xfrm>
            <a:off x="502920" y="1234440"/>
            <a:ext cx="11155680" cy="685800"/>
          </a:xfrm>
          <a:prstGeom prst="rect">
            <a:avLst/>
          </a:prstGeom>
          <a:solidFill>
            <a:srgbClr val="F1F5F9"/>
          </a:solidFill>
          <a:ln w="12700">
            <a:solidFill>
              <a:srgbClr val="F1F5F9"/>
            </a:solidFill>
            <a:prstDash val="solid"/>
          </a:ln>
        </p:spPr>
      </p:sp>
      <p:sp>
        <p:nvSpPr>
          <p:cNvPr id="6" name="Text 3"/>
          <p:cNvSpPr/>
          <p:nvPr/>
        </p:nvSpPr>
        <p:spPr>
          <a:xfrm>
            <a:off x="594360" y="1234440"/>
            <a:ext cx="10972800" cy="685800"/>
          </a:xfrm>
          <a:prstGeom prst="rect">
            <a:avLst/>
          </a:prstGeom>
          <a:noFill/>
          <a:ln/>
        </p:spPr>
        <p:txBody>
          <a:bodyPr wrap="square" lIns="381" tIns="381" rIns="381" bIns="381" rtlCol="0" anchor="ctr"/>
          <a:lstStyle/>
          <a:p>
            <a:pPr indent="0" marL="0">
              <a:buNone/>
            </a:pPr>
            <a:r>
              <a:rPr lang="en-US" sz="1200" dirty="0">
                <a:solidFill>
                  <a:srgbClr val="0F172A"/>
                </a:solidFill>
                <a:latin typeface="Consolas" pitchFamily="34" charset="0"/>
                <a:ea typeface="Consolas" pitchFamily="34" charset="-122"/>
                <a:cs typeface="Consolas" pitchFamily="34" charset="-120"/>
              </a:rPr>
              <a:t>adk web --a2a m2_adk_multiagents/negotiation_agents/          # terminal 1</a:t>
            </a:r>
            <a:endParaRPr lang="en-US" sz="1200" dirty="0"/>
          </a:p>
          <a:p>
            <a:pPr indent="0" marL="0">
              <a:buNone/>
            </a:pPr>
            <a:r>
              <a:rPr lang="en-US" sz="1200" dirty="0">
                <a:solidFill>
                  <a:srgbClr val="0F172A"/>
                </a:solidFill>
                <a:latin typeface="Consolas" pitchFamily="34" charset="0"/>
                <a:ea typeface="Consolas" pitchFamily="34" charset="-122"/>
                <a:cs typeface="Consolas" pitchFamily="34" charset="-120"/>
              </a:rPr>
              <a:t>python m2_adk_multiagents/a2a_demos/a2a_10_wire_lifecycle.py   # terminal 2</a:t>
            </a:r>
            <a:endParaRPr lang="en-US" sz="1200" dirty="0"/>
          </a:p>
        </p:txBody>
      </p:sp>
      <p:sp>
        <p:nvSpPr>
          <p:cNvPr id="7" name="Shape 4"/>
          <p:cNvSpPr/>
          <p:nvPr/>
        </p:nvSpPr>
        <p:spPr>
          <a:xfrm>
            <a:off x="502920" y="2057400"/>
            <a:ext cx="6949440" cy="2514600"/>
          </a:xfrm>
          <a:prstGeom prst="rect">
            <a:avLst/>
          </a:prstGeom>
          <a:solidFill>
            <a:srgbClr val="333333"/>
          </a:solidFill>
          <a:ln w="12700">
            <a:solidFill>
              <a:srgbClr val="333333"/>
            </a:solidFill>
            <a:prstDash val="solid"/>
          </a:ln>
        </p:spPr>
      </p:sp>
      <p:sp>
        <p:nvSpPr>
          <p:cNvPr id="8" name="Text 5"/>
          <p:cNvSpPr/>
          <p:nvPr/>
        </p:nvSpPr>
        <p:spPr>
          <a:xfrm>
            <a:off x="576072" y="2112264"/>
            <a:ext cx="6803136" cy="240487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card = await A2ACardResolver(httpx_client=http, base_url=seller_url).get_agent_card()</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client = ClientFactory(ClientConfig(httpx_client=http, streaming=False)).create(card)</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message = Message(message_id=</a:t>
            </a:r>
            <a:r>
              <a:rPr lang="en-US" sz="1100" dirty="0">
                <a:solidFill>
                  <a:srgbClr val="A2FCA2"/>
                </a:solidFill>
                <a:latin typeface="Consolas" pitchFamily="34" charset="0"/>
                <a:ea typeface="Consolas" pitchFamily="34" charset="-122"/>
                <a:cs typeface="Consolas" pitchFamily="34" charset="-120"/>
              </a:rPr>
              <a:t>"msg_7af7c873"</a:t>
            </a:r>
            <a:r>
              <a:rPr lang="en-US" sz="1100" dirty="0">
                <a:solidFill>
                  <a:srgbClr val="FFFFFF"/>
                </a:solidFill>
                <a:latin typeface="Consolas" pitchFamily="34" charset="0"/>
                <a:ea typeface="Consolas" pitchFamily="34" charset="-122"/>
                <a:cs typeface="Consolas" pitchFamily="34" charset="-120"/>
              </a:rPr>
              <a:t>, role=Role.user, parts=[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TextPart(text=</a:t>
            </a:r>
            <a:r>
              <a:rPr lang="en-US" sz="1100" dirty="0">
                <a:solidFill>
                  <a:srgbClr val="A2FCA2"/>
                </a:solidFill>
                <a:latin typeface="Consolas" pitchFamily="34" charset="0"/>
                <a:ea typeface="Consolas" pitchFamily="34" charset="-122"/>
                <a:cs typeface="Consolas" pitchFamily="34" charset="-120"/>
              </a:rPr>
              <a:t>"Opening offer at $440k, 30-day close, pre-approved."</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DataPart(data={</a:t>
            </a:r>
            <a:r>
              <a:rPr lang="en-US" sz="1100" dirty="0">
                <a:solidFill>
                  <a:srgbClr val="A2FCA2"/>
                </a:solidFill>
                <a:latin typeface="Consolas" pitchFamily="34" charset="0"/>
                <a:ea typeface="Consolas" pitchFamily="34" charset="-122"/>
                <a:cs typeface="Consolas" pitchFamily="34" charset="-120"/>
              </a:rPr>
              <a:t>"round"</a:t>
            </a:r>
            <a:r>
              <a:rPr lang="en-US" sz="1100" dirty="0">
                <a:solidFill>
                  <a:srgbClr val="FFFFFF"/>
                </a:solidFill>
                <a:latin typeface="Consolas" pitchFamily="34" charset="0"/>
                <a:ea typeface="Consolas" pitchFamily="34" charset="-122"/>
                <a:cs typeface="Consolas" pitchFamily="34" charset="-120"/>
              </a:rPr>
              <a:t>: 1, </a:t>
            </a:r>
            <a:r>
              <a:rPr lang="en-US" sz="1100" dirty="0">
                <a:solidFill>
                  <a:srgbClr val="A2FCA2"/>
                </a:solidFill>
                <a:latin typeface="Consolas" pitchFamily="34" charset="0"/>
                <a:ea typeface="Consolas" pitchFamily="34" charset="-122"/>
                <a:cs typeface="Consolas" pitchFamily="34" charset="-120"/>
              </a:rPr>
              <a:t>"message_type"</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"OFFER"</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"price"</a:t>
            </a:r>
            <a:r>
              <a:rPr lang="en-US" sz="1100" dirty="0">
                <a:solidFill>
                  <a:srgbClr val="FFFFFF"/>
                </a:solidFill>
                <a:latin typeface="Consolas" pitchFamily="34" charset="0"/>
                <a:ea typeface="Consolas" pitchFamily="34" charset="-122"/>
                <a:cs typeface="Consolas" pitchFamily="34" charset="-120"/>
              </a:rPr>
              <a:t>: 440000,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async for event in client.send_message(message):  </a:t>
            </a:r>
            <a:r>
              <a:rPr lang="en-US" sz="1100" dirty="0">
                <a:solidFill>
                  <a:srgbClr val="9CA3AF"/>
                </a:solidFill>
                <a:latin typeface="Consolas" pitchFamily="34" charset="0"/>
                <a:ea typeface="Consolas" pitchFamily="34" charset="-122"/>
                <a:cs typeface="Consolas" pitchFamily="34" charset="-120"/>
              </a:rPr>
              <a:t> # non-streaming: one (Task, None)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task = event[0]</a:t>
            </a:r>
            <a:endParaRPr lang="en-US" sz="1100" dirty="0"/>
          </a:p>
        </p:txBody>
      </p:sp>
      <p:sp>
        <p:nvSpPr>
          <p:cNvPr id="9" name="Text 6"/>
          <p:cNvSpPr/>
          <p:nvPr/>
        </p:nvSpPr>
        <p:spPr>
          <a:xfrm>
            <a:off x="7680960" y="2057400"/>
            <a:ext cx="4023360" cy="2560320"/>
          </a:xfrm>
          <a:prstGeom prst="rect">
            <a:avLst/>
          </a:prstGeom>
          <a:noFill/>
          <a:ln/>
        </p:spPr>
        <p:txBody>
          <a:bodyPr wrap="square" lIns="635" tIns="635" rIns="635" bIns="635" rtlCol="0" anchor="t"/>
          <a:lstStyle/>
          <a:p>
            <a:pPr lvl="1" marL="685800" indent="-342900">
              <a:spcAft>
                <a:spcPts val="800"/>
              </a:spcAft>
              <a:buSzPct val="100000"/>
              <a:buChar char="•"/>
            </a:pPr>
            <a:r>
              <a:rPr lang="en-US" sz="1300" dirty="0">
                <a:solidFill>
                  <a:srgbClr val="FFFFFF"/>
                </a:solidFill>
                <a:latin typeface="Fira Sans" pitchFamily="34" charset="0"/>
                <a:ea typeface="Fira Sans" pitchFamily="34" charset="-122"/>
                <a:cs typeface="Fira Sans" pitchFamily="34" charset="-120"/>
              </a:rPr>
              <a:t>ClientFactory + ClientConfig → Client is the a2a-sdk's current client (A2AClient is deprecated)</a:t>
            </a:r>
            <a:endParaRPr lang="en-US" sz="1300" dirty="0"/>
          </a:p>
          <a:p>
            <a:pPr lvl="1" marL="685800" indent="-342900">
              <a:spcAft>
                <a:spcPts val="800"/>
              </a:spcAft>
              <a:buSzPct val="100000"/>
              <a:buChar char="•"/>
            </a:pPr>
            <a:r>
              <a:rPr lang="en-US" sz="1300" dirty="0">
                <a:solidFill>
                  <a:srgbClr val="FFFFFF"/>
                </a:solidFill>
                <a:latin typeface="Fira Sans" pitchFamily="34" charset="0"/>
                <a:ea typeface="Fira Sans" pitchFamily="34" charset="-122"/>
                <a:cs typeface="Fira Sans" pitchFamily="34" charset="-120"/>
              </a:rPr>
              <a:t>The request goes to card.url over card.preferredTransport — the card drives the client</a:t>
            </a:r>
            <a:endParaRPr lang="en-US" sz="1300" dirty="0"/>
          </a:p>
          <a:p>
            <a:pPr lvl="1" marL="685800" indent="-342900">
              <a:spcAft>
                <a:spcPts val="800"/>
              </a:spcAft>
              <a:buSzPct val="100000"/>
              <a:buChar char="•"/>
            </a:pPr>
            <a:r>
              <a:rPr lang="en-US" sz="1300" dirty="0">
                <a:solidFill>
                  <a:srgbClr val="FFFFFF"/>
                </a:solidFill>
                <a:latin typeface="Fira Sans" pitchFamily="34" charset="0"/>
                <a:ea typeface="Fira Sans" pitchFamily="34" charset="-122"/>
                <a:cs typeface="Fira Sans" pitchFamily="34" charset="-120"/>
              </a:rPr>
              <a:t>httpx event hooks print the exact bytes sent and received — nothing re-built</a:t>
            </a:r>
            <a:endParaRPr lang="en-US" sz="1300" dirty="0"/>
          </a:p>
        </p:txBody>
      </p:sp>
      <p:sp>
        <p:nvSpPr>
          <p:cNvPr id="10" name="Shape 7"/>
          <p:cNvSpPr/>
          <p:nvPr/>
        </p:nvSpPr>
        <p:spPr>
          <a:xfrm>
            <a:off x="502920" y="4754880"/>
            <a:ext cx="11155680" cy="868680"/>
          </a:xfrm>
          <a:prstGeom prst="rect">
            <a:avLst/>
          </a:prstGeom>
          <a:solidFill>
            <a:srgbClr val="333333"/>
          </a:solidFill>
          <a:ln w="12700">
            <a:solidFill>
              <a:srgbClr val="333333"/>
            </a:solidFill>
            <a:prstDash val="solid"/>
          </a:ln>
        </p:spPr>
      </p:sp>
      <p:sp>
        <p:nvSpPr>
          <p:cNvPr id="11" name="Text 8"/>
          <p:cNvSpPr/>
          <p:nvPr/>
        </p:nvSpPr>
        <p:spPr>
          <a:xfrm>
            <a:off x="576072" y="4809744"/>
            <a:ext cx="11009376" cy="75895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-&gt; POST http://localhost:8000/a2a/seller_agent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t>
            </a:r>
            <a:r>
              <a:rPr lang="en-US" sz="1100" dirty="0">
                <a:solidFill>
                  <a:srgbClr val="A2FCA2"/>
                </a:solidFill>
                <a:latin typeface="Consolas" pitchFamily="34" charset="0"/>
                <a:ea typeface="Consolas" pitchFamily="34" charset="-122"/>
                <a:cs typeface="Consolas" pitchFamily="34" charset="-120"/>
              </a:rPr>
              <a:t>"jsonrpc"</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"2.0"</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"id"</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"b23808c5-..."</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"method"</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"message/send"</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"params"</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"configuration"</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"blocking"</a:t>
            </a:r>
            <a:r>
              <a:rPr lang="en-US" sz="1100" dirty="0">
                <a:solidFill>
                  <a:srgbClr val="FFFFFF"/>
                </a:solidFill>
                <a:latin typeface="Consolas" pitchFamily="34" charset="0"/>
                <a:ea typeface="Consolas" pitchFamily="34" charset="-122"/>
                <a:cs typeface="Consolas" pitchFamily="34" charset="-120"/>
              </a:rPr>
              <a:t>: true}, </a:t>
            </a:r>
            <a:r>
              <a:rPr lang="en-US" sz="1100" dirty="0">
                <a:solidFill>
                  <a:srgbClr val="A2FCA2"/>
                </a:solidFill>
                <a:latin typeface="Consolas" pitchFamily="34" charset="0"/>
                <a:ea typeface="Consolas" pitchFamily="34" charset="-122"/>
                <a:cs typeface="Consolas" pitchFamily="34" charset="-120"/>
              </a:rPr>
              <a:t>"message"</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"parts"</a:t>
            </a:r>
            <a:r>
              <a:rPr lang="en-US" sz="1100" dirty="0">
                <a:solidFill>
                  <a:srgbClr val="FFFFFF"/>
                </a:solidFill>
                <a:latin typeface="Consolas" pitchFamily="34" charset="0"/>
                <a:ea typeface="Consolas" pitchFamily="34" charset="-122"/>
                <a:cs typeface="Consolas" pitchFamily="34" charset="-120"/>
              </a:rPr>
              <a:t>: [ ... ]}}}</a:t>
            </a:r>
            <a:endParaRPr lang="en-US" sz="11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10: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The Task, taken apart (actual run, gpt-4o)</a:t>
            </a:r>
            <a:endParaRPr lang="en-US" sz="1400" dirty="0"/>
          </a:p>
        </p:txBody>
      </p:sp>
      <p:sp>
        <p:nvSpPr>
          <p:cNvPr id="5" name="Shape 2"/>
          <p:cNvSpPr/>
          <p:nvPr/>
        </p:nvSpPr>
        <p:spPr>
          <a:xfrm>
            <a:off x="502920" y="1234440"/>
            <a:ext cx="11155680" cy="2971800"/>
          </a:xfrm>
          <a:prstGeom prst="rect">
            <a:avLst/>
          </a:prstGeom>
          <a:solidFill>
            <a:srgbClr val="333333"/>
          </a:solidFill>
          <a:ln w="12700">
            <a:solidFill>
              <a:srgbClr val="333333"/>
            </a:solidFill>
            <a:prstDash val="solid"/>
          </a:ln>
        </p:spPr>
      </p:sp>
      <p:sp>
        <p:nvSpPr>
          <p:cNvPr id="6" name="Text 3"/>
          <p:cNvSpPr/>
          <p:nvPr/>
        </p:nvSpPr>
        <p:spPr>
          <a:xfrm>
            <a:off x="576072" y="1289304"/>
            <a:ext cx="11009376" cy="286207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id          162a296b-5515-4458-9601-4eb8b5af4bb5    &lt;- this unit of work (tasks/get uses it)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contextId   0918bf29-218b-4011-86b2-e21b2dd517c4    &lt;- the conversation it belongs to</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status      completed</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history     7 message(s):</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[0] user  text + data (the offer)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[1] user  text + data (same message again - an ADK quirk)</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[2] agent data (tool_call get_market_price, get_inventory_level, get_minimum_acceptable_price)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[3] agent data (tool_result x3)</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[4] agent data (tool_call submit_decision)    [5] agent data (tool_result submit_decision)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[6] agent text </a:t>
            </a:r>
            <a:r>
              <a:rPr lang="en-US" sz="1100" dirty="0">
                <a:solidFill>
                  <a:srgbClr val="A2FCA2"/>
                </a:solidFill>
                <a:latin typeface="Consolas" pitchFamily="34" charset="0"/>
                <a:ea typeface="Consolas" pitchFamily="34" charset="-122"/>
                <a:cs typeface="Consolas" pitchFamily="34" charset="-120"/>
              </a:rPr>
              <a:t>"SELLER: We COUNTER at $477,000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artifacts   1: artifactId=bee4354b-...  text </a:t>
            </a:r>
            <a:r>
              <a:rPr lang="en-US" sz="1100" dirty="0">
                <a:solidFill>
                  <a:srgbClr val="A2FCA2"/>
                </a:solidFill>
                <a:latin typeface="Consolas" pitchFamily="34" charset="0"/>
                <a:ea typeface="Consolas" pitchFamily="34" charset="-122"/>
                <a:cs typeface="Consolas" pitchFamily="34" charset="-120"/>
              </a:rPr>
              <a:t>"SELLER: We COUNTER at $477,000 ..."</a:t>
            </a:r>
            <a:endParaRPr lang="en-US" sz="1100" dirty="0"/>
          </a:p>
        </p:txBody>
      </p:sp>
      <p:sp>
        <p:nvSpPr>
          <p:cNvPr id="7" name="Text 4"/>
          <p:cNvSpPr/>
          <p:nvPr/>
        </p:nvSpPr>
        <p:spPr>
          <a:xfrm>
            <a:off x="502920" y="4343400"/>
            <a:ext cx="6583680" cy="1463040"/>
          </a:xfrm>
          <a:prstGeom prst="rect">
            <a:avLst/>
          </a:prstGeom>
          <a:noFill/>
          <a:ln/>
        </p:spPr>
        <p:txBody>
          <a:bodyPr wrap="square" lIns="635" tIns="635" rIns="635" bIns="635" rtlCol="0" anchor="t"/>
          <a:lstStyle/>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The Task is the response: </a:t>
            </a:r>
            <a:r>
              <a:rPr lang="en-US" sz="1400" dirty="0">
                <a:solidFill>
                  <a:srgbClr val="FFFFFF"/>
                </a:solidFill>
                <a:latin typeface="Fira Sans" pitchFamily="34" charset="0"/>
                <a:ea typeface="Fira Sans" pitchFamily="34" charset="-122"/>
                <a:cs typeface="Fira Sans" pitchFamily="34" charset="-120"/>
              </a:rPr>
              <a:t>id, contextId, status, history, artifacts</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History is the audit trail </a:t>
            </a:r>
            <a:r>
              <a:rPr lang="en-US" sz="1400" dirty="0">
                <a:solidFill>
                  <a:srgbClr val="FFFFFF"/>
                </a:solidFill>
                <a:latin typeface="Fira Sans" pitchFamily="34" charset="0"/>
                <a:ea typeface="Fira Sans" pitchFamily="34" charset="-122"/>
                <a:cs typeface="Fira Sans" pitchFamily="34" charset="-120"/>
              </a:rPr>
              <a:t>— including the seller's MCP tool calls as DataParts</a:t>
            </a:r>
            <a:endParaRPr lang="en-US" sz="1400" dirty="0"/>
          </a:p>
          <a:p>
            <a:pPr marL="342900" indent="-342900">
              <a:spcAft>
                <a:spcPts val="600"/>
              </a:spcAft>
              <a:buSzPct val="100000"/>
              <a:buChar char="•"/>
            </a:pPr>
            <a:r>
              <a:rPr lang="en-US" sz="1400" b="1" dirty="0">
                <a:solidFill>
                  <a:srgbClr val="FFAB40"/>
                </a:solidFill>
                <a:latin typeface="Fira Sans" pitchFamily="34" charset="0"/>
                <a:ea typeface="Fira Sans" pitchFamily="34" charset="-122"/>
                <a:cs typeface="Fira Sans" pitchFamily="34" charset="-120"/>
              </a:rPr>
              <a:t>The artifact is the deliverable </a:t>
            </a:r>
            <a:r>
              <a:rPr lang="en-US" sz="1400" dirty="0">
                <a:solidFill>
                  <a:srgbClr val="FFFFFF"/>
                </a:solidFill>
                <a:latin typeface="Fira Sans" pitchFamily="34" charset="0"/>
                <a:ea typeface="Fira Sans" pitchFamily="34" charset="-122"/>
                <a:cs typeface="Fira Sans" pitchFamily="34" charset="-120"/>
              </a:rPr>
              <a:t>— read the answer from it</a:t>
            </a:r>
            <a:endParaRPr lang="en-US" sz="1400" dirty="0"/>
          </a:p>
        </p:txBody>
      </p:sp>
      <p:sp>
        <p:nvSpPr>
          <p:cNvPr id="8" name="Shape 5"/>
          <p:cNvSpPr/>
          <p:nvPr/>
        </p:nvSpPr>
        <p:spPr>
          <a:xfrm>
            <a:off x="7269480" y="4343400"/>
            <a:ext cx="4389120" cy="1325880"/>
          </a:xfrm>
          <a:prstGeom prst="rect">
            <a:avLst/>
          </a:prstGeom>
          <a:solidFill>
            <a:srgbClr val="CCFBF1"/>
          </a:solidFill>
          <a:ln w="12700">
            <a:solidFill>
              <a:srgbClr val="CCFBF1"/>
            </a:solidFill>
            <a:prstDash val="solid"/>
          </a:ln>
        </p:spPr>
      </p:sp>
      <p:sp>
        <p:nvSpPr>
          <p:cNvPr id="9" name="Text 6"/>
          <p:cNvSpPr/>
          <p:nvPr/>
        </p:nvSpPr>
        <p:spPr>
          <a:xfrm>
            <a:off x="7406640" y="4389120"/>
            <a:ext cx="4114800" cy="123444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Only the final state is visible — </a:t>
            </a:r>
            <a:r>
              <a:rPr lang="en-US" sz="1300" dirty="0">
                <a:solidFill>
                  <a:srgbClr val="1E293B"/>
                </a:solidFill>
                <a:latin typeface="Fira Sans" pitchFamily="34" charset="0"/>
                <a:ea typeface="Fira Sans" pitchFamily="34" charset="-122"/>
                <a:cs typeface="Fira Sans" pitchFamily="34" charset="-120"/>
              </a:rPr>
              <a:t>blocking: true answered once the task was completed. Demo 13 shows submitted → working → completed live.</a:t>
            </a:r>
            <a:endParaRPr lang="en-US" sz="13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The Task: </a:t>
            </a:r>
            <a:r>
              <a:rPr lang="en-US" sz="3000" b="1" dirty="0">
                <a:solidFill>
                  <a:srgbClr val="FFFFFF"/>
                </a:solidFill>
                <a:latin typeface="Fira Sans" pitchFamily="34" charset="0"/>
                <a:ea typeface="Fira Sans" pitchFamily="34" charset="-122"/>
                <a:cs typeface="Fira Sans" pitchFamily="34" charset="-120"/>
              </a:rPr>
              <a:t>Lifecycle and States</a:t>
            </a:r>
            <a:endParaRPr lang="en-US" sz="3000" dirty="0"/>
          </a:p>
        </p:txBody>
      </p:sp>
      <p:graphicFrame>
        <p:nvGraphicFramePr>
          <p:cNvPr id="75"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6583680" cy="914400"/>
        </p:xfrm>
        <a:graphic>
          <a:graphicData uri="http://schemas.openxmlformats.org/drawingml/2006/table">
            <a:tbl>
              <a:tblPr/>
              <a:tblGrid>
                <a:gridCol w="1737360"/>
                <a:gridCol w="3474720"/>
                <a:gridCol w="137160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State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Meaning (spec v0.3.0)</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Kind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submitted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Submitted and awaiting execution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active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working</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The agent is working on it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active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input-required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Paused, waiting for input from the user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interrupted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auth-required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Needs authentication to proceed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interrupted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completed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Finished successfully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terminal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failed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Failed due to an error during execution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terminal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canceled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Canceled by the user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terminal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rejected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Rejected by the agent and not started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terminal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5" name="Text 1"/>
          <p:cNvSpPr/>
          <p:nvPr/>
        </p:nvSpPr>
        <p:spPr>
          <a:xfrm>
            <a:off x="7315200" y="960120"/>
            <a:ext cx="4389120" cy="4206240"/>
          </a:xfrm>
          <a:prstGeom prst="rect">
            <a:avLst/>
          </a:prstGeom>
          <a:noFill/>
          <a:ln/>
        </p:spPr>
        <p:txBody>
          <a:bodyPr wrap="square" lIns="635" tIns="635" rIns="635" bIns="635" rtlCol="0" anchor="t"/>
          <a:lstStyle/>
          <a:p>
            <a:pPr marL="342900" indent="-342900">
              <a:spcAft>
                <a:spcPts val="1000"/>
              </a:spcAft>
              <a:buSzPct val="100000"/>
              <a:buChar char="•"/>
            </a:pPr>
            <a:r>
              <a:rPr lang="en-US" sz="1400" b="1" dirty="0">
                <a:solidFill>
                  <a:srgbClr val="FFAB40"/>
                </a:solidFill>
                <a:latin typeface="Fira Sans" pitchFamily="34" charset="0"/>
                <a:ea typeface="Fira Sans" pitchFamily="34" charset="-122"/>
                <a:cs typeface="Fira Sans" pitchFamily="34" charset="-120"/>
              </a:rPr>
              <a:t>Usual path: </a:t>
            </a:r>
            <a:r>
              <a:rPr lang="en-US" sz="1400" dirty="0">
                <a:solidFill>
                  <a:srgbClr val="FFFFFF"/>
                </a:solidFill>
                <a:latin typeface="Fira Sans" pitchFamily="34" charset="0"/>
                <a:ea typeface="Fira Sans" pitchFamily="34" charset="-122"/>
                <a:cs typeface="Fira Sans" pitchFamily="34" charset="-120"/>
              </a:rPr>
              <a:t>submitted → working → completed (or failed)</a:t>
            </a:r>
            <a:endParaRPr lang="en-US" sz="1400" dirty="0"/>
          </a:p>
          <a:p>
            <a:pPr marL="342900" indent="-342900">
              <a:spcAft>
                <a:spcPts val="1000"/>
              </a:spcAft>
              <a:buSzPct val="100000"/>
              <a:buChar char="•"/>
            </a:pPr>
            <a:r>
              <a:rPr lang="en-US" sz="1400" b="1" dirty="0">
                <a:solidFill>
                  <a:srgbClr val="FFAB40"/>
                </a:solidFill>
                <a:latin typeface="Fira Sans" pitchFamily="34" charset="0"/>
                <a:ea typeface="Fira Sans" pitchFamily="34" charset="-122"/>
                <a:cs typeface="Fira Sans" pitchFamily="34" charset="-120"/>
              </a:rPr>
              <a:t>Terminal means terminal: </a:t>
            </a:r>
            <a:r>
              <a:rPr lang="en-US" sz="1400" dirty="0">
                <a:solidFill>
                  <a:srgbClr val="FFFFFF"/>
                </a:solidFill>
                <a:latin typeface="Fira Sans" pitchFamily="34" charset="0"/>
                <a:ea typeface="Fira Sans" pitchFamily="34" charset="-122"/>
                <a:cs typeface="Fira Sans" pitchFamily="34" charset="-120"/>
              </a:rPr>
              <a:t>a follow-up message in the same contextId creates a NEW task (demo 11)</a:t>
            </a:r>
            <a:endParaRPr lang="en-US" sz="1400" dirty="0"/>
          </a:p>
          <a:p>
            <a:pPr marL="342900" indent="-342900">
              <a:spcAft>
                <a:spcPts val="1000"/>
              </a:spcAft>
              <a:buSzPct val="100000"/>
              <a:buChar char="•"/>
            </a:pPr>
            <a:r>
              <a:rPr lang="en-US" sz="1400" b="1" dirty="0">
                <a:solidFill>
                  <a:srgbClr val="FFAB40"/>
                </a:solidFill>
                <a:latin typeface="Fira Sans" pitchFamily="34" charset="0"/>
                <a:ea typeface="Fira Sans" pitchFamily="34" charset="-122"/>
                <a:cs typeface="Fira Sans" pitchFamily="34" charset="-120"/>
              </a:rPr>
              <a:t>Cancel works </a:t>
            </a:r>
            <a:r>
              <a:rPr lang="en-US" sz="1400" dirty="0">
                <a:solidFill>
                  <a:srgbClr val="FFFFFF"/>
                </a:solidFill>
                <a:latin typeface="Fira Sans" pitchFamily="34" charset="0"/>
                <a:ea typeface="Fira Sans" pitchFamily="34" charset="-122"/>
                <a:cs typeface="Fira Sans" pitchFamily="34" charset="-120"/>
              </a:rPr>
              <a:t>with ADK 2.x's executor: a running task → canceled; cancelling it again is error -32002</a:t>
            </a:r>
            <a:endParaRPr lang="en-US" sz="1400" dirty="0"/>
          </a:p>
          <a:p>
            <a:pPr marL="342900" indent="-342900">
              <a:spcAft>
                <a:spcPts val="1000"/>
              </a:spcAft>
              <a:buSzPct val="100000"/>
              <a:buChar char="•"/>
            </a:pPr>
            <a:r>
              <a:rPr lang="en-US" sz="1400" b="1" dirty="0">
                <a:solidFill>
                  <a:srgbClr val="FFAB40"/>
                </a:solidFill>
                <a:latin typeface="Fira Sans" pitchFamily="34" charset="0"/>
                <a:ea typeface="Fira Sans" pitchFamily="34" charset="-122"/>
                <a:cs typeface="Fira Sans" pitchFamily="34" charset="-120"/>
              </a:rPr>
              <a:t>"completed" ≠ success: </a:t>
            </a:r>
            <a:r>
              <a:rPr lang="en-US" sz="1400" dirty="0">
                <a:solidFill>
                  <a:srgbClr val="FFFFFF"/>
                </a:solidFill>
                <a:latin typeface="Fira Sans" pitchFamily="34" charset="0"/>
                <a:ea typeface="Fira Sans" pitchFamily="34" charset="-122"/>
                <a:cs typeface="Fira Sans" pitchFamily="34" charset="-120"/>
              </a:rPr>
              <a:t>the agent responded — check the content too (demo 14)</a:t>
            </a:r>
            <a:endParaRPr lang="en-US" sz="1400" dirty="0"/>
          </a:p>
        </p:txBody>
      </p:sp>
      <p:sp>
        <p:nvSpPr>
          <p:cNvPr id="6" name="Text 2"/>
          <p:cNvSpPr/>
          <p:nvPr/>
        </p:nvSpPr>
        <p:spPr>
          <a:xfrm>
            <a:off x="502920" y="5394960"/>
            <a:ext cx="11155680" cy="502920"/>
          </a:xfrm>
          <a:prstGeom prst="rect">
            <a:avLst/>
          </a:prstGeom>
          <a:noFill/>
          <a:ln/>
        </p:spPr>
        <p:txBody>
          <a:bodyPr wrap="square" lIns="635" tIns="635" rIns="635" bIns="635" rtlCol="0" anchor="t"/>
          <a:lstStyle/>
          <a:p>
            <a:pPr algn="l" indent="0" marL="0">
              <a:buNone/>
            </a:pPr>
            <a:r>
              <a:rPr lang="en-US" sz="1200" i="1" dirty="0">
                <a:solidFill>
                  <a:srgbClr val="CBD5E1"/>
                </a:solidFill>
                <a:latin typeface="Fira Sans" pitchFamily="34" charset="0"/>
                <a:ea typeface="Fira Sans" pitchFamily="34" charset="-122"/>
                <a:cs typeface="Fira Sans" pitchFamily="34" charset="-120"/>
              </a:rPr>
              <a:t>JSON-RPC methods: message/send · message/stream · tasks/get · tasks/cancel · tasks/resubscribe · tasks/pushNotificationConfig/* · agent/getAuthenticatedExtendedCard</a:t>
            </a:r>
            <a:endParaRPr lang="en-US" sz="12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11: </a:t>
            </a:r>
            <a:r>
              <a:rPr lang="en-US" sz="3000" b="1" dirty="0">
                <a:solidFill>
                  <a:srgbClr val="FFFFFF"/>
                </a:solidFill>
                <a:latin typeface="Fira Sans" pitchFamily="34" charset="0"/>
                <a:ea typeface="Fira Sans" pitchFamily="34" charset="-122"/>
                <a:cs typeface="Fira Sans" pitchFamily="34" charset="-120"/>
              </a:rPr>
              <a:t>Context Threading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A task is one job; a context is the conversation</a:t>
            </a:r>
            <a:endParaRPr lang="en-US" sz="1400" dirty="0"/>
          </a:p>
        </p:txBody>
      </p:sp>
      <p:sp>
        <p:nvSpPr>
          <p:cNvPr id="5" name="Shape 2"/>
          <p:cNvSpPr/>
          <p:nvPr/>
        </p:nvSpPr>
        <p:spPr>
          <a:xfrm>
            <a:off x="502920" y="1234440"/>
            <a:ext cx="11155680" cy="1508760"/>
          </a:xfrm>
          <a:prstGeom prst="rect">
            <a:avLst/>
          </a:prstGeom>
          <a:solidFill>
            <a:srgbClr val="333333"/>
          </a:solidFill>
          <a:ln w="12700">
            <a:solidFill>
              <a:srgbClr val="333333"/>
            </a:solidFill>
            <a:prstDash val="solid"/>
          </a:ln>
        </p:spPr>
      </p:sp>
      <p:sp>
        <p:nvSpPr>
          <p:cNvPr id="6" name="Text 3"/>
          <p:cNvSpPr/>
          <p:nvPr/>
        </p:nvSpPr>
        <p:spPr>
          <a:xfrm>
            <a:off x="576072" y="1289304"/>
            <a:ext cx="11009376" cy="1399032"/>
          </a:xfrm>
          <a:prstGeom prst="rect">
            <a:avLst/>
          </a:prstGeom>
          <a:noFill/>
          <a:ln/>
        </p:spPr>
        <p:txBody>
          <a:bodyPr wrap="square" lIns="635" tIns="635" rIns="635" bIns="635" rtlCol="0" anchor="t"/>
          <a:lstStyle/>
          <a:p>
            <a:pPr indent="0" marL="0">
              <a:buNone/>
            </a:pPr>
            <a:r>
              <a:rPr lang="en-US" sz="1200" dirty="0">
                <a:solidFill>
                  <a:srgbClr val="FFFFFF"/>
                </a:solidFill>
                <a:latin typeface="Consolas" pitchFamily="34" charset="0"/>
                <a:ea typeface="Consolas" pitchFamily="34" charset="-122"/>
                <a:cs typeface="Consolas" pitchFamily="34" charset="-120"/>
              </a:rPr>
              <a:t>round 1  message/send (no contextId)   -&gt; task A, server assigns context X</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round 2  message/send (contextId X)    -&gt; task B, context X  (seller sees round 1)</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round 3  message/send (contextId X)    -&gt; task C, context X</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tasks/get(A)                           -&gt; round 1's task, unchanged</a:t>
            </a:r>
            <a:endParaRPr lang="en-US" sz="1200" dirty="0"/>
          </a:p>
          <a:p>
            <a:pPr indent="0" marL="0">
              <a:buNone/>
            </a:pPr>
            <a:r>
              <a:rPr lang="en-US" sz="1200" dirty="0">
                <a:solidFill>
                  <a:srgbClr val="FFFFFF"/>
                </a:solidFill>
                <a:latin typeface="Consolas" pitchFamily="34" charset="0"/>
                <a:ea typeface="Consolas" pitchFamily="34" charset="-122"/>
                <a:cs typeface="Consolas" pitchFamily="34" charset="-120"/>
              </a:rPr>
              <a:t>round 4  message/send (no contextId)   -&gt; task D, NEW context Y  (no memory)</a:t>
            </a:r>
            <a:endParaRPr lang="en-US" sz="1200" dirty="0"/>
          </a:p>
        </p:txBody>
      </p:sp>
      <p:graphicFrame>
        <p:nvGraphicFramePr>
          <p:cNvPr id="76" name="Table 0"/>
          <p:cNvGraphicFramePr>
            <a:graphicFrameLocks noGrp="1"/>
          </p:cNvGraphicFramePr>
          <p:nvPr>
            <p:extLst>
              <p:ext uri="{D42A27DB-BD31-4B8C-83A1-F6EECF244321}">
                <p14:modId xmlns:p14="http://schemas.microsoft.com/office/powerpoint/2010/main" val="1579011935"/>
              </p:ext>
            </p:extLst>
          </p:nvPr>
        </p:nvGraphicFramePr>
        <p:xfrm>
          <a:off x="502920" y="2926080"/>
          <a:ext cx="11155680" cy="914400"/>
        </p:xfrm>
        <a:graphic>
          <a:graphicData uri="http://schemas.openxmlformats.org/drawingml/2006/table">
            <a:tbl>
              <a:tblPr/>
              <a:tblGrid>
                <a:gridCol w="1920240"/>
                <a:gridCol w="1188720"/>
                <a:gridCol w="804672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Round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Offer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What the seller does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1</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$432K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Researches (3 MCP tools) → below the $445K floor → COUNTER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2</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$440K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Remembers round 1 → only submit_decision → COUNTER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3</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$446K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Above the floor → ACCEPT (submit_decision enforces it in code)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4 (no contextId)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$440K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 memory → calls all three MCP tools again → COUNTER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8" name="Shape 4"/>
          <p:cNvSpPr/>
          <p:nvPr/>
        </p:nvSpPr>
        <p:spPr>
          <a:xfrm>
            <a:off x="502920" y="4983480"/>
            <a:ext cx="11155680" cy="685800"/>
          </a:xfrm>
          <a:prstGeom prst="rect">
            <a:avLst/>
          </a:prstGeom>
          <a:solidFill>
            <a:srgbClr val="CCFBF1"/>
          </a:solidFill>
          <a:ln w="12700">
            <a:solidFill>
              <a:srgbClr val="CCFBF1"/>
            </a:solidFill>
            <a:prstDash val="solid"/>
          </a:ln>
        </p:spPr>
      </p:sp>
      <p:sp>
        <p:nvSpPr>
          <p:cNvPr id="9" name="Text 5"/>
          <p:cNvSpPr/>
          <p:nvPr/>
        </p:nvSpPr>
        <p:spPr>
          <a:xfrm>
            <a:off x="640080" y="5029200"/>
            <a:ext cx="10881360" cy="594360"/>
          </a:xfrm>
          <a:prstGeom prst="rect">
            <a:avLst/>
          </a:prstGeom>
          <a:noFill/>
          <a:ln/>
        </p:spPr>
        <p:txBody>
          <a:bodyPr wrap="square" lIns="254" tIns="254" rIns="254" bIns="254" rtlCol="0" anchor="ctr"/>
          <a:lstStyle/>
          <a:p>
            <a:pPr indent="0" marL="0">
              <a:buNone/>
            </a:pPr>
            <a:r>
              <a:rPr lang="en-US" sz="1400" b="1" dirty="0">
                <a:solidFill>
                  <a:srgbClr val="0F766E"/>
                </a:solidFill>
                <a:latin typeface="Fira Sans" pitchFamily="34" charset="0"/>
                <a:ea typeface="Fira Sans" pitchFamily="34" charset="-122"/>
                <a:cs typeface="Fira Sans" pitchFamily="34" charset="-120"/>
              </a:rPr>
              <a:t>contextId = A2A's session_id. </a:t>
            </a:r>
            <a:r>
              <a:rPr lang="en-US" sz="1400" dirty="0">
                <a:solidFill>
                  <a:srgbClr val="1E293B"/>
                </a:solidFill>
                <a:latin typeface="Fira Sans" pitchFamily="34" charset="0"/>
                <a:ea typeface="Fira Sans" pitchFamily="34" charset="-122"/>
                <a:cs typeface="Fira Sans" pitchFamily="34" charset="-120"/>
              </a:rPr>
              <a:t>Without it every POST is a brand-new conversation. Round 2 vs round 4 (same $440K) is the proof.</a:t>
            </a:r>
            <a:endParaRPr lang="en-US" sz="1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11: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Actual run (gpt-4o, abridged — prices vary run to run)</a:t>
            </a:r>
            <a:endParaRPr lang="en-US" sz="1400" dirty="0"/>
          </a:p>
        </p:txBody>
      </p:sp>
      <p:sp>
        <p:nvSpPr>
          <p:cNvPr id="5" name="Shape 2"/>
          <p:cNvSpPr/>
          <p:nvPr/>
        </p:nvSpPr>
        <p:spPr>
          <a:xfrm>
            <a:off x="502920" y="1234440"/>
            <a:ext cx="11155680" cy="2423160"/>
          </a:xfrm>
          <a:prstGeom prst="rect">
            <a:avLst/>
          </a:prstGeom>
          <a:solidFill>
            <a:srgbClr val="333333"/>
          </a:solidFill>
          <a:ln w="12700">
            <a:solidFill>
              <a:srgbClr val="333333"/>
            </a:solidFill>
            <a:prstDash val="solid"/>
          </a:ln>
        </p:spPr>
      </p:sp>
      <p:sp>
        <p:nvSpPr>
          <p:cNvPr id="6" name="Text 3"/>
          <p:cNvSpPr/>
          <p:nvPr/>
        </p:nvSpPr>
        <p:spPr>
          <a:xfrm>
            <a:off x="576072" y="1289304"/>
            <a:ext cx="11009376" cy="231343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round 1 - $432,000   taskId 3fc7f67a...  contextId 06264516...</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tools: get_market_price, get_inventory_level, get_minimum_acceptable_price, submit_decision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seller: COUNTER at $477,000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round 2 - $440,000   taskId d6a7db58...  contextId 06264516...   tools: submit_decision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round 3 - $446,000   taskId 5c78919f...  contextId 06264516...   tools: submit_decision  -&gt; ACCEPT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tasks/get(round 1)   taskId 3fc7f67a...  state completed, same artifact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round 4 - $440,000   taskId b7befb6e...  contextId 1de09dfa...   (new conversation)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tools: get_market_price, get_inventory_level, get_minimum_acceptable_price, submit_decision</a:t>
            </a:r>
            <a:endParaRPr lang="en-US" sz="1100" dirty="0"/>
          </a:p>
        </p:txBody>
      </p:sp>
      <p:sp>
        <p:nvSpPr>
          <p:cNvPr id="7" name="Text 4"/>
          <p:cNvSpPr/>
          <p:nvPr/>
        </p:nvSpPr>
        <p:spPr>
          <a:xfrm>
            <a:off x="502920" y="3840480"/>
            <a:ext cx="11155680" cy="1828800"/>
          </a:xfrm>
          <a:prstGeom prst="rect">
            <a:avLst/>
          </a:prstGeom>
          <a:noFill/>
          <a:ln/>
        </p:spPr>
        <p:txBody>
          <a:bodyPr wrap="square" lIns="635" tIns="635" rIns="635" bIns="635" rtlCol="0" anchor="t"/>
          <a:lstStyle/>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3 rounds → 3 taskIds, 1 contextId. </a:t>
            </a:r>
            <a:r>
              <a:rPr lang="en-US" sz="1400" dirty="0">
                <a:solidFill>
                  <a:srgbClr val="FFFFFF"/>
                </a:solidFill>
                <a:latin typeface="Fira Sans" pitchFamily="34" charset="0"/>
                <a:ea typeface="Fira Sans" pitchFamily="34" charset="-122"/>
                <a:cs typeface="Fira Sans" pitchFamily="34" charset="-120"/>
              </a:rPr>
              <a:t>Each message/send is its own Task; the context links them</a:t>
            </a:r>
            <a:endParaRPr lang="en-US" sz="1400" dirty="0"/>
          </a:p>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Round 2 makes no MCP calls; round 4 calls all three </a:t>
            </a:r>
            <a:r>
              <a:rPr lang="en-US" sz="1400" dirty="0">
                <a:solidFill>
                  <a:srgbClr val="FFFFFF"/>
                </a:solidFill>
                <a:latin typeface="Fira Sans" pitchFamily="34" charset="0"/>
                <a:ea typeface="Fira Sans" pitchFamily="34" charset="-122"/>
                <a:cs typeface="Fira Sans" pitchFamily="34" charset="-120"/>
              </a:rPr>
              <a:t>— contextId is the ONLY difference</a:t>
            </a:r>
            <a:endParaRPr lang="en-US" sz="1400" dirty="0"/>
          </a:p>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The floor saved in session state in round 1 </a:t>
            </a:r>
            <a:r>
              <a:rPr lang="en-US" sz="1400" dirty="0">
                <a:solidFill>
                  <a:srgbClr val="FFFFFF"/>
                </a:solidFill>
                <a:latin typeface="Fira Sans" pitchFamily="34" charset="0"/>
                <a:ea typeface="Fira Sans" pitchFamily="34" charset="-122"/>
                <a:cs typeface="Fira Sans" pitchFamily="34" charset="-120"/>
              </a:rPr>
              <a:t>is still there in round 3, because the context is the same</a:t>
            </a:r>
            <a:endParaRPr lang="en-US" sz="14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12: </a:t>
            </a:r>
            <a:r>
              <a:rPr lang="en-US" sz="3000" b="1" dirty="0">
                <a:solidFill>
                  <a:srgbClr val="FFFFFF"/>
                </a:solidFill>
                <a:latin typeface="Fira Sans" pitchFamily="34" charset="0"/>
                <a:ea typeface="Fira Sans" pitchFamily="34" charset="-122"/>
                <a:cs typeface="Fira Sans" pitchFamily="34" charset="-120"/>
              </a:rPr>
              <a:t>Parts &amp; Artifacts (Concept)</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Multi-part messages, and where the answer lives in a Task</a:t>
            </a:r>
            <a:endParaRPr lang="en-US" sz="1400" dirty="0"/>
          </a:p>
        </p:txBody>
      </p:sp>
      <p:sp>
        <p:nvSpPr>
          <p:cNvPr id="5" name="Shape 2"/>
          <p:cNvSpPr/>
          <p:nvPr/>
        </p:nvSpPr>
        <p:spPr>
          <a:xfrm>
            <a:off x="502920" y="1234440"/>
            <a:ext cx="11155680" cy="1005840"/>
          </a:xfrm>
          <a:prstGeom prst="rect">
            <a:avLst/>
          </a:prstGeom>
          <a:solidFill>
            <a:srgbClr val="333333"/>
          </a:solidFill>
          <a:ln w="12700">
            <a:solidFill>
              <a:srgbClr val="333333"/>
            </a:solidFill>
            <a:prstDash val="solid"/>
          </a:ln>
        </p:spPr>
      </p:sp>
      <p:sp>
        <p:nvSpPr>
          <p:cNvPr id="6" name="Text 3"/>
          <p:cNvSpPr/>
          <p:nvPr/>
        </p:nvSpPr>
        <p:spPr>
          <a:xfrm>
            <a:off x="576072" y="1289304"/>
            <a:ext cx="11009376" cy="89611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parts =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TextPart(text=</a:t>
            </a:r>
            <a:r>
              <a:rPr lang="en-US" sz="1100" dirty="0">
                <a:solidFill>
                  <a:srgbClr val="A2FCA2"/>
                </a:solidFill>
                <a:latin typeface="Consolas" pitchFamily="34" charset="0"/>
                <a:ea typeface="Consolas" pitchFamily="34" charset="-122"/>
                <a:cs typeface="Consolas" pitchFamily="34" charset="-120"/>
              </a:rPr>
              <a:t>"Final-and-best offer at $445k for 742 Evergreen Terrace."</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9CA3AF"/>
                </a:solidFill>
                <a:latin typeface="Consolas" pitchFamily="34" charset="0"/>
                <a:ea typeface="Consolas" pitchFamily="34" charset="-122"/>
                <a:cs typeface="Consolas" pitchFamily="34" charset="-120"/>
              </a:rPr>
              <a:t> # for the LLM</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DataPart(data={</a:t>
            </a:r>
            <a:r>
              <a:rPr lang="en-US" sz="1100" dirty="0">
                <a:solidFill>
                  <a:srgbClr val="A2FCA2"/>
                </a:solidFill>
                <a:latin typeface="Consolas" pitchFamily="34" charset="0"/>
                <a:ea typeface="Consolas" pitchFamily="34" charset="-122"/>
                <a:cs typeface="Consolas" pitchFamily="34" charset="-120"/>
              </a:rPr>
              <a:t>"hint"</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"machine-readable copy"</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"offer"</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"price"</a:t>
            </a:r>
            <a:r>
              <a:rPr lang="en-US" sz="1100" dirty="0">
                <a:solidFill>
                  <a:srgbClr val="FFFFFF"/>
                </a:solidFill>
                <a:latin typeface="Consolas" pitchFamily="34" charset="0"/>
                <a:ea typeface="Consolas" pitchFamily="34" charset="-122"/>
                <a:cs typeface="Consolas" pitchFamily="34" charset="-120"/>
              </a:rPr>
              <a:t>: 445000, ...}}), </a:t>
            </a:r>
            <a:r>
              <a:rPr lang="en-US" sz="1100" dirty="0">
                <a:solidFill>
                  <a:srgbClr val="9CA3AF"/>
                </a:solidFill>
                <a:latin typeface="Consolas" pitchFamily="34" charset="0"/>
                <a:ea typeface="Consolas" pitchFamily="34" charset="-122"/>
                <a:cs typeface="Consolas" pitchFamily="34" charset="-120"/>
              </a:rPr>
              <a:t> # for code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a:t>
            </a:r>
            <a:endParaRPr lang="en-US" sz="11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02920" y="2423160"/>
          <a:ext cx="5669280" cy="914400"/>
        </p:xfrm>
        <a:graphic>
          <a:graphicData uri="http://schemas.openxmlformats.org/drawingml/2006/table">
            <a:tbl>
              <a:tblPr/>
              <a:tblGrid>
                <a:gridCol w="1188720"/>
                <a:gridCol w="2286000"/>
                <a:gridCol w="2194560"/>
              </a:tblGrid>
              <a:tr h="0">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Part type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Carries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Who reads it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TextPart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Plain text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The LLM</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DataPart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Structured JSON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Code / downstream systems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FilePart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A file — inline bytes or a URI, with a MIME type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Depends on the agent (demo 14 sends one it can't read)</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graphicFrame>
        <p:nvGraphicFramePr>
          <p:cNvPr id="155" name="Table 1"/>
          <p:cNvGraphicFramePr>
            <a:graphicFrameLocks noGrp="1"/>
          </p:cNvGraphicFramePr>
          <p:nvPr>
            <p:extLst>
              <p:ext uri="{D42A27DB-BD31-4B8C-83A1-F6EECF244321}">
                <p14:modId xmlns:p14="http://schemas.microsoft.com/office/powerpoint/2010/main" val="1579011935"/>
              </p:ext>
            </p:extLst>
          </p:nvPr>
        </p:nvGraphicFramePr>
        <p:xfrm>
          <a:off x="6355080" y="2423160"/>
          <a:ext cx="5349240" cy="914400"/>
        </p:xfrm>
        <a:graphic>
          <a:graphicData uri="http://schemas.openxmlformats.org/drawingml/2006/table">
            <a:tbl>
              <a:tblPr/>
              <a:tblGrid>
                <a:gridCol w="1463040"/>
                <a:gridCol w="3886200"/>
              </a:tblGrid>
              <a:tr h="0">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Where in the Task</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What's there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history</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The conversation — incl. MCP tool calls &amp; results as DataParts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status.message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Latest status message (empty when completed; the reason when failed)</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artifacts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The deliverable, each with an artifactId — ADK puts the final reply here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9" name="Shape 4"/>
          <p:cNvSpPr/>
          <p:nvPr/>
        </p:nvSpPr>
        <p:spPr>
          <a:xfrm>
            <a:off x="502920" y="4572000"/>
            <a:ext cx="11155680" cy="777240"/>
          </a:xfrm>
          <a:prstGeom prst="rect">
            <a:avLst/>
          </a:prstGeom>
          <a:solidFill>
            <a:srgbClr val="CCFBF1"/>
          </a:solidFill>
          <a:ln w="12700">
            <a:solidFill>
              <a:srgbClr val="CCFBF1"/>
            </a:solidFill>
            <a:prstDash val="solid"/>
          </a:ln>
        </p:spPr>
      </p:sp>
      <p:sp>
        <p:nvSpPr>
          <p:cNvPr id="10" name="Text 5"/>
          <p:cNvSpPr/>
          <p:nvPr/>
        </p:nvSpPr>
        <p:spPr>
          <a:xfrm>
            <a:off x="640080" y="4617720"/>
            <a:ext cx="10881360" cy="685800"/>
          </a:xfrm>
          <a:prstGeom prst="rect">
            <a:avLst/>
          </a:prstGeom>
          <a:noFill/>
          <a:ln/>
        </p:spPr>
        <p:txBody>
          <a:bodyPr wrap="square" lIns="254" tIns="254" rIns="254" bIns="254" rtlCol="0" anchor="ctr"/>
          <a:lstStyle/>
          <a:p>
            <a:pPr indent="0" marL="0">
              <a:buNone/>
            </a:pPr>
            <a:r>
              <a:rPr lang="en-US" sz="1400" b="1" dirty="0">
                <a:solidFill>
                  <a:srgbClr val="0F766E"/>
                </a:solidFill>
                <a:latin typeface="Fira Sans" pitchFamily="34" charset="0"/>
                <a:ea typeface="Fira Sans" pitchFamily="34" charset="-122"/>
                <a:cs typeface="Fira Sans" pitchFamily="34" charset="-120"/>
              </a:rPr>
              <a:t>Messages = the email thread. Artifacts = the attached report. </a:t>
            </a:r>
            <a:r>
              <a:rPr lang="en-US" sz="1400" dirty="0">
                <a:solidFill>
                  <a:srgbClr val="1E293B"/>
                </a:solidFill>
                <a:latin typeface="Fira Sans" pitchFamily="34" charset="0"/>
                <a:ea typeface="Fira Sans" pitchFamily="34" charset="-122"/>
                <a:cs typeface="Fira Sans" pitchFamily="34" charset="-120"/>
              </a:rPr>
              <a:t>Read the answer from the artifact; read the audit trail from history.</a:t>
            </a:r>
            <a:endParaRPr lang="en-US" sz="1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12: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Acceptance at $445K (actual run, gpt-4o)</a:t>
            </a:r>
            <a:endParaRPr lang="en-US" sz="1400" dirty="0"/>
          </a:p>
        </p:txBody>
      </p:sp>
      <p:sp>
        <p:nvSpPr>
          <p:cNvPr id="5" name="Shape 2"/>
          <p:cNvSpPr/>
          <p:nvPr/>
        </p:nvSpPr>
        <p:spPr>
          <a:xfrm>
            <a:off x="502920" y="1234440"/>
            <a:ext cx="11155680" cy="2606040"/>
          </a:xfrm>
          <a:prstGeom prst="rect">
            <a:avLst/>
          </a:prstGeom>
          <a:solidFill>
            <a:srgbClr val="333333"/>
          </a:solidFill>
          <a:ln w="12700">
            <a:solidFill>
              <a:srgbClr val="333333"/>
            </a:solidFill>
            <a:prstDash val="solid"/>
          </a:ln>
        </p:spPr>
      </p:sp>
      <p:sp>
        <p:nvSpPr>
          <p:cNvPr id="6" name="Text 3"/>
          <p:cNvSpPr/>
          <p:nvPr/>
        </p:nvSpPr>
        <p:spPr>
          <a:xfrm>
            <a:off x="576072" y="1289304"/>
            <a:ext cx="11009376" cy="2496312"/>
          </a:xfrm>
          <a:prstGeom prst="rect">
            <a:avLst/>
          </a:prstGeom>
          <a:noFill/>
          <a:ln/>
        </p:spPr>
        <p:txBody>
          <a:bodyPr wrap="square" lIns="635" tIns="635" rIns="635" bIns="635" rtlCol="0" anchor="t"/>
          <a:lstStyle/>
          <a:p>
            <a:pPr indent="0" marL="0">
              <a:buNone/>
            </a:pPr>
            <a:r>
              <a:rPr lang="en-US" sz="1050" dirty="0">
                <a:solidFill>
                  <a:srgbClr val="FFFFFF"/>
                </a:solidFill>
                <a:latin typeface="Consolas" pitchFamily="34" charset="0"/>
                <a:ea typeface="Consolas" pitchFamily="34" charset="-122"/>
                <a:cs typeface="Consolas" pitchFamily="34" charset="-120"/>
              </a:rPr>
              <a:t>=== 1. history (7 messages) ===</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(0) user   TextPart + DataPart (the offer)        (1) the same message again</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(2) agent  DataPart x3 - tool CALLS  get_market_price, get_inventory_level, get_minimum_acceptable_price</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(3) agent  DataPart x3 - tool RESULTS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(4) agent  DataPart - submit_decision {</a:t>
            </a:r>
            <a:r>
              <a:rPr lang="en-US" sz="1050" dirty="0">
                <a:solidFill>
                  <a:srgbClr val="A2FCA2"/>
                </a:solidFill>
                <a:latin typeface="Consolas" pitchFamily="34" charset="0"/>
                <a:ea typeface="Consolas" pitchFamily="34" charset="-122"/>
                <a:cs typeface="Consolas" pitchFamily="34" charset="-120"/>
              </a:rPr>
              <a:t>"action"</a:t>
            </a:r>
            <a:r>
              <a:rPr lang="en-US" sz="1050" dirty="0">
                <a:solidFill>
                  <a:srgbClr val="FFFFFF"/>
                </a:solidFill>
                <a:latin typeface="Consolas" pitchFamily="34" charset="0"/>
                <a:ea typeface="Consolas" pitchFamily="34" charset="-122"/>
                <a:cs typeface="Consolas" pitchFamily="34" charset="-120"/>
              </a:rPr>
              <a:t>: </a:t>
            </a:r>
            <a:r>
              <a:rPr lang="en-US" sz="1050" dirty="0">
                <a:solidFill>
                  <a:srgbClr val="A2FCA2"/>
                </a:solidFill>
                <a:latin typeface="Consolas" pitchFamily="34" charset="0"/>
                <a:ea typeface="Consolas" pitchFamily="34" charset="-122"/>
                <a:cs typeface="Consolas" pitchFamily="34" charset="-120"/>
              </a:rPr>
              <a:t>"ACCEPT"</a:t>
            </a:r>
            <a:r>
              <a:rPr lang="en-US" sz="1050" dirty="0">
                <a:solidFill>
                  <a:srgbClr val="FFFFFF"/>
                </a:solidFill>
                <a:latin typeface="Consolas" pitchFamily="34" charset="0"/>
                <a:ea typeface="Consolas" pitchFamily="34" charset="-122"/>
                <a:cs typeface="Consolas" pitchFamily="34" charset="-120"/>
              </a:rPr>
              <a:t>, </a:t>
            </a:r>
            <a:r>
              <a:rPr lang="en-US" sz="1050" dirty="0">
                <a:solidFill>
                  <a:srgbClr val="A2FCA2"/>
                </a:solidFill>
                <a:latin typeface="Consolas" pitchFamily="34" charset="0"/>
                <a:ea typeface="Consolas" pitchFamily="34" charset="-122"/>
                <a:cs typeface="Consolas" pitchFamily="34" charset="-120"/>
              </a:rPr>
              <a:t>"price"</a:t>
            </a:r>
            <a:r>
              <a:rPr lang="en-US" sz="1050" dirty="0">
                <a:solidFill>
                  <a:srgbClr val="FFFFFF"/>
                </a:solidFill>
                <a:latin typeface="Consolas" pitchFamily="34" charset="0"/>
                <a:ea typeface="Consolas" pitchFamily="34" charset="-122"/>
                <a:cs typeface="Consolas" pitchFamily="34" charset="-120"/>
              </a:rPr>
              <a:t>: 445000, </a:t>
            </a:r>
            <a:r>
              <a:rPr lang="en-US" sz="1050" dirty="0">
                <a:solidFill>
                  <a:srgbClr val="A2FCA2"/>
                </a:solidFill>
                <a:latin typeface="Consolas" pitchFamily="34" charset="0"/>
                <a:ea typeface="Consolas" pitchFamily="34" charset="-122"/>
                <a:cs typeface="Consolas" pitchFamily="34" charset="-120"/>
              </a:rPr>
              <a:t>"buyer_offer"</a:t>
            </a:r>
            <a:r>
              <a:rPr lang="en-US" sz="1050" dirty="0">
                <a:solidFill>
                  <a:srgbClr val="FFFFFF"/>
                </a:solidFill>
                <a:latin typeface="Consolas" pitchFamily="34" charset="0"/>
                <a:ea typeface="Consolas" pitchFamily="34" charset="-122"/>
                <a:cs typeface="Consolas" pitchFamily="34" charset="-120"/>
              </a:rPr>
              <a:t>: 445000}</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(5) agent  DataPart - {</a:t>
            </a:r>
            <a:r>
              <a:rPr lang="en-US" sz="1050" dirty="0">
                <a:solidFill>
                  <a:srgbClr val="A2FCA2"/>
                </a:solidFill>
                <a:latin typeface="Consolas" pitchFamily="34" charset="0"/>
                <a:ea typeface="Consolas" pitchFamily="34" charset="-122"/>
                <a:cs typeface="Consolas" pitchFamily="34" charset="-120"/>
              </a:rPr>
              <a:t>"recorded"</a:t>
            </a:r>
            <a:r>
              <a:rPr lang="en-US" sz="1050" dirty="0">
                <a:solidFill>
                  <a:srgbClr val="FFFFFF"/>
                </a:solidFill>
                <a:latin typeface="Consolas" pitchFamily="34" charset="0"/>
                <a:ea typeface="Consolas" pitchFamily="34" charset="-122"/>
                <a:cs typeface="Consolas" pitchFamily="34" charset="-120"/>
              </a:rPr>
              <a:t>: </a:t>
            </a:r>
            <a:r>
              <a:rPr lang="en-US" sz="1050" dirty="0">
                <a:solidFill>
                  <a:srgbClr val="A2FCA2"/>
                </a:solidFill>
                <a:latin typeface="Consolas" pitchFamily="34" charset="0"/>
                <a:ea typeface="Consolas" pitchFamily="34" charset="-122"/>
                <a:cs typeface="Consolas" pitchFamily="34" charset="-120"/>
              </a:rPr>
              <a:t>"ACCEPT"</a:t>
            </a:r>
            <a:r>
              <a:rPr lang="en-US" sz="1050" dirty="0">
                <a:solidFill>
                  <a:srgbClr val="FFFFFF"/>
                </a:solidFill>
                <a:latin typeface="Consolas" pitchFamily="34" charset="0"/>
                <a:ea typeface="Consolas" pitchFamily="34" charset="-122"/>
                <a:cs typeface="Consolas" pitchFamily="34" charset="-120"/>
              </a:rPr>
              <a:t>, </a:t>
            </a:r>
            <a:r>
              <a:rPr lang="en-US" sz="1050" dirty="0">
                <a:solidFill>
                  <a:srgbClr val="A2FCA2"/>
                </a:solidFill>
                <a:latin typeface="Consolas" pitchFamily="34" charset="0"/>
                <a:ea typeface="Consolas" pitchFamily="34" charset="-122"/>
                <a:cs typeface="Consolas" pitchFamily="34" charset="-120"/>
              </a:rPr>
              <a:t>"price"</a:t>
            </a:r>
            <a:r>
              <a:rPr lang="en-US" sz="1050" dirty="0">
                <a:solidFill>
                  <a:srgbClr val="FFFFFF"/>
                </a:solidFill>
                <a:latin typeface="Consolas" pitchFamily="34" charset="0"/>
                <a:ea typeface="Consolas" pitchFamily="34" charset="-122"/>
                <a:cs typeface="Consolas" pitchFamily="34" charset="-120"/>
              </a:rPr>
              <a:t>: 445000}</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(6) agent  TextPart - </a:t>
            </a:r>
            <a:r>
              <a:rPr lang="en-US" sz="1050" dirty="0">
                <a:solidFill>
                  <a:srgbClr val="A2FCA2"/>
                </a:solidFill>
                <a:latin typeface="Consolas" pitchFamily="34" charset="0"/>
                <a:ea typeface="Consolas" pitchFamily="34" charset="-122"/>
                <a:cs typeface="Consolas" pitchFamily="34" charset="-120"/>
              </a:rPr>
              <a:t>"SELLER: I ACCEPT your offer of $445,000 ..."</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2. status.message ===   (none - the final </a:t>
            </a:r>
            <a:r>
              <a:rPr lang="en-US" sz="1050" dirty="0">
                <a:solidFill>
                  <a:srgbClr val="A2FCA2"/>
                </a:solidFill>
                <a:latin typeface="Consolas" pitchFamily="34" charset="0"/>
                <a:ea typeface="Consolas" pitchFamily="34" charset="-122"/>
                <a:cs typeface="Consolas" pitchFamily="34" charset="-120"/>
              </a:rPr>
              <a:t>'completed'</a:t>
            </a:r>
            <a:r>
              <a:rPr lang="en-US" sz="1050" dirty="0">
                <a:solidFill>
                  <a:srgbClr val="FFFFFF"/>
                </a:solidFill>
                <a:latin typeface="Consolas" pitchFamily="34" charset="0"/>
                <a:ea typeface="Consolas" pitchFamily="34" charset="-122"/>
                <a:cs typeface="Consolas" pitchFamily="34" charset="-120"/>
              </a:rPr>
              <a:t> update carries no message)</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3. artifacts (1) ===     artifactId=79ee2ece-...  TextPart </a:t>
            </a:r>
            <a:r>
              <a:rPr lang="en-US" sz="1050" dirty="0">
                <a:solidFill>
                  <a:srgbClr val="A2FCA2"/>
                </a:solidFill>
                <a:latin typeface="Consolas" pitchFamily="34" charset="0"/>
                <a:ea typeface="Consolas" pitchFamily="34" charset="-122"/>
                <a:cs typeface="Consolas" pitchFamily="34" charset="-120"/>
              </a:rPr>
              <a:t>"SELLER: I ACCEPT your offer of $445,000 ..."</a:t>
            </a:r>
            <a:endParaRPr lang="en-US" sz="1050" dirty="0"/>
          </a:p>
        </p:txBody>
      </p:sp>
      <p:sp>
        <p:nvSpPr>
          <p:cNvPr id="7" name="Shape 4"/>
          <p:cNvSpPr/>
          <p:nvPr/>
        </p:nvSpPr>
        <p:spPr>
          <a:xfrm>
            <a:off x="502920" y="4023360"/>
            <a:ext cx="11155680" cy="960120"/>
          </a:xfrm>
          <a:prstGeom prst="rect">
            <a:avLst/>
          </a:prstGeom>
          <a:solidFill>
            <a:srgbClr val="CCFBF1"/>
          </a:solidFill>
          <a:ln w="12700">
            <a:solidFill>
              <a:srgbClr val="CCFBF1"/>
            </a:solidFill>
            <a:prstDash val="solid"/>
          </a:ln>
        </p:spPr>
      </p:sp>
      <p:sp>
        <p:nvSpPr>
          <p:cNvPr id="8" name="Text 5"/>
          <p:cNvSpPr/>
          <p:nvPr/>
        </p:nvSpPr>
        <p:spPr>
          <a:xfrm>
            <a:off x="640080" y="4069080"/>
            <a:ext cx="10881360" cy="86868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$445K = exact floor → guaranteed acceptance. </a:t>
            </a:r>
            <a:r>
              <a:rPr lang="en-US" sz="1300" dirty="0">
                <a:solidFill>
                  <a:srgbClr val="1E293B"/>
                </a:solidFill>
                <a:latin typeface="Fira Sans" pitchFamily="34" charset="0"/>
                <a:ea typeface="Fira Sans" pitchFamily="34" charset="-122"/>
                <a:cs typeface="Fira Sans" pitchFamily="34" charset="-120"/>
              </a:rPr>
              <a:t>submit_decision records any offer at or above the floor as ACCEPT. Tool calls appear as DataParts in history — code can see exactly which tools ran, and what was decided, without parsing text.</a:t>
            </a:r>
            <a:endParaRPr lang="en-US" sz="13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Buyer vs Seller: </a:t>
            </a:r>
            <a:r>
              <a:rPr lang="en-US" sz="3000" b="1" dirty="0">
                <a:solidFill>
                  <a:srgbClr val="FFFFFF"/>
                </a:solidFill>
                <a:latin typeface="Fira Sans" pitchFamily="34" charset="0"/>
                <a:ea typeface="Fira Sans" pitchFamily="34" charset="-122"/>
                <a:cs typeface="Fira Sans" pitchFamily="34" charset="-120"/>
              </a:rPr>
              <a:t>Information Asymmetry</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The design point — and the two controls that enforce it</a:t>
            </a:r>
            <a:endParaRPr lang="en-US" sz="14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4937760" cy="914400"/>
        </p:xfrm>
        <a:graphic>
          <a:graphicData uri="http://schemas.openxmlformats.org/drawingml/2006/table">
            <a:tbl>
              <a:tblPr/>
              <a:tblGrid>
                <a:gridCol w="2560320"/>
                <a:gridCol w="1188720"/>
                <a:gridCol w="1188720"/>
              </a:tblGrid>
              <a:tr h="0">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Data</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Buyer</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300" b="1" dirty="0">
                          <a:solidFill>
                            <a:srgbClr val="FFFFFF"/>
                          </a:solidFill>
                          <a:latin typeface="Fira Sans" pitchFamily="34" charset="0"/>
                          <a:ea typeface="Fira Sans" pitchFamily="34" charset="-122"/>
                          <a:cs typeface="Fira Sans" pitchFamily="34" charset="-120"/>
                        </a:rPr>
                        <a:t>Seller</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Market price ($462K)</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Yes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Yes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Discount analysis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Yes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Yes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Inventory levels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No</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00" dirty="0">
                          <a:solidFill>
                            <a:srgbClr val="1E293B"/>
                          </a:solidFill>
                          <a:latin typeface="Fira Sans" pitchFamily="34" charset="0"/>
                          <a:ea typeface="Fira Sans" pitchFamily="34" charset="-122"/>
                          <a:cs typeface="Fira Sans" pitchFamily="34" charset="-120"/>
                        </a:rPr>
                        <a:t>Yes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E293B"/>
                          </a:solidFill>
                          <a:latin typeface="Fira Sans" pitchFamily="34" charset="0"/>
                          <a:ea typeface="Fira Sans" pitchFamily="34" charset="-122"/>
                          <a:cs typeface="Fira Sans" pitchFamily="34" charset="-120"/>
                        </a:rPr>
                        <a:t>Floor price ($445K)</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b="1" dirty="0">
                          <a:solidFill>
                            <a:srgbClr val="DC2626"/>
                          </a:solidFill>
                          <a:latin typeface="Fira Sans" pitchFamily="34" charset="0"/>
                          <a:ea typeface="Fira Sans" pitchFamily="34" charset="-122"/>
                          <a:cs typeface="Fira Sans" pitchFamily="34" charset="-120"/>
                        </a:rPr>
                        <a:t>No</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300" b="1" dirty="0">
                          <a:solidFill>
                            <a:srgbClr val="1E293B"/>
                          </a:solidFill>
                          <a:latin typeface="Fira Sans" pitchFamily="34" charset="0"/>
                          <a:ea typeface="Fira Sans" pitchFamily="34" charset="-122"/>
                          <a:cs typeface="Fira Sans" pitchFamily="34" charset="-120"/>
                        </a:rPr>
                        <a:t>Yes</a:t>
                      </a:r>
                      <a:endParaRPr lang="en-US" sz="13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6" name="Shape 2"/>
          <p:cNvSpPr/>
          <p:nvPr/>
        </p:nvSpPr>
        <p:spPr>
          <a:xfrm>
            <a:off x="5715000" y="1234440"/>
            <a:ext cx="5989320" cy="1691640"/>
          </a:xfrm>
          <a:prstGeom prst="rect">
            <a:avLst/>
          </a:prstGeom>
          <a:solidFill>
            <a:srgbClr val="FFFFFF"/>
          </a:solidFill>
          <a:ln w="19050">
            <a:solidFill>
              <a:srgbClr val="2563EB"/>
            </a:solidFill>
            <a:prstDash val="solid"/>
          </a:ln>
        </p:spPr>
      </p:sp>
      <p:sp>
        <p:nvSpPr>
          <p:cNvPr id="7" name="Shape 3"/>
          <p:cNvSpPr/>
          <p:nvPr/>
        </p:nvSpPr>
        <p:spPr>
          <a:xfrm>
            <a:off x="5715000" y="1234440"/>
            <a:ext cx="109728" cy="1691640"/>
          </a:xfrm>
          <a:prstGeom prst="rect">
            <a:avLst/>
          </a:prstGeom>
          <a:solidFill>
            <a:srgbClr val="2563EB"/>
          </a:solidFill>
          <a:ln w="12700">
            <a:solidFill>
              <a:srgbClr val="2563EB"/>
            </a:solidFill>
            <a:prstDash val="solid"/>
          </a:ln>
        </p:spPr>
      </p:sp>
      <p:sp>
        <p:nvSpPr>
          <p:cNvPr id="8" name="Text 4"/>
          <p:cNvSpPr/>
          <p:nvPr/>
        </p:nvSpPr>
        <p:spPr>
          <a:xfrm>
            <a:off x="5943600" y="1325880"/>
            <a:ext cx="5669280" cy="1508760"/>
          </a:xfrm>
          <a:prstGeom prst="rect">
            <a:avLst/>
          </a:prstGeom>
          <a:noFill/>
          <a:ln/>
        </p:spPr>
        <p:txBody>
          <a:bodyPr wrap="square" rtlCol="0" anchor="t"/>
          <a:lstStyle/>
          <a:p>
            <a:pPr indent="0" marL="0">
              <a:buNone/>
            </a:pPr>
            <a:r>
              <a:rPr lang="en-US" sz="1600" b="1" dirty="0">
                <a:solidFill>
                  <a:srgbClr val="2563EB"/>
                </a:solidFill>
                <a:latin typeface="Fira Sans" pitchFamily="34" charset="0"/>
                <a:ea typeface="Fira Sans" pitchFamily="34" charset="-122"/>
                <a:cs typeface="Fira Sans" pitchFamily="34" charset="-120"/>
              </a:rPr>
              <a:t>1. What an agent can CALL</a:t>
            </a:r>
            <a:endParaRPr lang="en-US" sz="1600" dirty="0"/>
          </a:p>
          <a:p>
            <a:pPr indent="0" marL="0">
              <a:buNone/>
            </a:pPr>
            <a:r>
              <a:rPr lang="en-US" sz="1300" dirty="0">
                <a:solidFill>
                  <a:srgbClr val="1E293B"/>
                </a:solidFill>
                <a:latin typeface="Fira Sans" pitchFamily="34" charset="0"/>
                <a:ea typeface="Fira Sans" pitchFamily="34" charset="-122"/>
                <a:cs typeface="Fira Sans" pitchFamily="34" charset="-120"/>
              </a:rPr>
              <a:t>before_tool_callback allowlist (d08 pattern). The buyer's allowlist has no get_minimum_acceptable_price — a call is blocked deterministically.</a:t>
            </a:r>
            <a:endParaRPr lang="en-US" sz="1600" dirty="0"/>
          </a:p>
        </p:txBody>
      </p:sp>
      <p:sp>
        <p:nvSpPr>
          <p:cNvPr id="9" name="Shape 5"/>
          <p:cNvSpPr/>
          <p:nvPr/>
        </p:nvSpPr>
        <p:spPr>
          <a:xfrm>
            <a:off x="5715000" y="3108960"/>
            <a:ext cx="5989320" cy="1691640"/>
          </a:xfrm>
          <a:prstGeom prst="rect">
            <a:avLst/>
          </a:prstGeom>
          <a:solidFill>
            <a:srgbClr val="FFFFFF"/>
          </a:solidFill>
          <a:ln w="19050">
            <a:solidFill>
              <a:srgbClr val="DC2626"/>
            </a:solidFill>
            <a:prstDash val="solid"/>
          </a:ln>
        </p:spPr>
      </p:sp>
      <p:sp>
        <p:nvSpPr>
          <p:cNvPr id="10" name="Shape 6"/>
          <p:cNvSpPr/>
          <p:nvPr/>
        </p:nvSpPr>
        <p:spPr>
          <a:xfrm>
            <a:off x="5715000" y="3108960"/>
            <a:ext cx="109728" cy="1691640"/>
          </a:xfrm>
          <a:prstGeom prst="rect">
            <a:avLst/>
          </a:prstGeom>
          <a:solidFill>
            <a:srgbClr val="DC2626"/>
          </a:solidFill>
          <a:ln w="12700">
            <a:solidFill>
              <a:srgbClr val="DC2626"/>
            </a:solidFill>
            <a:prstDash val="solid"/>
          </a:ln>
        </p:spPr>
      </p:sp>
      <p:sp>
        <p:nvSpPr>
          <p:cNvPr id="11" name="Text 7"/>
          <p:cNvSpPr/>
          <p:nvPr/>
        </p:nvSpPr>
        <p:spPr>
          <a:xfrm>
            <a:off x="5943600" y="3200400"/>
            <a:ext cx="5669280" cy="1508760"/>
          </a:xfrm>
          <a:prstGeom prst="rect">
            <a:avLst/>
          </a:prstGeom>
          <a:noFill/>
          <a:ln/>
        </p:spPr>
        <p:txBody>
          <a:bodyPr wrap="square" rtlCol="0" anchor="t"/>
          <a:lstStyle/>
          <a:p>
            <a:pPr indent="0" marL="0">
              <a:buNone/>
            </a:pPr>
            <a:r>
              <a:rPr lang="en-US" sz="1600" b="1" dirty="0">
                <a:solidFill>
                  <a:srgbClr val="DC2626"/>
                </a:solidFill>
                <a:latin typeface="Fira Sans" pitchFamily="34" charset="0"/>
                <a:ea typeface="Fira Sans" pitchFamily="34" charset="-122"/>
                <a:cs typeface="Fira Sans" pitchFamily="34" charset="-120"/>
              </a:rPr>
              <a:t>2. What an agent can READ</a:t>
            </a:r>
            <a:endParaRPr lang="en-US" sz="1600" dirty="0"/>
          </a:p>
          <a:p>
            <a:pPr indent="0" marL="0">
              <a:buNone/>
            </a:pPr>
            <a:r>
              <a:rPr lang="en-US" sz="1300" dirty="0">
                <a:solidFill>
                  <a:srgbClr val="1E293B"/>
                </a:solidFill>
                <a:latin typeface="Fira Sans" pitchFamily="34" charset="0"/>
                <a:ea typeface="Fira Sans" pitchFamily="34" charset="-122"/>
                <a:cs typeface="Fira Sans" pitchFamily="34" charset="-120"/>
              </a:rPr>
              <a:t>include_contents="none" on the buyer. In a shared session ADK shows each agent the others' tool results — without this, the buyer reads the seller's floor.</a:t>
            </a:r>
            <a:endParaRPr lang="en-US" sz="1600" dirty="0"/>
          </a:p>
        </p:txBody>
      </p:sp>
      <p:sp>
        <p:nvSpPr>
          <p:cNvPr id="12" name="Shape 8"/>
          <p:cNvSpPr/>
          <p:nvPr/>
        </p:nvSpPr>
        <p:spPr>
          <a:xfrm>
            <a:off x="502920" y="3657600"/>
            <a:ext cx="4937760" cy="1051560"/>
          </a:xfrm>
          <a:prstGeom prst="rect">
            <a:avLst/>
          </a:prstGeom>
          <a:solidFill>
            <a:srgbClr val="FFFFFF"/>
          </a:solidFill>
          <a:ln w="12700">
            <a:solidFill>
              <a:srgbClr val="FFFFFF"/>
            </a:solidFill>
            <a:prstDash val="solid"/>
          </a:ln>
        </p:spPr>
      </p:sp>
      <p:sp>
        <p:nvSpPr>
          <p:cNvPr id="13" name="Text 9"/>
          <p:cNvSpPr/>
          <p:nvPr/>
        </p:nvSpPr>
        <p:spPr>
          <a:xfrm>
            <a:off x="640080" y="3703320"/>
            <a:ext cx="4663440" cy="960120"/>
          </a:xfrm>
          <a:prstGeom prst="rect">
            <a:avLst/>
          </a:prstGeom>
          <a:noFill/>
          <a:ln/>
        </p:spPr>
        <p:txBody>
          <a:bodyPr wrap="square" lIns="254" tIns="254" rIns="254" bIns="254" rtlCol="0" anchor="ctr"/>
          <a:lstStyle/>
          <a:p>
            <a:pPr indent="0" marL="0">
              <a:buNone/>
            </a:pPr>
            <a:r>
              <a:rPr lang="en-US" sz="1250" dirty="0">
                <a:solidFill>
                  <a:srgbClr val="1E293B"/>
                </a:solidFill>
                <a:latin typeface="Fira Sans" pitchFamily="34" charset="0"/>
                <a:ea typeface="Fira Sans" pitchFamily="34" charset="-122"/>
                <a:cs typeface="Fira Sans" pitchFamily="34" charset="-120"/>
              </a:rPr>
              <a:t>Seller-only tools: get_inventory_level, get_minimum_acceptable_price, submit_decision. The buyer has get_market_price, calculate_discount, submit_offer.</a:t>
            </a:r>
            <a:endParaRPr lang="en-US" sz="12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4"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The Context Leak: </a:t>
            </a:r>
            <a:r>
              <a:rPr lang="en-US" sz="3000" b="1" dirty="0">
                <a:solidFill>
                  <a:srgbClr val="FFFFFF"/>
                </a:solidFill>
                <a:latin typeface="Fira Sans" pitchFamily="34" charset="0"/>
                <a:ea typeface="Fira Sans" pitchFamily="34" charset="-122"/>
                <a:cs typeface="Fira Sans" pitchFamily="34" charset="-120"/>
              </a:rPr>
              <a:t>An Allowlist Isn't Enough</a:t>
            </a:r>
            <a:endParaRPr lang="en-US" sz="3000" dirty="0"/>
          </a:p>
        </p:txBody>
      </p:sp>
      <p:sp>
        <p:nvSpPr>
          <p:cNvPr id="5" name="Text 1"/>
          <p:cNvSpPr/>
          <p:nvPr/>
        </p:nvSpPr>
        <p:spPr>
          <a:xfrm>
            <a:off x="502920" y="914400"/>
            <a:ext cx="11155680" cy="685800"/>
          </a:xfrm>
          <a:prstGeom prst="rect">
            <a:avLst/>
          </a:prstGeom>
          <a:noFill/>
          <a:ln/>
        </p:spPr>
        <p:txBody>
          <a:bodyPr wrap="square" lIns="635" tIns="635" rIns="635" bIns="635" rtlCol="0" anchor="t"/>
          <a:lstStyle/>
          <a:p>
            <a:pPr algn="l" indent="0" marL="0">
              <a:buNone/>
            </a:pPr>
            <a:r>
              <a:rPr lang="en-US" sz="1400" dirty="0">
                <a:solidFill>
                  <a:srgbClr val="FFFFFF"/>
                </a:solidFill>
                <a:latin typeface="Fira Sans" pitchFamily="34" charset="0"/>
                <a:ea typeface="Fira Sans" pitchFamily="34" charset="-122"/>
                <a:cs typeface="Fira Sans" pitchFamily="34" charset="-120"/>
              </a:rPr>
              <a:t>Buyer and seller share one session in the negotiation orchestrator. By default ADK relays the other agents' turns to each agent as context — tool calls AND tool results:</a:t>
            </a:r>
            <a:endParaRPr lang="en-US" sz="1400" dirty="0"/>
          </a:p>
        </p:txBody>
      </p:sp>
      <p:sp>
        <p:nvSpPr>
          <p:cNvPr id="6" name="Shape 2"/>
          <p:cNvSpPr/>
          <p:nvPr/>
        </p:nvSpPr>
        <p:spPr>
          <a:xfrm>
            <a:off x="502920" y="1691640"/>
            <a:ext cx="11155680" cy="731520"/>
          </a:xfrm>
          <a:prstGeom prst="rect">
            <a:avLst/>
          </a:prstGeom>
          <a:solidFill>
            <a:srgbClr val="333333"/>
          </a:solidFill>
          <a:ln w="12700">
            <a:solidFill>
              <a:srgbClr val="333333"/>
            </a:solidFill>
            <a:prstDash val="solid"/>
          </a:ln>
        </p:spPr>
      </p:sp>
      <p:sp>
        <p:nvSpPr>
          <p:cNvPr id="7" name="Text 3"/>
          <p:cNvSpPr/>
          <p:nvPr/>
        </p:nvSpPr>
        <p:spPr>
          <a:xfrm>
            <a:off x="576072" y="1746504"/>
            <a:ext cx="11009376" cy="621792"/>
          </a:xfrm>
          <a:prstGeom prst="rect">
            <a:avLst/>
          </a:prstGeom>
          <a:noFill/>
          <a:ln/>
        </p:spPr>
        <p:txBody>
          <a:bodyPr wrap="square" lIns="635" tIns="635" rIns="635" bIns="635" rtlCol="0" anchor="t"/>
          <a:lstStyle/>
          <a:p>
            <a:pPr indent="0" marL="0">
              <a:buNone/>
            </a:pPr>
            <a:r>
              <a:rPr lang="en-US" sz="1050" dirty="0">
                <a:solidFill>
                  <a:srgbClr val="FFFFFF"/>
                </a:solidFill>
                <a:latin typeface="Consolas" pitchFamily="34" charset="0"/>
                <a:ea typeface="Consolas" pitchFamily="34" charset="-122"/>
                <a:cs typeface="Consolas" pitchFamily="34" charset="-120"/>
              </a:rPr>
              <a:t>[seller] called tool `get_minimum_acceptable_price` with parameters: {</a:t>
            </a:r>
            <a:r>
              <a:rPr lang="en-US" sz="1050" dirty="0">
                <a:solidFill>
                  <a:srgbClr val="A2FCA2"/>
                </a:solidFill>
                <a:latin typeface="Consolas" pitchFamily="34" charset="0"/>
                <a:ea typeface="Consolas" pitchFamily="34" charset="-122"/>
                <a:cs typeface="Consolas" pitchFamily="34" charset="-120"/>
              </a:rPr>
              <a:t>'property_id'</a:t>
            </a:r>
            <a:r>
              <a:rPr lang="en-US" sz="1050" dirty="0">
                <a:solidFill>
                  <a:srgbClr val="FFFFFF"/>
                </a:solidFill>
                <a:latin typeface="Consolas" pitchFamily="34" charset="0"/>
                <a:ea typeface="Consolas" pitchFamily="34" charset="-122"/>
                <a:cs typeface="Consolas" pitchFamily="34" charset="-120"/>
              </a:rPr>
              <a:t>: </a:t>
            </a:r>
            <a:r>
              <a:rPr lang="en-US" sz="1050" dirty="0">
                <a:solidFill>
                  <a:srgbClr val="A2FCA2"/>
                </a:solidFill>
                <a:latin typeface="Consolas" pitchFamily="34" charset="0"/>
                <a:ea typeface="Consolas" pitchFamily="34" charset="-122"/>
                <a:cs typeface="Consolas" pitchFamily="34" charset="-120"/>
              </a:rPr>
              <a:t>'742-evergreen-austin-78701'</a:t>
            </a: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[seller] `get_minimum_acceptable_price` tool returned result: {... </a:t>
            </a:r>
            <a:r>
              <a:rPr lang="en-US" sz="1050" dirty="0">
                <a:solidFill>
                  <a:srgbClr val="A2FCA2"/>
                </a:solidFill>
                <a:latin typeface="Consolas" pitchFamily="34" charset="0"/>
                <a:ea typeface="Consolas" pitchFamily="34" charset="-122"/>
                <a:cs typeface="Consolas" pitchFamily="34" charset="-120"/>
              </a:rPr>
              <a:t>"minimum_acceptable_price"</a:t>
            </a:r>
            <a:r>
              <a:rPr lang="en-US" sz="1050" dirty="0">
                <a:solidFill>
                  <a:srgbClr val="FFFFFF"/>
                </a:solidFill>
                <a:latin typeface="Consolas" pitchFamily="34" charset="0"/>
                <a:ea typeface="Consolas" pitchFamily="34" charset="-122"/>
                <a:cs typeface="Consolas" pitchFamily="34" charset="-120"/>
              </a:rPr>
              <a:t>: 445000 ...}</a:t>
            </a:r>
            <a:endParaRPr lang="en-US" sz="105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502920" y="2606040"/>
          <a:ext cx="11155680" cy="914400"/>
        </p:xfrm>
        <a:graphic>
          <a:graphicData uri="http://schemas.openxmlformats.org/drawingml/2006/table">
            <a:tbl>
              <a:tblPr/>
              <a:tblGrid>
                <a:gridCol w="2743200"/>
                <a:gridCol w="4572000"/>
                <a:gridCol w="3840480"/>
              </a:tblGrid>
              <a:tr h="0">
                <a:tc>
                  <a:txBody>
                    <a:bodyPr/>
                    <a:lstStyle/>
                    <a:p>
                      <a:pPr indent="0" marL="0">
                        <a:buNone/>
                      </a:pPr>
                      <a:r>
                        <a:rPr lang="en-US" sz="1250" b="1" dirty="0">
                          <a:solidFill>
                            <a:srgbClr val="FFFFFF"/>
                          </a:solidFill>
                          <a:latin typeface="Fira Sans" pitchFamily="34" charset="0"/>
                          <a:ea typeface="Fira Sans" pitchFamily="34" charset="-122"/>
                          <a:cs typeface="Fira Sans" pitchFamily="34" charset="-120"/>
                        </a:rPr>
                        <a:t>Buyer setting</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50" b="1" dirty="0">
                          <a:solidFill>
                            <a:srgbClr val="FFFFFF"/>
                          </a:solidFill>
                          <a:latin typeface="Fira Sans" pitchFamily="34" charset="0"/>
                          <a:ea typeface="Fira Sans" pitchFamily="34" charset="-122"/>
                          <a:cs typeface="Fira Sans" pitchFamily="34" charset="-120"/>
                        </a:rPr>
                        <a:t>Buyer LLM calls that contained the seller's floor result</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50" b="1" dirty="0">
                          <a:solidFill>
                            <a:srgbClr val="FFFFFF"/>
                          </a:solidFill>
                          <a:latin typeface="Fira Sans" pitchFamily="34" charset="0"/>
                          <a:ea typeface="Fira Sans" pitchFamily="34" charset="-122"/>
                          <a:cs typeface="Fira Sans" pitchFamily="34" charset="-120"/>
                        </a:rPr>
                        <a:t>Outcome</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50" dirty="0">
                          <a:solidFill>
                            <a:srgbClr val="1E293B"/>
                          </a:solidFill>
                          <a:latin typeface="Fira Sans" pitchFamily="34" charset="0"/>
                          <a:ea typeface="Fira Sans" pitchFamily="34" charset="-122"/>
                          <a:cs typeface="Fira Sans" pitchFamily="34" charset="-120"/>
                        </a:rPr>
                        <a:t>include_contents="default"</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293B"/>
                          </a:solidFill>
                          <a:latin typeface="Fira Sans" pitchFamily="34" charset="0"/>
                          <a:ea typeface="Fira Sans" pitchFamily="34" charset="-122"/>
                          <a:cs typeface="Fira Sans" pitchFamily="34" charset="-120"/>
                        </a:rPr>
                        <a:t>every call from round 2 on</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50" dirty="0">
                          <a:solidFill>
                            <a:srgbClr val="1E293B"/>
                          </a:solidFill>
                          <a:latin typeface="Fira Sans" pitchFamily="34" charset="0"/>
                          <a:ea typeface="Fira Sans" pitchFamily="34" charset="-122"/>
                          <a:cs typeface="Fira Sans" pitchFamily="34" charset="-120"/>
                        </a:rPr>
                        <a:t>deal at exactly $445,000 — the floor</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50" dirty="0">
                          <a:solidFill>
                            <a:srgbClr val="1E293B"/>
                          </a:solidFill>
                          <a:latin typeface="Fira Sans" pitchFamily="34" charset="0"/>
                          <a:ea typeface="Fira Sans" pitchFamily="34" charset="-122"/>
                          <a:cs typeface="Fira Sans" pitchFamily="34" charset="-120"/>
                        </a:rPr>
                        <a:t>include_contents="none"</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50" dirty="0">
                          <a:solidFill>
                            <a:srgbClr val="1E293B"/>
                          </a:solidFill>
                          <a:latin typeface="Fira Sans" pitchFamily="34" charset="0"/>
                          <a:ea typeface="Fira Sans" pitchFamily="34" charset="-122"/>
                          <a:cs typeface="Fira Sans" pitchFamily="34" charset="-120"/>
                        </a:rPr>
                        <a:t>0 of 9 (3 runs)</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50" dirty="0">
                          <a:solidFill>
                            <a:srgbClr val="1E293B"/>
                          </a:solidFill>
                          <a:latin typeface="Fira Sans" pitchFamily="34" charset="0"/>
                          <a:ea typeface="Fira Sans" pitchFamily="34" charset="-122"/>
                          <a:cs typeface="Fira Sans" pitchFamily="34" charset="-120"/>
                        </a:rPr>
                        <a:t>offers 425K → 437K → 448K; deals $446K–$453K</a:t>
                      </a:r>
                      <a:endParaRPr lang="en-US" sz="12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9" name="Shape 4"/>
          <p:cNvSpPr/>
          <p:nvPr/>
        </p:nvSpPr>
        <p:spPr>
          <a:xfrm>
            <a:off x="502920" y="3977640"/>
            <a:ext cx="11155680" cy="868680"/>
          </a:xfrm>
          <a:prstGeom prst="rect">
            <a:avLst/>
          </a:prstGeom>
          <a:solidFill>
            <a:srgbClr val="333333"/>
          </a:solidFill>
          <a:ln w="12700">
            <a:solidFill>
              <a:srgbClr val="333333"/>
            </a:solidFill>
            <a:prstDash val="solid"/>
          </a:ln>
        </p:spPr>
      </p:sp>
      <p:sp>
        <p:nvSpPr>
          <p:cNvPr id="10" name="Text 5"/>
          <p:cNvSpPr/>
          <p:nvPr/>
        </p:nvSpPr>
        <p:spPr>
          <a:xfrm>
            <a:off x="576072" y="4032504"/>
            <a:ext cx="11009376" cy="75895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buyer = LlmAgent(name=</a:t>
            </a:r>
            <a:r>
              <a:rPr lang="en-US" sz="1100" dirty="0">
                <a:solidFill>
                  <a:srgbClr val="A2FCA2"/>
                </a:solidFill>
                <a:latin typeface="Consolas" pitchFamily="34" charset="0"/>
                <a:ea typeface="Consolas" pitchFamily="34" charset="-122"/>
                <a:cs typeface="Consolas" pitchFamily="34" charset="-120"/>
              </a:rPr>
              <a:t>"buyer"</a:t>
            </a:r>
            <a:r>
              <a:rPr lang="en-US" sz="1100" dirty="0">
                <a:solidFill>
                  <a:srgbClr val="FFFFFF"/>
                </a:solidFill>
                <a:latin typeface="Consolas" pitchFamily="34" charset="0"/>
                <a:ea typeface="Consolas" pitchFamily="34" charset="-122"/>
                <a:cs typeface="Consolas" pitchFamily="34" charset="-120"/>
              </a:rPr>
              <a:t>, include_contents=</a:t>
            </a:r>
            <a:r>
              <a:rPr lang="en-US" sz="1100" dirty="0">
                <a:solidFill>
                  <a:srgbClr val="A2FCA2"/>
                </a:solidFill>
                <a:latin typeface="Consolas" pitchFamily="34" charset="0"/>
                <a:ea typeface="Consolas" pitchFamily="34" charset="-122"/>
                <a:cs typeface="Consolas" pitchFamily="34" charset="-120"/>
              </a:rPr>
              <a:t>"none"</a:t>
            </a: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9CA3AF"/>
                </a:solidFill>
                <a:latin typeface="Consolas" pitchFamily="34" charset="0"/>
                <a:ea typeface="Consolas" pitchFamily="34" charset="-122"/>
                <a:cs typeface="Consolas" pitchFamily="34" charset="-120"/>
              </a:rPr>
              <a:t> # only its current turn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instruction=</a:t>
            </a:r>
            <a:r>
              <a:rPr lang="en-US" sz="1100" dirty="0">
                <a:solidFill>
                  <a:srgbClr val="A2FCA2"/>
                </a:solidFill>
                <a:latin typeface="Consolas" pitchFamily="34" charset="0"/>
                <a:ea typeface="Consolas" pitchFamily="34" charset="-122"/>
                <a:cs typeface="Consolas" pitchFamily="34" charset="-120"/>
              </a:rPr>
              <a:t>"... The seller's last response was:\n{seller_response}\n"</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"Your previous offer (empty in round 1):\n{buyer_offer?}"</a:t>
            </a:r>
            <a:r>
              <a:rPr lang="en-US" sz="1100" dirty="0">
                <a:solidFill>
                  <a:srgbClr val="FFFFFF"/>
                </a:solidFill>
                <a:latin typeface="Consolas" pitchFamily="34" charset="0"/>
                <a:ea typeface="Consolas" pitchFamily="34" charset="-122"/>
                <a:cs typeface="Consolas" pitchFamily="34" charset="-120"/>
              </a:rPr>
              <a:t>, ...)</a:t>
            </a:r>
            <a:endParaRPr lang="en-US" sz="1100" dirty="0"/>
          </a:p>
        </p:txBody>
      </p:sp>
      <p:sp>
        <p:nvSpPr>
          <p:cNvPr id="11" name="Shape 6"/>
          <p:cNvSpPr/>
          <p:nvPr/>
        </p:nvSpPr>
        <p:spPr>
          <a:xfrm>
            <a:off x="502920" y="5029200"/>
            <a:ext cx="11155680" cy="777240"/>
          </a:xfrm>
          <a:prstGeom prst="rect">
            <a:avLst/>
          </a:prstGeom>
          <a:solidFill>
            <a:srgbClr val="FEE2E2"/>
          </a:solidFill>
          <a:ln w="12700">
            <a:solidFill>
              <a:srgbClr val="FEE2E2"/>
            </a:solidFill>
            <a:prstDash val="solid"/>
          </a:ln>
        </p:spPr>
      </p:sp>
      <p:sp>
        <p:nvSpPr>
          <p:cNvPr id="12" name="Text 7"/>
          <p:cNvSpPr/>
          <p:nvPr/>
        </p:nvSpPr>
        <p:spPr>
          <a:xfrm>
            <a:off x="640080" y="5074920"/>
            <a:ext cx="10881360" cy="685800"/>
          </a:xfrm>
          <a:prstGeom prst="rect">
            <a:avLst/>
          </a:prstGeom>
          <a:noFill/>
          <a:ln/>
        </p:spPr>
        <p:txBody>
          <a:bodyPr wrap="square" lIns="254" tIns="254" rIns="254" bIns="254" rtlCol="0" anchor="ctr"/>
          <a:lstStyle/>
          <a:p>
            <a:pPr indent="0" marL="0">
              <a:buNone/>
            </a:pPr>
            <a:r>
              <a:rPr lang="en-US" sz="1400" b="1" dirty="0">
                <a:solidFill>
                  <a:srgbClr val="DC2626"/>
                </a:solidFill>
                <a:latin typeface="Fira Sans" pitchFamily="34" charset="0"/>
                <a:ea typeface="Fira Sans" pitchFamily="34" charset="-122"/>
                <a:cs typeface="Fira Sans" pitchFamily="34" charset="-120"/>
              </a:rPr>
              <a:t>Lesson: </a:t>
            </a:r>
            <a:r>
              <a:rPr lang="en-US" sz="1400" dirty="0">
                <a:solidFill>
                  <a:srgbClr val="1E293B"/>
                </a:solidFill>
                <a:latin typeface="Fira Sans" pitchFamily="34" charset="0"/>
                <a:ea typeface="Fira Sans" pitchFamily="34" charset="-122"/>
                <a:cs typeface="Fira Sans" pitchFamily="34" charset="-120"/>
              </a:rPr>
              <a:t>information asymmetry needs two controls — what an agent can CALL (allowlists) and what it can READ (its context). In a shared session, the second one is open unless you close it.</a:t>
            </a:r>
            <a:endParaRPr lang="en-US" sz="14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Buyer &amp; Seller: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Each agent on its own (actual runs, gpt-4o)</a:t>
            </a:r>
            <a:endParaRPr lang="en-US" sz="1400" dirty="0"/>
          </a:p>
        </p:txBody>
      </p:sp>
      <p:sp>
        <p:nvSpPr>
          <p:cNvPr id="5" name="Shape 2"/>
          <p:cNvSpPr/>
          <p:nvPr/>
        </p:nvSpPr>
        <p:spPr>
          <a:xfrm>
            <a:off x="502920" y="1234440"/>
            <a:ext cx="11155680" cy="3337560"/>
          </a:xfrm>
          <a:prstGeom prst="rect">
            <a:avLst/>
          </a:prstGeom>
          <a:solidFill>
            <a:srgbClr val="333333"/>
          </a:solidFill>
          <a:ln w="12700">
            <a:solidFill>
              <a:srgbClr val="333333"/>
            </a:solidFill>
            <a:prstDash val="solid"/>
          </a:ln>
        </p:spPr>
      </p:sp>
      <p:sp>
        <p:nvSpPr>
          <p:cNvPr id="6" name="Text 3"/>
          <p:cNvSpPr/>
          <p:nvPr/>
        </p:nvSpPr>
        <p:spPr>
          <a:xfrm>
            <a:off x="576072" y="1289304"/>
            <a:ext cx="11009376" cy="322783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BUYER  </a:t>
            </a:r>
            <a:r>
              <a:rPr lang="en-US" sz="1100" dirty="0">
                <a:solidFill>
                  <a:srgbClr val="A2FCA2"/>
                </a:solidFill>
                <a:latin typeface="Consolas" pitchFamily="34" charset="0"/>
                <a:ea typeface="Consolas" pitchFamily="34" charset="-122"/>
                <a:cs typeface="Consolas" pitchFamily="34" charset="-120"/>
              </a:rPr>
              <a:t>"What's 742 Evergreen Terrace worth?"</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-&gt; get_market_price -&gt; $462K estimated, $485K list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"I want to make an offer. What do you recommend?"</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-&gt; calculate_discount(485000, balanced, 18 days, good) -&gt; </a:t>
            </a:r>
            <a:r>
              <a:rPr lang="en-US" sz="1100" dirty="0">
                <a:solidFill>
                  <a:srgbClr val="A2FCA2"/>
                </a:solidFill>
                <a:latin typeface="Consolas" pitchFamily="34" charset="0"/>
                <a:ea typeface="Consolas" pitchFamily="34" charset="-122"/>
                <a:cs typeface="Consolas" pitchFamily="34" charset="-120"/>
              </a:rPr>
              <a:t>"~$425,000 (12% below asking)"</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SELLER </a:t>
            </a:r>
            <a:r>
              <a:rPr lang="en-US" sz="1100" dirty="0">
                <a:solidFill>
                  <a:srgbClr val="A2FCA2"/>
                </a:solidFill>
                <a:latin typeface="Consolas" pitchFamily="34" charset="0"/>
                <a:ea typeface="Consolas" pitchFamily="34" charset="-122"/>
                <a:cs typeface="Consolas" pitchFamily="34" charset="-120"/>
              </a:rPr>
              <a:t>"Buyer offers $440,000 with 30-day close"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-&gt; get_market_price + get_inventory_level + get_minimum_acceptable_price  (in parallel)</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-&gt; submit_decision(COUNTER, 477000)            </a:t>
            </a:r>
            <a:r>
              <a:rPr lang="en-US" sz="1100" dirty="0">
                <a:solidFill>
                  <a:srgbClr val="A2FCA2"/>
                </a:solidFill>
                <a:latin typeface="Consolas" pitchFamily="34" charset="0"/>
                <a:ea typeface="Consolas" pitchFamily="34" charset="-122"/>
                <a:cs typeface="Consolas" pitchFamily="34" charset="-120"/>
              </a:rPr>
              <a:t>"SELLER: We must COUNTER at $477,000..."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"Buyer increases to $446,000"</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-&gt; submit_decision(COUNTER, 470000)            &lt;- the model tried to counter</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&lt;- {recorded: ACCEPT, price: 446000, note: </a:t>
            </a:r>
            <a:r>
              <a:rPr lang="en-US" sz="1100" dirty="0">
                <a:solidFill>
                  <a:srgbClr val="A2FCA2"/>
                </a:solidFill>
                <a:latin typeface="Consolas" pitchFamily="34" charset="0"/>
                <a:ea typeface="Consolas" pitchFamily="34" charset="-122"/>
                <a:cs typeface="Consolas" pitchFamily="34" charset="-120"/>
              </a:rPr>
              <a:t>"...your reply MUST accept it"</a:t>
            </a:r>
            <a:r>
              <a:rPr lang="en-US" sz="1100" dirty="0">
                <a:solidFill>
                  <a:srgbClr val="FFFFFF"/>
                </a:solidFill>
                <a:latin typeface="Consolas" pitchFamily="34" charset="0"/>
                <a:ea typeface="Consolas" pitchFamily="34" charset="-122"/>
                <a:cs typeface="Consolas" pitchFamily="34" charset="-120"/>
              </a:rPr>
              <a: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a:t>
            </a:r>
            <a:r>
              <a:rPr lang="en-US" sz="1100" dirty="0">
                <a:solidFill>
                  <a:srgbClr val="A2FCA2"/>
                </a:solidFill>
                <a:latin typeface="Consolas" pitchFamily="34" charset="0"/>
                <a:ea typeface="Consolas" pitchFamily="34" charset="-122"/>
                <a:cs typeface="Consolas" pitchFamily="34" charset="-120"/>
              </a:rPr>
              <a:t>"SELLER: We ACCEPT the offer of $446,000..."</a:t>
            </a:r>
            <a:endParaRPr lang="en-US" sz="1100" dirty="0"/>
          </a:p>
        </p:txBody>
      </p:sp>
      <p:sp>
        <p:nvSpPr>
          <p:cNvPr id="7" name="Shape 4"/>
          <p:cNvSpPr/>
          <p:nvPr/>
        </p:nvSpPr>
        <p:spPr>
          <a:xfrm>
            <a:off x="502920" y="4709160"/>
            <a:ext cx="11155680" cy="960120"/>
          </a:xfrm>
          <a:prstGeom prst="rect">
            <a:avLst/>
          </a:prstGeom>
          <a:solidFill>
            <a:srgbClr val="CCFBF1"/>
          </a:solidFill>
          <a:ln w="12700">
            <a:solidFill>
              <a:srgbClr val="CCFBF1"/>
            </a:solidFill>
            <a:prstDash val="solid"/>
          </a:ln>
        </p:spPr>
      </p:sp>
      <p:sp>
        <p:nvSpPr>
          <p:cNvPr id="8" name="Text 5"/>
          <p:cNvSpPr/>
          <p:nvPr/>
        </p:nvSpPr>
        <p:spPr>
          <a:xfrm>
            <a:off x="640080" y="4754880"/>
            <a:ext cx="10881360" cy="868680"/>
          </a:xfrm>
          <a:prstGeom prst="rect">
            <a:avLst/>
          </a:prstGeom>
          <a:noFill/>
          <a:ln/>
        </p:spPr>
        <p:txBody>
          <a:bodyPr wrap="square" lIns="254" tIns="254" rIns="254" bIns="254" rtlCol="0" anchor="ctr"/>
          <a:lstStyle/>
          <a:p>
            <a:pPr indent="0" marL="0">
              <a:buNone/>
            </a:pPr>
            <a:r>
              <a:rPr lang="en-US" sz="1300" b="1" dirty="0">
                <a:solidFill>
                  <a:srgbClr val="0F766E"/>
                </a:solidFill>
                <a:latin typeface="Fira Sans" pitchFamily="34" charset="0"/>
                <a:ea typeface="Fira Sans" pitchFamily="34" charset="-122"/>
                <a:cs typeface="Fira Sans" pitchFamily="34" charset="-120"/>
              </a:rPr>
              <a:t>A rule that must hold lives in code. </a:t>
            </a:r>
            <a:r>
              <a:rPr lang="en-US" sz="1300" dirty="0">
                <a:solidFill>
                  <a:srgbClr val="1E293B"/>
                </a:solidFill>
                <a:latin typeface="Fira Sans" pitchFamily="34" charset="0"/>
                <a:ea typeface="Fira Sans" pitchFamily="34" charset="-122"/>
                <a:cs typeface="Fira Sans" pitchFamily="34" charset="-120"/>
              </a:rPr>
              <a:t>The instruction says accept at or above the floor; the model still countered $446K. submit_decision enforces the floor and records ACCEPT. The seller's three lookups are independent, so calling them in parallel is fine (unlike d09).</a:t>
            </a:r>
            <a:endParaRPr lang="en-US" sz="13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Negotiation Orchestrator: </a:t>
            </a:r>
            <a:r>
              <a:rPr lang="en-US" sz="3000" b="1" dirty="0">
                <a:solidFill>
                  <a:srgbClr val="FFFFFF"/>
                </a:solidFill>
                <a:latin typeface="Fira Sans" pitchFamily="34" charset="0"/>
                <a:ea typeface="Fira Sans" pitchFamily="34" charset="-122"/>
                <a:cs typeface="Fira Sans" pitchFamily="34" charset="-120"/>
              </a:rPr>
              <a:t>Composition</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Every demo in one file — negotiation/agent.py</a:t>
            </a:r>
            <a:endParaRPr lang="en-US" sz="1400" dirty="0"/>
          </a:p>
        </p:txBody>
      </p:sp>
      <p:sp>
        <p:nvSpPr>
          <p:cNvPr id="5" name="Shape 2"/>
          <p:cNvSpPr/>
          <p:nvPr/>
        </p:nvSpPr>
        <p:spPr>
          <a:xfrm>
            <a:off x="502920" y="1234440"/>
            <a:ext cx="11155680" cy="3429000"/>
          </a:xfrm>
          <a:prstGeom prst="rect">
            <a:avLst/>
          </a:prstGeom>
          <a:solidFill>
            <a:srgbClr val="333333"/>
          </a:solidFill>
          <a:ln w="12700">
            <a:solidFill>
              <a:srgbClr val="333333"/>
            </a:solidFill>
            <a:prstDash val="solid"/>
          </a:ln>
        </p:spPr>
      </p:sp>
      <p:sp>
        <p:nvSpPr>
          <p:cNvPr id="6" name="Text 3"/>
          <p:cNvSpPr/>
          <p:nvPr/>
        </p:nvSpPr>
        <p:spPr>
          <a:xfrm>
            <a:off x="576072" y="1289304"/>
            <a:ext cx="11009376" cy="3319272"/>
          </a:xfrm>
          <a:prstGeom prst="rect">
            <a:avLst/>
          </a:prstGeom>
          <a:noFill/>
          <a:ln/>
        </p:spPr>
        <p:txBody>
          <a:bodyPr wrap="square" lIns="635" tIns="635" rIns="635" bIns="635" rtlCol="0" anchor="t"/>
          <a:lstStyle/>
          <a:p>
            <a:pPr indent="0" marL="0">
              <a:buNone/>
            </a:pPr>
            <a:r>
              <a:rPr lang="en-US" sz="1000" dirty="0">
                <a:solidFill>
                  <a:srgbClr val="FFFFFF"/>
                </a:solidFill>
                <a:latin typeface="Consolas" pitchFamily="34" charset="0"/>
                <a:ea typeface="Consolas" pitchFamily="34" charset="-122"/>
                <a:cs typeface="Consolas" pitchFamily="34" charset="-120"/>
              </a:rPr>
              <a:t>def submit_decision(action: str, price: int, tool_context: ToolContext) -&gt; dict: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decision = _apply_floor_policy(action.upper(), price,                </a:t>
            </a:r>
            <a:r>
              <a:rPr lang="en-US" sz="1000" dirty="0">
                <a:solidFill>
                  <a:srgbClr val="9CA3AF"/>
                </a:solidFill>
                <a:latin typeface="Consolas" pitchFamily="34" charset="0"/>
                <a:ea typeface="Consolas" pitchFamily="34" charset="-122"/>
                <a:cs typeface="Consolas" pitchFamily="34" charset="-120"/>
              </a:rPr>
              <a:t> # floor enforced in code</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buyer_offer=tool_context.state.get(</a:t>
            </a:r>
            <a:r>
              <a:rPr lang="en-US" sz="1000" dirty="0">
                <a:solidFill>
                  <a:srgbClr val="A2FCA2"/>
                </a:solidFill>
                <a:latin typeface="Consolas" pitchFamily="34" charset="0"/>
                <a:ea typeface="Consolas" pitchFamily="34" charset="-122"/>
                <a:cs typeface="Consolas" pitchFamily="34" charset="-120"/>
              </a:rPr>
              <a:t>"buyer_offer_price"</a:t>
            </a:r>
            <a:r>
              <a:rPr lang="en-US" sz="1000" dirty="0">
                <a:solidFill>
                  <a:srgbClr val="FFFFFF"/>
                </a:solidFill>
                <a:latin typeface="Consolas" pitchFamily="34" charset="0"/>
                <a:ea typeface="Consolas" pitchFamily="34" charset="-122"/>
                <a:cs typeface="Consolas" pitchFamily="34" charset="-120"/>
              </a:rPr>
              <a:t>), floor=tool_context.state.get(</a:t>
            </a:r>
            <a:r>
              <a:rPr lang="en-US" sz="1000" dirty="0">
                <a:solidFill>
                  <a:srgbClr val="A2FCA2"/>
                </a:solidFill>
                <a:latin typeface="Consolas" pitchFamily="34" charset="0"/>
                <a:ea typeface="Consolas" pitchFamily="34" charset="-122"/>
                <a:cs typeface="Consolas" pitchFamily="34" charset="-120"/>
              </a:rPr>
              <a:t>"seller_floor_price"</a:t>
            </a:r>
            <a:r>
              <a:rPr lang="en-US" sz="1000" dirty="0">
                <a:solidFill>
                  <a:srgbClr val="FFFFFF"/>
                </a:solidFill>
                <a:latin typeface="Consolas" pitchFamily="34" charset="0"/>
                <a:ea typeface="Consolas" pitchFamily="34" charset="-122"/>
                <a:cs typeface="Consolas" pitchFamily="34" charset="-120"/>
              </a:rPr>
              <a: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tool_context.state[</a:t>
            </a:r>
            <a:r>
              <a:rPr lang="en-US" sz="1000" dirty="0">
                <a:solidFill>
                  <a:srgbClr val="A2FCA2"/>
                </a:solidFill>
                <a:latin typeface="Consolas" pitchFamily="34" charset="0"/>
                <a:ea typeface="Consolas" pitchFamily="34" charset="-122"/>
                <a:cs typeface="Consolas" pitchFamily="34" charset="-120"/>
              </a:rPr>
              <a:t>"seller_decision"</a:t>
            </a:r>
            <a:r>
              <a:rPr lang="en-US" sz="1000" dirty="0">
                <a:solidFill>
                  <a:srgbClr val="FFFFFF"/>
                </a:solidFill>
                <a:latin typeface="Consolas" pitchFamily="34" charset="0"/>
                <a:ea typeface="Consolas" pitchFamily="34" charset="-122"/>
                <a:cs typeface="Consolas" pitchFamily="34" charset="-120"/>
              </a:rPr>
              <a:t>] = {</a:t>
            </a:r>
            <a:r>
              <a:rPr lang="en-US" sz="1000" dirty="0">
                <a:solidFill>
                  <a:srgbClr val="A2FCA2"/>
                </a:solidFill>
                <a:latin typeface="Consolas" pitchFamily="34" charset="0"/>
                <a:ea typeface="Consolas" pitchFamily="34" charset="-122"/>
                <a:cs typeface="Consolas" pitchFamily="34" charset="-120"/>
              </a:rPr>
              <a:t>"action"</a:t>
            </a:r>
            <a:r>
              <a:rPr lang="en-US" sz="1000" dirty="0">
                <a:solidFill>
                  <a:srgbClr val="FFFFFF"/>
                </a:solidFill>
                <a:latin typeface="Consolas" pitchFamily="34" charset="0"/>
                <a:ea typeface="Consolas" pitchFamily="34" charset="-122"/>
                <a:cs typeface="Consolas" pitchFamily="34" charset="-120"/>
              </a:rPr>
              <a:t>: decision[</a:t>
            </a:r>
            <a:r>
              <a:rPr lang="en-US" sz="1000" dirty="0">
                <a:solidFill>
                  <a:srgbClr val="A2FCA2"/>
                </a:solidFill>
                <a:latin typeface="Consolas" pitchFamily="34" charset="0"/>
                <a:ea typeface="Consolas" pitchFamily="34" charset="-122"/>
                <a:cs typeface="Consolas" pitchFamily="34" charset="-120"/>
              </a:rPr>
              <a:t>"action"</a:t>
            </a:r>
            <a:r>
              <a:rPr lang="en-US" sz="1000" dirty="0">
                <a:solidFill>
                  <a:srgbClr val="FFFFFF"/>
                </a:solidFill>
                <a:latin typeface="Consolas" pitchFamily="34" charset="0"/>
                <a:ea typeface="Consolas" pitchFamily="34" charset="-122"/>
                <a:cs typeface="Consolas" pitchFamily="34" charset="-120"/>
              </a:rPr>
              <a:t>], </a:t>
            </a:r>
            <a:r>
              <a:rPr lang="en-US" sz="1000" dirty="0">
                <a:solidFill>
                  <a:srgbClr val="A2FCA2"/>
                </a:solidFill>
                <a:latin typeface="Consolas" pitchFamily="34" charset="0"/>
                <a:ea typeface="Consolas" pitchFamily="34" charset="-122"/>
                <a:cs typeface="Consolas" pitchFamily="34" charset="-120"/>
              </a:rPr>
              <a:t>"price"</a:t>
            </a:r>
            <a:r>
              <a:rPr lang="en-US" sz="1000" dirty="0">
                <a:solidFill>
                  <a:srgbClr val="FFFFFF"/>
                </a:solidFill>
                <a:latin typeface="Consolas" pitchFamily="34" charset="0"/>
                <a:ea typeface="Consolas" pitchFamily="34" charset="-122"/>
                <a:cs typeface="Consolas" pitchFamily="34" charset="-120"/>
              </a:rPr>
              <a:t>: decision[</a:t>
            </a:r>
            <a:r>
              <a:rPr lang="en-US" sz="1000" dirty="0">
                <a:solidFill>
                  <a:srgbClr val="A2FCA2"/>
                </a:solidFill>
                <a:latin typeface="Consolas" pitchFamily="34" charset="0"/>
                <a:ea typeface="Consolas" pitchFamily="34" charset="-122"/>
                <a:cs typeface="Consolas" pitchFamily="34" charset="-120"/>
              </a:rPr>
              <a:t>"price"</a:t>
            </a:r>
            <a:r>
              <a:rPr lang="en-US" sz="1000" dirty="0">
                <a:solidFill>
                  <a:srgbClr val="FFFFFF"/>
                </a:solidFill>
                <a:latin typeface="Consolas" pitchFamily="34" charset="0"/>
                <a:ea typeface="Consolas" pitchFamily="34" charset="-122"/>
                <a:cs typeface="Consolas" pitchFamily="34" charset="-120"/>
              </a:rPr>
              <a: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return {</a:t>
            </a:r>
            <a:r>
              <a:rPr lang="en-US" sz="1000" dirty="0">
                <a:solidFill>
                  <a:srgbClr val="A2FCA2"/>
                </a:solidFill>
                <a:latin typeface="Consolas" pitchFamily="34" charset="0"/>
                <a:ea typeface="Consolas" pitchFamily="34" charset="-122"/>
                <a:cs typeface="Consolas" pitchFamily="34" charset="-120"/>
              </a:rPr>
              <a:t>"recorded"</a:t>
            </a:r>
            <a:r>
              <a:rPr lang="en-US" sz="1000" dirty="0">
                <a:solidFill>
                  <a:srgbClr val="FFFFFF"/>
                </a:solidFill>
                <a:latin typeface="Consolas" pitchFamily="34" charset="0"/>
                <a:ea typeface="Consolas" pitchFamily="34" charset="-122"/>
                <a:cs typeface="Consolas" pitchFamily="34" charset="-120"/>
              </a:rPr>
              <a:t>: decision[</a:t>
            </a:r>
            <a:r>
              <a:rPr lang="en-US" sz="1000" dirty="0">
                <a:solidFill>
                  <a:srgbClr val="A2FCA2"/>
                </a:solidFill>
                <a:latin typeface="Consolas" pitchFamily="34" charset="0"/>
                <a:ea typeface="Consolas" pitchFamily="34" charset="-122"/>
                <a:cs typeface="Consolas" pitchFamily="34" charset="-120"/>
              </a:rPr>
              <a:t>"action"</a:t>
            </a:r>
            <a:r>
              <a:rPr lang="en-US" sz="1000" dirty="0">
                <a:solidFill>
                  <a:srgbClr val="FFFFFF"/>
                </a:solidFill>
                <a:latin typeface="Consolas" pitchFamily="34" charset="0"/>
                <a:ea typeface="Consolas" pitchFamily="34" charset="-122"/>
                <a:cs typeface="Consolas" pitchFamily="34" charset="-120"/>
              </a:rPr>
              <a:t>], </a:t>
            </a:r>
            <a:r>
              <a:rPr lang="en-US" sz="1000" dirty="0">
                <a:solidFill>
                  <a:srgbClr val="A2FCA2"/>
                </a:solidFill>
                <a:latin typeface="Consolas" pitchFamily="34" charset="0"/>
                <a:ea typeface="Consolas" pitchFamily="34" charset="-122"/>
                <a:cs typeface="Consolas" pitchFamily="34" charset="-120"/>
              </a:rPr>
              <a:t>"price"</a:t>
            </a:r>
            <a:r>
              <a:rPr lang="en-US" sz="1000" dirty="0">
                <a:solidFill>
                  <a:srgbClr val="FFFFFF"/>
                </a:solidFill>
                <a:latin typeface="Consolas" pitchFamily="34" charset="0"/>
                <a:ea typeface="Consolas" pitchFamily="34" charset="-122"/>
                <a:cs typeface="Consolas" pitchFamily="34" charset="-120"/>
              </a:rPr>
              <a:t>: decision[</a:t>
            </a:r>
            <a:r>
              <a:rPr lang="en-US" sz="1000" dirty="0">
                <a:solidFill>
                  <a:srgbClr val="A2FCA2"/>
                </a:solidFill>
                <a:latin typeface="Consolas" pitchFamily="34" charset="0"/>
                <a:ea typeface="Consolas" pitchFamily="34" charset="-122"/>
                <a:cs typeface="Consolas" pitchFamily="34" charset="-120"/>
              </a:rPr>
              <a:t>"price"</a:t>
            </a:r>
            <a:r>
              <a:rPr lang="en-US" sz="1000" dirty="0">
                <a:solidFill>
                  <a:srgbClr val="FFFFFF"/>
                </a:solidFill>
                <a:latin typeface="Consolas" pitchFamily="34" charset="0"/>
                <a:ea typeface="Consolas" pitchFamily="34" charset="-122"/>
                <a:cs typeface="Consolas" pitchFamily="34" charset="-120"/>
              </a:rPr>
              <a:t>], </a:t>
            </a:r>
            <a:r>
              <a:rPr lang="en-US" sz="1000" dirty="0">
                <a:solidFill>
                  <a:srgbClr val="A2FCA2"/>
                </a:solidFill>
                <a:latin typeface="Consolas" pitchFamily="34" charset="0"/>
                <a:ea typeface="Consolas" pitchFamily="34" charset="-122"/>
                <a:cs typeface="Consolas" pitchFamily="34" charset="-120"/>
              </a:rPr>
              <a:t>"note"</a:t>
            </a:r>
            <a:r>
              <a:rPr lang="en-US" sz="1000" dirty="0">
                <a:solidFill>
                  <a:srgbClr val="FFFFFF"/>
                </a:solidFill>
                <a:latin typeface="Consolas" pitchFamily="34" charset="0"/>
                <a:ea typeface="Consolas" pitchFamily="34" charset="-122"/>
                <a:cs typeface="Consolas" pitchFamily="34" charset="-120"/>
              </a:rPr>
              <a:t>: decision[</a:t>
            </a:r>
            <a:r>
              <a:rPr lang="en-US" sz="1000" dirty="0">
                <a:solidFill>
                  <a:srgbClr val="A2FCA2"/>
                </a:solidFill>
                <a:latin typeface="Consolas" pitchFamily="34" charset="0"/>
                <a:ea typeface="Consolas" pitchFamily="34" charset="-122"/>
                <a:cs typeface="Consolas" pitchFamily="34" charset="-120"/>
              </a:rPr>
              <a:t>"note"</a:t>
            </a:r>
            <a:r>
              <a:rPr lang="en-US" sz="1000" dirty="0">
                <a:solidFill>
                  <a:srgbClr val="FFFFFF"/>
                </a:solidFill>
                <a:latin typeface="Consolas" pitchFamily="34" charset="0"/>
                <a:ea typeface="Consolas" pitchFamily="34" charset="-122"/>
                <a:cs typeface="Consolas" pitchFamily="34" charset="-120"/>
              </a:rPr>
              <a: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def _check_agreement(callback_context):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decision = callback_context.state.get(</a:t>
            </a:r>
            <a:r>
              <a:rPr lang="en-US" sz="1000" dirty="0">
                <a:solidFill>
                  <a:srgbClr val="A2FCA2"/>
                </a:solidFill>
                <a:latin typeface="Consolas" pitchFamily="34" charset="0"/>
                <a:ea typeface="Consolas" pitchFamily="34" charset="-122"/>
                <a:cs typeface="Consolas" pitchFamily="34" charset="-120"/>
              </a:rPr>
              <a:t>"seller_decision"</a:t>
            </a:r>
            <a:r>
              <a:rPr lang="en-US" sz="1000" dirty="0">
                <a:solidFill>
                  <a:srgbClr val="FFFFFF"/>
                </a:solidFill>
                <a:latin typeface="Consolas" pitchFamily="34" charset="0"/>
                <a:ea typeface="Consolas" pitchFamily="34" charset="-122"/>
                <a:cs typeface="Consolas" pitchFamily="34" charset="-120"/>
              </a:rPr>
              <a: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if isinstance(decision, dict) and decision.get(</a:t>
            </a:r>
            <a:r>
              <a:rPr lang="en-US" sz="1000" dirty="0">
                <a:solidFill>
                  <a:srgbClr val="A2FCA2"/>
                </a:solidFill>
                <a:latin typeface="Consolas" pitchFamily="34" charset="0"/>
                <a:ea typeface="Consolas" pitchFamily="34" charset="-122"/>
                <a:cs typeface="Consolas" pitchFamily="34" charset="-120"/>
              </a:rPr>
              <a:t>"action"</a:t>
            </a:r>
            <a:r>
              <a:rPr lang="en-US" sz="1000" dirty="0">
                <a:solidFill>
                  <a:srgbClr val="FFFFFF"/>
                </a:solidFill>
                <a:latin typeface="Consolas" pitchFamily="34" charset="0"/>
                <a:ea typeface="Consolas" pitchFamily="34" charset="-122"/>
                <a:cs typeface="Consolas" pitchFamily="34" charset="-120"/>
              </a:rPr>
              <a:t>) == </a:t>
            </a:r>
            <a:r>
              <a:rPr lang="en-US" sz="1000" dirty="0">
                <a:solidFill>
                  <a:srgbClr val="A2FCA2"/>
                </a:solidFill>
                <a:latin typeface="Consolas" pitchFamily="34" charset="0"/>
                <a:ea typeface="Consolas" pitchFamily="34" charset="-122"/>
                <a:cs typeface="Consolas" pitchFamily="34" charset="-120"/>
              </a:rPr>
              <a:t>"ACCEPT"</a:t>
            </a:r>
            <a:r>
              <a:rPr lang="en-US" sz="1000" dirty="0">
                <a:solidFill>
                  <a:srgbClr val="FFFFFF"/>
                </a:solidFill>
                <a:latin typeface="Consolas" pitchFamily="34" charset="0"/>
                <a:ea typeface="Consolas" pitchFamily="34" charset="-122"/>
                <a:cs typeface="Consolas" pitchFamily="34" charset="-120"/>
              </a:rPr>
              <a: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callback_context.state[</a:t>
            </a:r>
            <a:r>
              <a:rPr lang="en-US" sz="1000" dirty="0">
                <a:solidFill>
                  <a:srgbClr val="A2FCA2"/>
                </a:solidFill>
                <a:latin typeface="Consolas" pitchFamily="34" charset="0"/>
                <a:ea typeface="Consolas" pitchFamily="34" charset="-122"/>
                <a:cs typeface="Consolas" pitchFamily="34" charset="-120"/>
              </a:rPr>
              <a:t>"loop_exit_reason"</a:t>
            </a:r>
            <a:r>
              <a:rPr lang="en-US" sz="1000" dirty="0">
                <a:solidFill>
                  <a:srgbClr val="FFFFFF"/>
                </a:solidFill>
                <a:latin typeface="Consolas" pitchFamily="34" charset="0"/>
                <a:ea typeface="Consolas" pitchFamily="34" charset="-122"/>
                <a:cs typeface="Consolas" pitchFamily="34" charset="-120"/>
              </a:rPr>
              <a:t>] = f</a:t>
            </a:r>
            <a:r>
              <a:rPr lang="en-US" sz="1000" dirty="0">
                <a:solidFill>
                  <a:srgbClr val="A2FCA2"/>
                </a:solidFill>
                <a:latin typeface="Consolas" pitchFamily="34" charset="0"/>
                <a:ea typeface="Consolas" pitchFamily="34" charset="-122"/>
                <a:cs typeface="Consolas" pitchFamily="34" charset="-120"/>
              </a:rPr>
              <a:t>"ACCEPT at ${decision['price']:,}"</a:t>
            </a:r>
            <a:r>
              <a:rPr lang="en-US" sz="1000" dirty="0">
                <a:solidFill>
                  <a:srgbClr val="FFFFFF"/>
                </a:solidFill>
                <a:latin typeface="Consolas" pitchFamily="34" charset="0"/>
                <a:ea typeface="Consolas" pitchFamily="34" charset="-122"/>
                <a:cs typeface="Consolas" pitchFamily="34" charset="-120"/>
              </a:rPr>
              <a:t>  </a:t>
            </a:r>
            <a:r>
              <a:rPr lang="en-US" sz="1000" dirty="0">
                <a:solidFill>
                  <a:srgbClr val="9CA3AF"/>
                </a:solidFill>
                <a:latin typeface="Consolas" pitchFamily="34" charset="0"/>
                <a:ea typeface="Consolas" pitchFamily="34" charset="-122"/>
                <a:cs typeface="Consolas" pitchFamily="34" charset="-120"/>
              </a:rPr>
              <a:t> # required</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callback_context.actions.escalate = True</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buyer = LlmAgent(output_key=</a:t>
            </a:r>
            <a:r>
              <a:rPr lang="en-US" sz="1000" dirty="0">
                <a:solidFill>
                  <a:srgbClr val="A2FCA2"/>
                </a:solidFill>
                <a:latin typeface="Consolas" pitchFamily="34" charset="0"/>
                <a:ea typeface="Consolas" pitchFamily="34" charset="-122"/>
                <a:cs typeface="Consolas" pitchFamily="34" charset="-120"/>
              </a:rPr>
              <a:t>"buyer_offer"</a:t>
            </a:r>
            <a:r>
              <a:rPr lang="en-US" sz="1000" dirty="0">
                <a:solidFill>
                  <a:srgbClr val="FFFFFF"/>
                </a:solidFill>
                <a:latin typeface="Consolas" pitchFamily="34" charset="0"/>
                <a:ea typeface="Consolas" pitchFamily="34" charset="-122"/>
                <a:cs typeface="Consolas" pitchFamily="34" charset="-120"/>
              </a:rPr>
              <a:t>, include_contents=</a:t>
            </a:r>
            <a:r>
              <a:rPr lang="en-US" sz="1000" dirty="0">
                <a:solidFill>
                  <a:srgbClr val="A2FCA2"/>
                </a:solidFill>
                <a:latin typeface="Consolas" pitchFamily="34" charset="0"/>
                <a:ea typeface="Consolas" pitchFamily="34" charset="-122"/>
                <a:cs typeface="Consolas" pitchFamily="34" charset="-120"/>
              </a:rPr>
              <a:t>"none"</a:t>
            </a:r>
            <a:r>
              <a:rPr lang="en-US" sz="1000" dirty="0">
                <a:solidFill>
                  <a:srgbClr val="FFFFFF"/>
                </a:solidFill>
                <a:latin typeface="Consolas" pitchFamily="34" charset="0"/>
                <a:ea typeface="Consolas" pitchFamily="34" charset="-122"/>
                <a:cs typeface="Consolas" pitchFamily="34" charset="-120"/>
              </a:rPr>
              <a: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tools=[McpToolset(pricing), submit_offer], before_tool_callback=_enforce_buyer_allowlist, ...)</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seller = LlmAgent(output_key=</a:t>
            </a:r>
            <a:r>
              <a:rPr lang="en-US" sz="1000" dirty="0">
                <a:solidFill>
                  <a:srgbClr val="A2FCA2"/>
                </a:solidFill>
                <a:latin typeface="Consolas" pitchFamily="34" charset="0"/>
                <a:ea typeface="Consolas" pitchFamily="34" charset="-122"/>
                <a:cs typeface="Consolas" pitchFamily="34" charset="-120"/>
              </a:rPr>
              <a:t>"seller_response"</a:t>
            </a:r>
            <a:r>
              <a:rPr lang="en-US" sz="1000" dirty="0">
                <a:solidFill>
                  <a:srgbClr val="FFFFFF"/>
                </a:solidFill>
                <a:latin typeface="Consolas" pitchFamily="34" charset="0"/>
                <a:ea typeface="Consolas" pitchFamily="34" charset="-122"/>
                <a:cs typeface="Consolas" pitchFamily="34" charset="-120"/>
              </a:rPr>
              <a: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tools=[McpToolset(pricing), McpToolset(inventory), submit_decision],</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    after_tool_callback=_remember_seller_floor, after_agent_callback=_check_agreement, ...)</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root_agent = LoopAgent(sub_agents=[SequentialAgent(sub_agents=[buyer, seller])], max_iterations=5)</a:t>
            </a:r>
            <a:endParaRPr lang="en-US" sz="10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502920" y="4754880"/>
          <a:ext cx="11155680" cy="914400"/>
        </p:xfrm>
        <a:graphic>
          <a:graphicData uri="http://schemas.openxmlformats.org/drawingml/2006/table">
            <a:tbl>
              <a:tblPr/>
              <a:tblGrid>
                <a:gridCol w="5120640"/>
                <a:gridCol w="6035040"/>
              </a:tblGrid>
              <a:tr h="219456">
                <a:tc>
                  <a:txBody>
                    <a:bodyPr/>
                    <a:lstStyle/>
                    <a:p>
                      <a:pPr indent="0" marL="0">
                        <a:buNone/>
                      </a:pPr>
                      <a:r>
                        <a:rPr lang="en-US" sz="1050" b="1" dirty="0">
                          <a:solidFill>
                            <a:srgbClr val="FFFFFF"/>
                          </a:solidFill>
                          <a:latin typeface="Fira Sans" pitchFamily="34" charset="0"/>
                          <a:ea typeface="Fira Sans" pitchFamily="34" charset="-122"/>
                          <a:cs typeface="Fira Sans" pitchFamily="34" charset="-120"/>
                        </a:rPr>
                        <a:t>Concept</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050" b="1" dirty="0">
                          <a:solidFill>
                            <a:srgbClr val="FFFFFF"/>
                          </a:solidFill>
                          <a:latin typeface="Fira Sans" pitchFamily="34" charset="0"/>
                          <a:ea typeface="Fira Sans" pitchFamily="34" charset="-122"/>
                          <a:cs typeface="Fira Sans" pitchFamily="34" charset="-120"/>
                        </a:rPr>
                        <a:t>Where</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219456">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LlmAgent (d01) + McpToolset (d02)</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buyer, seller</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19456">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output_key + {placeholder} (d04)</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buyer writes → seller reads</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219456">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SequentialAgent + LoopAgent (d04, d06)</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one round, max 5 rounds</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19456">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Callbacks (d08) + submit_offer / submit_decision</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050" dirty="0">
                          <a:solidFill>
                            <a:srgbClr val="1E293B"/>
                          </a:solidFill>
                          <a:latin typeface="Fira Sans" pitchFamily="34" charset="0"/>
                          <a:ea typeface="Fira Sans" pitchFamily="34" charset="-122"/>
                          <a:cs typeface="Fira Sans" pitchFamily="34" charset="-120"/>
                        </a:rPr>
                        <a:t>allowlists, floor memory, structured signal</a:t>
                      </a:r>
                      <a:endParaRPr lang="en-US" sz="105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Diagram: </a:t>
            </a:r>
            <a:r>
              <a:rPr lang="en-US" sz="3000" b="1" dirty="0">
                <a:solidFill>
                  <a:srgbClr val="FFFFFF"/>
                </a:solidFill>
                <a:latin typeface="Fira Sans" pitchFamily="34" charset="0"/>
                <a:ea typeface="Fira Sans" pitchFamily="34" charset="-122"/>
                <a:cs typeface="Fira Sans" pitchFamily="34" charset="-120"/>
              </a:rPr>
              <a:t>How It All Connects</a:t>
            </a:r>
            <a:endParaRPr lang="en-US" sz="3000" dirty="0"/>
          </a:p>
        </p:txBody>
      </p:sp>
      <p:sp>
        <p:nvSpPr>
          <p:cNvPr id="4" name="Shape 1"/>
          <p:cNvSpPr/>
          <p:nvPr/>
        </p:nvSpPr>
        <p:spPr>
          <a:xfrm>
            <a:off x="1280160" y="960120"/>
            <a:ext cx="9601200" cy="4572000"/>
          </a:xfrm>
          <a:prstGeom prst="roundRect">
            <a:avLst>
              <a:gd name="adj" fmla="val 3000"/>
            </a:avLst>
          </a:prstGeom>
          <a:solidFill>
            <a:srgbClr val="F5F3FF"/>
          </a:solidFill>
          <a:ln w="25400">
            <a:solidFill>
              <a:srgbClr val="7C3AED"/>
            </a:solidFill>
            <a:prstDash val="solid"/>
          </a:ln>
        </p:spPr>
      </p:sp>
      <p:sp>
        <p:nvSpPr>
          <p:cNvPr id="5" name="Shape 2"/>
          <p:cNvSpPr/>
          <p:nvPr/>
        </p:nvSpPr>
        <p:spPr>
          <a:xfrm>
            <a:off x="1280160" y="960120"/>
            <a:ext cx="9601200" cy="457200"/>
          </a:xfrm>
          <a:prstGeom prst="rect">
            <a:avLst/>
          </a:prstGeom>
          <a:solidFill>
            <a:srgbClr val="7C3AED"/>
          </a:solidFill>
          <a:ln w="12700">
            <a:solidFill>
              <a:srgbClr val="7C3AED"/>
            </a:solidFill>
            <a:prstDash val="solid"/>
          </a:ln>
        </p:spPr>
      </p:sp>
      <p:sp>
        <p:nvSpPr>
          <p:cNvPr id="6" name="Text 3"/>
          <p:cNvSpPr/>
          <p:nvPr/>
        </p:nvSpPr>
        <p:spPr>
          <a:xfrm>
            <a:off x="1463040" y="960120"/>
            <a:ext cx="9144000" cy="457200"/>
          </a:xfrm>
          <a:prstGeom prst="rect">
            <a:avLst/>
          </a:prstGeom>
          <a:noFill/>
          <a:ln/>
        </p:spPr>
        <p:txBody>
          <a:bodyPr wrap="square" rtlCol="0" anchor="ctr"/>
          <a:lstStyle/>
          <a:p>
            <a:pPr indent="0" marL="0">
              <a:buNone/>
            </a:pPr>
            <a:r>
              <a:rPr lang="en-US" sz="1500" b="1" dirty="0">
                <a:solidFill>
                  <a:srgbClr val="FFFFFF"/>
                </a:solidFill>
                <a:latin typeface="Fira Sans" pitchFamily="34" charset="0"/>
                <a:ea typeface="Fira Sans" pitchFamily="34" charset="-122"/>
                <a:cs typeface="Fira Sans" pitchFamily="34" charset="-120"/>
              </a:rPr>
              <a:t>LoopAgent (d06)</a:t>
            </a:r>
            <a:r>
              <a:rPr lang="en-US" sz="1500" dirty="0">
                <a:solidFill>
                  <a:srgbClr val="FFFFFF"/>
                </a:solidFill>
                <a:latin typeface="Fira Sans" pitchFamily="34" charset="0"/>
                <a:ea typeface="Fira Sans" pitchFamily="34" charset="-122"/>
                <a:cs typeface="Fira Sans" pitchFamily="34" charset="-120"/>
              </a:rPr>
              <a:t>      max_iterations = 5</a:t>
            </a:r>
            <a:endParaRPr lang="en-US" sz="1500" dirty="0"/>
          </a:p>
        </p:txBody>
      </p:sp>
      <p:sp>
        <p:nvSpPr>
          <p:cNvPr id="7" name="Shape 4"/>
          <p:cNvSpPr/>
          <p:nvPr/>
        </p:nvSpPr>
        <p:spPr>
          <a:xfrm>
            <a:off x="1554480" y="1600200"/>
            <a:ext cx="9052560" cy="2514600"/>
          </a:xfrm>
          <a:prstGeom prst="roundRect">
            <a:avLst>
              <a:gd name="adj" fmla="val 4364"/>
            </a:avLst>
          </a:prstGeom>
          <a:solidFill>
            <a:srgbClr val="EDE9FE"/>
          </a:solidFill>
          <a:ln w="12700">
            <a:solidFill>
              <a:srgbClr val="8B5CF6"/>
            </a:solidFill>
            <a:prstDash val="solid"/>
          </a:ln>
        </p:spPr>
      </p:sp>
      <p:sp>
        <p:nvSpPr>
          <p:cNvPr id="8" name="Text 5"/>
          <p:cNvSpPr/>
          <p:nvPr/>
        </p:nvSpPr>
        <p:spPr>
          <a:xfrm>
            <a:off x="1691640" y="1618488"/>
            <a:ext cx="5486400" cy="365760"/>
          </a:xfrm>
          <a:prstGeom prst="rect">
            <a:avLst/>
          </a:prstGeom>
          <a:noFill/>
          <a:ln/>
        </p:spPr>
        <p:txBody>
          <a:bodyPr wrap="square" rtlCol="0" anchor="ctr"/>
          <a:lstStyle/>
          <a:p>
            <a:pPr indent="0" marL="0">
              <a:buNone/>
            </a:pPr>
            <a:r>
              <a:rPr lang="en-US" sz="1300" b="1" dirty="0">
                <a:solidFill>
                  <a:srgbClr val="5B21B6"/>
                </a:solidFill>
                <a:latin typeface="Fira Sans" pitchFamily="34" charset="0"/>
                <a:ea typeface="Fira Sans" pitchFamily="34" charset="-122"/>
                <a:cs typeface="Fira Sans" pitchFamily="34" charset="-120"/>
              </a:rPr>
              <a:t>SequentialAgent (d04) — one round</a:t>
            </a:r>
            <a:endParaRPr lang="en-US" sz="1300" dirty="0"/>
          </a:p>
        </p:txBody>
      </p:sp>
      <p:sp>
        <p:nvSpPr>
          <p:cNvPr id="9" name="Shape 6"/>
          <p:cNvSpPr/>
          <p:nvPr/>
        </p:nvSpPr>
        <p:spPr>
          <a:xfrm>
            <a:off x="1737360" y="2011680"/>
            <a:ext cx="3840480" cy="1920240"/>
          </a:xfrm>
          <a:prstGeom prst="roundRect">
            <a:avLst>
              <a:gd name="adj" fmla="val 5714"/>
            </a:avLst>
          </a:prstGeom>
          <a:solidFill>
            <a:srgbClr val="DBEAFE"/>
          </a:solidFill>
          <a:ln w="15875">
            <a:solidFill>
              <a:srgbClr val="2563EB"/>
            </a:solidFill>
            <a:prstDash val="solid"/>
          </a:ln>
        </p:spPr>
      </p:sp>
      <p:sp>
        <p:nvSpPr>
          <p:cNvPr id="10" name="Text 7"/>
          <p:cNvSpPr/>
          <p:nvPr/>
        </p:nvSpPr>
        <p:spPr>
          <a:xfrm>
            <a:off x="1783080" y="2039112"/>
            <a:ext cx="3749040" cy="1865376"/>
          </a:xfrm>
          <a:prstGeom prst="rect">
            <a:avLst/>
          </a:prstGeom>
          <a:noFill/>
          <a:ln/>
        </p:spPr>
        <p:txBody>
          <a:bodyPr wrap="square" lIns="381" tIns="381" rIns="381" bIns="381" rtlCol="0" anchor="ctr"/>
          <a:lstStyle/>
          <a:p>
            <a:pPr algn="ctr" indent="0" marL="0">
              <a:buNone/>
            </a:pPr>
            <a:r>
              <a:rPr lang="en-US" sz="1250" dirty="0">
                <a:solidFill>
                  <a:srgbClr val="1E3A8A"/>
                </a:solidFill>
                <a:latin typeface="Fira Sans" pitchFamily="34" charset="0"/>
                <a:ea typeface="Fira Sans" pitchFamily="34" charset="-122"/>
                <a:cs typeface="Fira Sans" pitchFamily="34" charset="-120"/>
              </a:rPr>
              <a:t>buyer (d01)</a:t>
            </a:r>
            <a:endParaRPr lang="en-US" sz="1250" dirty="0"/>
          </a:p>
          <a:p>
            <a:pPr algn="ctr" indent="0" marL="0">
              <a:buNone/>
            </a:pPr>
            <a:r>
              <a:rPr lang="en-US" sz="1250" dirty="0">
                <a:solidFill>
                  <a:srgbClr val="1E3A8A"/>
                </a:solidFill>
                <a:latin typeface="Fira Sans" pitchFamily="34" charset="0"/>
                <a:ea typeface="Fira Sans" pitchFamily="34" charset="-122"/>
                <a:cs typeface="Fira Sans" pitchFamily="34" charset="-120"/>
              </a:rPr>
              <a:t>+ McpToolset: pricing (d02)</a:t>
            </a:r>
            <a:endParaRPr lang="en-US" sz="1250" dirty="0"/>
          </a:p>
          <a:p>
            <a:pPr algn="ctr" indent="0" marL="0">
              <a:buNone/>
            </a:pPr>
            <a:r>
              <a:rPr lang="en-US" sz="1250" dirty="0">
                <a:solidFill>
                  <a:srgbClr val="1E3A8A"/>
                </a:solidFill>
                <a:latin typeface="Fira Sans" pitchFamily="34" charset="0"/>
                <a:ea typeface="Fira Sans" pitchFamily="34" charset="-122"/>
                <a:cs typeface="Fira Sans" pitchFamily="34" charset="-120"/>
              </a:rPr>
              <a:t>+ submit_offer (budget in code)</a:t>
            </a:r>
            <a:endParaRPr lang="en-US" sz="1250" dirty="0"/>
          </a:p>
          <a:p>
            <a:pPr algn="ctr" indent="0" marL="0">
              <a:buNone/>
            </a:pPr>
            <a:r>
              <a:rPr lang="en-US" sz="1250" dirty="0">
                <a:solidFill>
                  <a:srgbClr val="1E3A8A"/>
                </a:solidFill>
                <a:latin typeface="Fira Sans" pitchFamily="34" charset="0"/>
                <a:ea typeface="Fira Sans" pitchFamily="34" charset="-122"/>
                <a:cs typeface="Fira Sans" pitchFamily="34" charset="-120"/>
              </a:rPr>
              <a:t>+ allowlist (d08)</a:t>
            </a:r>
            <a:endParaRPr lang="en-US" sz="1250" dirty="0"/>
          </a:p>
          <a:p>
            <a:pPr algn="ctr" indent="0" marL="0">
              <a:buNone/>
            </a:pPr>
            <a:r>
              <a:rPr lang="en-US" sz="1250" dirty="0">
                <a:solidFill>
                  <a:srgbClr val="1E3A8A"/>
                </a:solidFill>
                <a:latin typeface="Fira Sans" pitchFamily="34" charset="0"/>
                <a:ea typeface="Fira Sans" pitchFamily="34" charset="-122"/>
                <a:cs typeface="Fira Sans" pitchFamily="34" charset="-120"/>
              </a:rPr>
              <a:t>+ include_contents="none"</a:t>
            </a:r>
            <a:endParaRPr lang="en-US" sz="1250" dirty="0"/>
          </a:p>
        </p:txBody>
      </p:sp>
      <p:sp>
        <p:nvSpPr>
          <p:cNvPr id="11" name="Shape 8"/>
          <p:cNvSpPr/>
          <p:nvPr/>
        </p:nvSpPr>
        <p:spPr>
          <a:xfrm>
            <a:off x="6583680" y="2011680"/>
            <a:ext cx="3840480" cy="1920240"/>
          </a:xfrm>
          <a:prstGeom prst="roundRect">
            <a:avLst>
              <a:gd name="adj" fmla="val 5714"/>
            </a:avLst>
          </a:prstGeom>
          <a:solidFill>
            <a:srgbClr val="FFEDD5"/>
          </a:solidFill>
          <a:ln w="15875">
            <a:solidFill>
              <a:srgbClr val="EA580C"/>
            </a:solidFill>
            <a:prstDash val="solid"/>
          </a:ln>
        </p:spPr>
      </p:sp>
      <p:sp>
        <p:nvSpPr>
          <p:cNvPr id="12" name="Text 9"/>
          <p:cNvSpPr/>
          <p:nvPr/>
        </p:nvSpPr>
        <p:spPr>
          <a:xfrm>
            <a:off x="6629400" y="2039112"/>
            <a:ext cx="3749040" cy="1865376"/>
          </a:xfrm>
          <a:prstGeom prst="rect">
            <a:avLst/>
          </a:prstGeom>
          <a:noFill/>
          <a:ln/>
        </p:spPr>
        <p:txBody>
          <a:bodyPr wrap="square" lIns="381" tIns="381" rIns="381" bIns="381" rtlCol="0" anchor="ctr"/>
          <a:lstStyle/>
          <a:p>
            <a:pPr algn="ctr" indent="0" marL="0">
              <a:buNone/>
            </a:pPr>
            <a:r>
              <a:rPr lang="en-US" sz="1250" dirty="0">
                <a:solidFill>
                  <a:srgbClr val="7C2D12"/>
                </a:solidFill>
                <a:latin typeface="Fira Sans" pitchFamily="34" charset="0"/>
                <a:ea typeface="Fira Sans" pitchFamily="34" charset="-122"/>
                <a:cs typeface="Fira Sans" pitchFamily="34" charset="-120"/>
              </a:rPr>
              <a:t>seller (d01)</a:t>
            </a:r>
            <a:endParaRPr lang="en-US" sz="1250" dirty="0"/>
          </a:p>
          <a:p>
            <a:pPr algn="ctr" indent="0" marL="0">
              <a:buNone/>
            </a:pPr>
            <a:r>
              <a:rPr lang="en-US" sz="1250" dirty="0">
                <a:solidFill>
                  <a:srgbClr val="7C2D12"/>
                </a:solidFill>
                <a:latin typeface="Fira Sans" pitchFamily="34" charset="0"/>
                <a:ea typeface="Fira Sans" pitchFamily="34" charset="-122"/>
                <a:cs typeface="Fira Sans" pitchFamily="34" charset="-120"/>
              </a:rPr>
              <a:t>+ McpToolset ×2: pricing, inventory (d02)</a:t>
            </a:r>
            <a:endParaRPr lang="en-US" sz="1250" dirty="0"/>
          </a:p>
          <a:p>
            <a:pPr algn="ctr" indent="0" marL="0">
              <a:buNone/>
            </a:pPr>
            <a:r>
              <a:rPr lang="en-US" sz="1250" dirty="0">
                <a:solidFill>
                  <a:srgbClr val="7C2D12"/>
                </a:solidFill>
                <a:latin typeface="Fira Sans" pitchFamily="34" charset="0"/>
                <a:ea typeface="Fira Sans" pitchFamily="34" charset="-122"/>
                <a:cs typeface="Fira Sans" pitchFamily="34" charset="-120"/>
              </a:rPr>
              <a:t>+ submit_decision (floor in code)</a:t>
            </a:r>
            <a:endParaRPr lang="en-US" sz="1250" dirty="0"/>
          </a:p>
          <a:p>
            <a:pPr algn="ctr" indent="0" marL="0">
              <a:buNone/>
            </a:pPr>
            <a:r>
              <a:rPr lang="en-US" sz="1250" dirty="0">
                <a:solidFill>
                  <a:srgbClr val="7C2D12"/>
                </a:solidFill>
                <a:latin typeface="Fira Sans" pitchFamily="34" charset="0"/>
                <a:ea typeface="Fira Sans" pitchFamily="34" charset="-122"/>
                <a:cs typeface="Fira Sans" pitchFamily="34" charset="-120"/>
              </a:rPr>
              <a:t>+ allowlist (d08)</a:t>
            </a:r>
            <a:endParaRPr lang="en-US" sz="1250" dirty="0"/>
          </a:p>
          <a:p>
            <a:pPr algn="ctr" indent="0" marL="0">
              <a:buNone/>
            </a:pPr>
            <a:r>
              <a:rPr lang="en-US" sz="1250" dirty="0">
                <a:solidFill>
                  <a:srgbClr val="7C2D12"/>
                </a:solidFill>
                <a:latin typeface="Fira Sans" pitchFamily="34" charset="0"/>
                <a:ea typeface="Fira Sans" pitchFamily="34" charset="-122"/>
                <a:cs typeface="Fira Sans" pitchFamily="34" charset="-120"/>
              </a:rPr>
              <a:t>+ _remember_seller_floor (after_tool)</a:t>
            </a:r>
            <a:endParaRPr lang="en-US" sz="1250" dirty="0"/>
          </a:p>
        </p:txBody>
      </p:sp>
      <p:sp>
        <p:nvSpPr>
          <p:cNvPr id="13" name="Shape 10"/>
          <p:cNvSpPr/>
          <p:nvPr/>
        </p:nvSpPr>
        <p:spPr>
          <a:xfrm>
            <a:off x="5577840" y="2971800"/>
            <a:ext cx="1005840" cy="0"/>
          </a:xfrm>
          <a:prstGeom prst="line">
            <a:avLst/>
          </a:prstGeom>
          <a:noFill/>
          <a:ln w="28575">
            <a:solidFill>
              <a:srgbClr val="7C3AED"/>
            </a:solidFill>
            <a:prstDash val="solid"/>
            <a:tailEnd type="triangle"/>
          </a:ln>
        </p:spPr>
      </p:sp>
      <p:sp>
        <p:nvSpPr>
          <p:cNvPr id="14" name="Text 11"/>
          <p:cNvSpPr/>
          <p:nvPr/>
        </p:nvSpPr>
        <p:spPr>
          <a:xfrm>
            <a:off x="5486400" y="2651760"/>
            <a:ext cx="1188720" cy="274320"/>
          </a:xfrm>
          <a:prstGeom prst="rect">
            <a:avLst/>
          </a:prstGeom>
          <a:noFill/>
          <a:ln/>
        </p:spPr>
        <p:txBody>
          <a:bodyPr wrap="square" lIns="0" tIns="0" rIns="0" bIns="0" rtlCol="0" anchor="ctr"/>
          <a:lstStyle/>
          <a:p>
            <a:pPr algn="ctr" indent="0" marL="0">
              <a:buNone/>
            </a:pPr>
            <a:r>
              <a:rPr lang="en-US" sz="850" dirty="0">
                <a:solidFill>
                  <a:srgbClr val="7C3AED"/>
                </a:solidFill>
                <a:latin typeface="Consolas" pitchFamily="34" charset="0"/>
                <a:ea typeface="Consolas" pitchFamily="34" charset="-122"/>
                <a:cs typeface="Consolas" pitchFamily="34" charset="-120"/>
              </a:rPr>
              <a:t>{buyer_offer}</a:t>
            </a:r>
            <a:endParaRPr lang="en-US" sz="850" dirty="0"/>
          </a:p>
        </p:txBody>
      </p:sp>
      <p:sp>
        <p:nvSpPr>
          <p:cNvPr id="15" name="Shape 12"/>
          <p:cNvSpPr/>
          <p:nvPr/>
        </p:nvSpPr>
        <p:spPr>
          <a:xfrm>
            <a:off x="2926080" y="4297680"/>
            <a:ext cx="6309360" cy="1051560"/>
          </a:xfrm>
          <a:prstGeom prst="roundRect">
            <a:avLst>
              <a:gd name="adj" fmla="val 10435"/>
            </a:avLst>
          </a:prstGeom>
          <a:solidFill>
            <a:srgbClr val="FEF3C7"/>
          </a:solidFill>
          <a:ln w="19050">
            <a:solidFill>
              <a:srgbClr val="D97706"/>
            </a:solidFill>
            <a:prstDash val="dash"/>
          </a:ln>
        </p:spPr>
      </p:sp>
      <p:sp>
        <p:nvSpPr>
          <p:cNvPr id="16" name="Text 13"/>
          <p:cNvSpPr/>
          <p:nvPr/>
        </p:nvSpPr>
        <p:spPr>
          <a:xfrm>
            <a:off x="3017520" y="4325112"/>
            <a:ext cx="6126480" cy="1005840"/>
          </a:xfrm>
          <a:prstGeom prst="rect">
            <a:avLst/>
          </a:prstGeom>
          <a:noFill/>
          <a:ln/>
        </p:spPr>
        <p:txBody>
          <a:bodyPr wrap="square" rtlCol="0" anchor="ctr"/>
          <a:lstStyle/>
          <a:p>
            <a:pPr algn="ctr" indent="0" marL="0">
              <a:buNone/>
            </a:pPr>
            <a:r>
              <a:rPr lang="en-US" sz="1300" b="1" dirty="0">
                <a:solidFill>
                  <a:srgbClr val="92400E"/>
                </a:solidFill>
                <a:latin typeface="Fira Sans" pitchFamily="34" charset="0"/>
                <a:ea typeface="Fira Sans" pitchFamily="34" charset="-122"/>
                <a:cs typeface="Fira Sans" pitchFamily="34" charset="-120"/>
              </a:rPr>
              <a:t>seller's after_agent_callback</a:t>
            </a:r>
            <a:endParaRPr lang="en-US" sz="1300" dirty="0"/>
          </a:p>
          <a:p>
            <a:pPr algn="ctr" indent="0" marL="0">
              <a:buNone/>
            </a:pPr>
            <a:r>
              <a:rPr lang="en-US" sz="1300" dirty="0">
                <a:solidFill>
                  <a:srgbClr val="1E293B"/>
                </a:solidFill>
                <a:latin typeface="Fira Sans" pitchFamily="34" charset="0"/>
                <a:ea typeface="Fira Sans" pitchFamily="34" charset="-122"/>
                <a:cs typeface="Fira Sans" pitchFamily="34" charset="-120"/>
              </a:rPr>
              <a:t>state["seller_decision"]["action"] == "ACCEPT" ?  → write loop_exit_reason + escalate</a:t>
            </a:r>
            <a:endParaRPr lang="en-US" sz="1300" dirty="0"/>
          </a:p>
        </p:txBody>
      </p:sp>
      <p:sp>
        <p:nvSpPr>
          <p:cNvPr id="17" name="Text 14"/>
          <p:cNvSpPr/>
          <p:nvPr/>
        </p:nvSpPr>
        <p:spPr>
          <a:xfrm>
            <a:off x="1280160" y="5669280"/>
            <a:ext cx="9601200" cy="365760"/>
          </a:xfrm>
          <a:prstGeom prst="rect">
            <a:avLst/>
          </a:prstGeom>
          <a:noFill/>
          <a:ln/>
        </p:spPr>
        <p:txBody>
          <a:bodyPr wrap="square" rtlCol="0" anchor="ctr"/>
          <a:lstStyle/>
          <a:p>
            <a:pPr algn="ctr" indent="0" marL="0">
              <a:buNone/>
            </a:pPr>
            <a:r>
              <a:rPr lang="en-US" sz="1400" b="1" dirty="0">
                <a:solidFill>
                  <a:srgbClr val="FFFFFF"/>
                </a:solidFill>
                <a:latin typeface="Fira Sans" pitchFamily="34" charset="0"/>
                <a:ea typeface="Fira Sans" pitchFamily="34" charset="-122"/>
                <a:cs typeface="Fira Sans" pitchFamily="34" charset="-120"/>
              </a:rPr>
              <a:t>ACCEPT → loop exits   ·   COUNTER → next round   ·   5 rounds → stop</a:t>
            </a:r>
            <a:endParaRPr lang="en-US" sz="14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Negotiation: </a:t>
            </a:r>
            <a:r>
              <a:rPr lang="en-US" sz="3000" b="1" dirty="0">
                <a:solidFill>
                  <a:srgbClr val="FFFFFF"/>
                </a:solidFill>
                <a:latin typeface="Fira Sans" pitchFamily="34" charset="0"/>
                <a:ea typeface="Fira Sans" pitchFamily="34" charset="-122"/>
                <a:cs typeface="Fira Sans" pitchFamily="34" charset="-120"/>
              </a:rPr>
              <a:t>Live Run 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What actually happened (actual run, gpt-4o)</a:t>
            </a:r>
            <a:endParaRPr lang="en-US" sz="14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02920" y="1234440"/>
          <a:ext cx="11155680" cy="914400"/>
        </p:xfrm>
        <a:graphic>
          <a:graphicData uri="http://schemas.openxmlformats.org/drawingml/2006/table">
            <a:tbl>
              <a:tblPr/>
              <a:tblGrid>
                <a:gridCol w="822960"/>
                <a:gridCol w="4206240"/>
                <a:gridCol w="4480560"/>
                <a:gridCol w="164592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Round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Buyer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Seller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Recorded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1</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get_market_price + calculate_discount → submit_offer(425000)</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3 MCP lookups (floor saved to state) → submit_decision(COUNTER, 477000)</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COUNTER $477K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2</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submit_offer(438000)</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submit_decision(COUNTER, 470000)</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COUNTER $470K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3</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submit_offer(447000)</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submit_decision(ACCEPT, 447000) → loop_exit_reason + escalate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ACCEPT $447K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ext 2"/>
          <p:cNvSpPr/>
          <p:nvPr/>
        </p:nvSpPr>
        <p:spPr>
          <a:xfrm>
            <a:off x="502920" y="3291840"/>
            <a:ext cx="11155680" cy="2194560"/>
          </a:xfrm>
          <a:prstGeom prst="rect">
            <a:avLst/>
          </a:prstGeom>
          <a:noFill/>
          <a:ln/>
        </p:spPr>
        <p:txBody>
          <a:bodyPr wrap="square" lIns="635" tIns="635" rIns="635" bIns="635" rtlCol="0" anchor="t"/>
          <a:lstStyle/>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Both sides decide through tools: </a:t>
            </a:r>
            <a:r>
              <a:rPr lang="en-US" sz="1400" dirty="0">
                <a:solidFill>
                  <a:srgbClr val="FFFFFF"/>
                </a:solidFill>
                <a:latin typeface="Fira Sans" pitchFamily="34" charset="0"/>
                <a:ea typeface="Fira Sans" pitchFamily="34" charset="-122"/>
                <a:cs typeface="Fira Sans" pitchFamily="34" charset="-120"/>
              </a:rPr>
              <a:t>submit_offer (rejects anything over $460K) and submit_decision (enforces the floor) — offer_history is built from those calls, not from text</a:t>
            </a:r>
            <a:endParaRPr lang="en-US" sz="1400" dirty="0"/>
          </a:p>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The loop ends on the ACCEPT round: </a:t>
            </a:r>
            <a:r>
              <a:rPr lang="en-US" sz="1400" dirty="0">
                <a:solidFill>
                  <a:srgbClr val="FFFFFF"/>
                </a:solidFill>
                <a:latin typeface="Fira Sans" pitchFamily="34" charset="0"/>
                <a:ea typeface="Fira Sans" pitchFamily="34" charset="-122"/>
                <a:cs typeface="Fira Sans" pitchFamily="34" charset="-120"/>
              </a:rPr>
              <a:t>the seller runs last, its after_agent_callback escalates with a state write — no post-acceptance chatter</a:t>
            </a:r>
            <a:endParaRPr lang="en-US" sz="1400" dirty="0"/>
          </a:p>
          <a:p>
            <a:pPr marL="342900" indent="-342900">
              <a:spcAft>
                <a:spcPts val="800"/>
              </a:spcAft>
              <a:buSzPct val="100000"/>
              <a:buChar char="•"/>
            </a:pPr>
            <a:r>
              <a:rPr lang="en-US" sz="1400" b="1" dirty="0">
                <a:solidFill>
                  <a:srgbClr val="FFAB40"/>
                </a:solidFill>
                <a:latin typeface="Fira Sans" pitchFamily="34" charset="0"/>
                <a:ea typeface="Fira Sans" pitchFamily="34" charset="-122"/>
                <a:cs typeface="Fira Sans" pitchFamily="34" charset="-120"/>
              </a:rPr>
              <a:t>The buyer can't read the seller's floor </a:t>
            </a:r>
            <a:r>
              <a:rPr lang="en-US" sz="1400" dirty="0">
                <a:solidFill>
                  <a:srgbClr val="FFFFFF"/>
                </a:solidFill>
                <a:latin typeface="Fira Sans" pitchFamily="34" charset="0"/>
                <a:ea typeface="Fira Sans" pitchFamily="34" charset="-122"/>
                <a:cs typeface="Fira Sans" pitchFamily="34" charset="-120"/>
              </a:rPr>
              <a:t>(include_contents="none"), so its offers climb 2–4% a round instead of jumping to $445K</a:t>
            </a:r>
            <a:endParaRPr lang="en-US" sz="1400" dirty="0"/>
          </a:p>
        </p:txBody>
      </p:sp>
      <p:sp>
        <p:nvSpPr>
          <p:cNvPr id="7" name="Text 3"/>
          <p:cNvSpPr/>
          <p:nvPr/>
        </p:nvSpPr>
        <p:spPr>
          <a:xfrm>
            <a:off x="502920" y="5577840"/>
            <a:ext cx="10058400" cy="365760"/>
          </a:xfrm>
          <a:prstGeom prst="rect">
            <a:avLst/>
          </a:prstGeom>
          <a:noFill/>
          <a:ln/>
        </p:spPr>
        <p:txBody>
          <a:bodyPr wrap="square" lIns="635" tIns="635" rIns="635" bIns="635" rtlCol="0" anchor="t"/>
          <a:lstStyle/>
          <a:p>
            <a:pPr algn="l" indent="0" marL="0">
              <a:buNone/>
            </a:pPr>
            <a:r>
              <a:rPr lang="en-US" sz="1200" i="1" dirty="0">
                <a:solidFill>
                  <a:srgbClr val="CBD5E1"/>
                </a:solidFill>
                <a:latin typeface="Fira Sans" pitchFamily="34" charset="0"/>
                <a:ea typeface="Fira Sans" pitchFamily="34" charset="-122"/>
                <a:cs typeface="Fira Sans" pitchFamily="34" charset="-120"/>
              </a:rPr>
              <a:t>Prices vary run to run; across three recent runs the deal closed between $446K and $453K.</a:t>
            </a:r>
            <a:endParaRPr lang="en-US" sz="12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Getting Results: </a:t>
            </a:r>
            <a:r>
              <a:rPr lang="en-US" sz="3000" b="1" dirty="0">
                <a:solidFill>
                  <a:srgbClr val="FFFFFF"/>
                </a:solidFill>
                <a:latin typeface="Fira Sans" pitchFamily="34" charset="0"/>
                <a:ea typeface="Fira Sans" pitchFamily="34" charset="-122"/>
                <a:cs typeface="Fira Sans" pitchFamily="34" charset="-120"/>
              </a:rPr>
              <a:t>Polling, Streaming, Push</a:t>
            </a:r>
            <a:endParaRPr lang="en-US" sz="3000" dirty="0"/>
          </a:p>
        </p:txBody>
      </p:sp>
      <p:graphicFrame>
        <p:nvGraphicFramePr>
          <p:cNvPr id="86" name="Table 0"/>
          <p:cNvGraphicFramePr>
            <a:graphicFrameLocks noGrp="1"/>
          </p:cNvGraphicFramePr>
          <p:nvPr>
            <p:extLst>
              <p:ext uri="{D42A27DB-BD31-4B8C-83A1-F6EECF244321}">
                <p14:modId xmlns:p14="http://schemas.microsoft.com/office/powerpoint/2010/main" val="1579011935"/>
              </p:ext>
            </p:extLst>
          </p:nvPr>
        </p:nvGraphicFramePr>
        <p:xfrm>
          <a:off x="502920" y="960120"/>
          <a:ext cx="11155680" cy="914400"/>
        </p:xfrm>
        <a:graphic>
          <a:graphicData uri="http://schemas.openxmlformats.org/drawingml/2006/table">
            <a:tbl>
              <a:tblPr/>
              <a:tblGrid>
                <a:gridCol w="1280160"/>
                <a:gridCol w="4206240"/>
                <a:gridCol w="1737360"/>
                <a:gridCol w="2011680"/>
                <a:gridCol w="192024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Mechanism</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How</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Needs capability</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Connection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In this workshop</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b="1" dirty="0">
                          <a:solidFill>
                            <a:srgbClr val="1E293B"/>
                          </a:solidFill>
                          <a:latin typeface="Fira Sans" pitchFamily="34" charset="0"/>
                          <a:ea typeface="Fira Sans" pitchFamily="34" charset="-122"/>
                          <a:cs typeface="Fira Sans" pitchFamily="34" charset="-120"/>
                        </a:rPr>
                        <a:t>Polling</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message/send with blocking: false → task comes back at once; then tasks/get until final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none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 short request per check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Demo 13 — the buyer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293B"/>
                          </a:solidFill>
                          <a:latin typeface="Fira Sans" pitchFamily="34" charset="0"/>
                          <a:ea typeface="Fira Sans" pitchFamily="34" charset="-122"/>
                          <a:cs typeface="Fira Sans" pitchFamily="34" charset="-120"/>
                        </a:rPr>
                        <a:t>Streaming</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message/stream → one open response; each update is an SSE event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streaming</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One long-lived connection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Demo 13 — the seller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b="1" dirty="0">
                          <a:solidFill>
                            <a:srgbClr val="1E293B"/>
                          </a:solidFill>
                          <a:latin typeface="Fira Sans" pitchFamily="34" charset="0"/>
                          <a:ea typeface="Fira Sans" pitchFamily="34" charset="-122"/>
                          <a:cs typeface="Fira Sans" pitchFamily="34" charset="-120"/>
                        </a:rPr>
                        <a:t>Push</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message/send with a webhook → the server POSTs each update to it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pushNotifications</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None held open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Not demoed (see below)</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5" name="Shape 1"/>
          <p:cNvSpPr/>
          <p:nvPr/>
        </p:nvSpPr>
        <p:spPr>
          <a:xfrm>
            <a:off x="502920" y="3337560"/>
            <a:ext cx="6766560" cy="1645920"/>
          </a:xfrm>
          <a:prstGeom prst="rect">
            <a:avLst/>
          </a:prstGeom>
          <a:solidFill>
            <a:srgbClr val="333333"/>
          </a:solidFill>
          <a:ln w="12700">
            <a:solidFill>
              <a:srgbClr val="333333"/>
            </a:solidFill>
            <a:prstDash val="solid"/>
          </a:ln>
        </p:spPr>
      </p:sp>
      <p:sp>
        <p:nvSpPr>
          <p:cNvPr id="6" name="Text 2"/>
          <p:cNvSpPr/>
          <p:nvPr/>
        </p:nvSpPr>
        <p:spPr>
          <a:xfrm>
            <a:off x="576072" y="3392424"/>
            <a:ext cx="6620256" cy="1536192"/>
          </a:xfrm>
          <a:prstGeom prst="rect">
            <a:avLst/>
          </a:prstGeom>
          <a:noFill/>
          <a:ln/>
        </p:spPr>
        <p:txBody>
          <a:bodyPr wrap="square" lIns="635" tIns="635" rIns="635" bIns="635" rtlCol="0" anchor="t"/>
          <a:lstStyle/>
          <a:p>
            <a:pPr indent="0" marL="0">
              <a:buNone/>
            </a:pPr>
            <a:r>
              <a:rPr lang="en-US" sz="1100" dirty="0">
                <a:solidFill>
                  <a:srgbClr val="FFFFFF"/>
                </a:solidFill>
                <a:latin typeface="Consolas" pitchFamily="34" charset="0"/>
                <a:ea typeface="Consolas" pitchFamily="34" charset="-122"/>
                <a:cs typeface="Consolas" pitchFamily="34" charset="-120"/>
              </a:rPr>
              <a:t>if card.capabilities.streaming:    </a:t>
            </a:r>
            <a:r>
              <a:rPr lang="en-US" sz="1100" dirty="0">
                <a:solidFill>
                  <a:srgbClr val="9CA3AF"/>
                </a:solidFill>
                <a:latin typeface="Consolas" pitchFamily="34" charset="0"/>
                <a:ea typeface="Consolas" pitchFamily="34" charset="-122"/>
                <a:cs typeface="Consolas" pitchFamily="34" charset="-120"/>
              </a:rPr>
              <a:t> # -&gt; message/stream</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config = ClientConfig(httpx_client=http, streaming=True)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else:                              </a:t>
            </a:r>
            <a:r>
              <a:rPr lang="en-US" sz="1100" dirty="0">
                <a:solidFill>
                  <a:srgbClr val="9CA3AF"/>
                </a:solidFill>
                <a:latin typeface="Consolas" pitchFamily="34" charset="0"/>
                <a:ea typeface="Consolas" pitchFamily="34" charset="-122"/>
                <a:cs typeface="Consolas" pitchFamily="34" charset="-120"/>
              </a:rPr>
              <a:t> # -&gt; message/send + tasks/get</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config = ClientConfig(httpx_client=http, streaming=False,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                          polling=True)</a:t>
            </a:r>
            <a:endParaRPr lang="en-US" sz="1100" dirty="0"/>
          </a:p>
          <a:p>
            <a:pPr indent="0" marL="0">
              <a:buNone/>
            </a:pPr>
            <a:r>
              <a:rPr lang="en-US" sz="1100" dirty="0">
                <a:solidFill>
                  <a:srgbClr val="FFFFFF"/>
                </a:solidFill>
                <a:latin typeface="Consolas" pitchFamily="34" charset="0"/>
                <a:ea typeface="Consolas" pitchFamily="34" charset="-122"/>
                <a:cs typeface="Consolas" pitchFamily="34" charset="-120"/>
              </a:rPr>
              <a:t>client = ClientFactory(config).create(card)</a:t>
            </a:r>
            <a:endParaRPr lang="en-US" sz="1100" dirty="0"/>
          </a:p>
        </p:txBody>
      </p:sp>
      <p:sp>
        <p:nvSpPr>
          <p:cNvPr id="7" name="Text 3"/>
          <p:cNvSpPr/>
          <p:nvPr/>
        </p:nvSpPr>
        <p:spPr>
          <a:xfrm>
            <a:off x="7452360" y="3337560"/>
            <a:ext cx="4251960" cy="2377440"/>
          </a:xfrm>
          <a:prstGeom prst="rect">
            <a:avLst/>
          </a:prstGeom>
          <a:noFill/>
          <a:ln/>
        </p:spPr>
        <p:txBody>
          <a:bodyPr wrap="square" lIns="635" tIns="635" rIns="635" bIns="635" rtlCol="0" anchor="t"/>
          <a:lstStyle/>
          <a:p>
            <a:pPr marL="342900" indent="-342900">
              <a:spcAft>
                <a:spcPts val="800"/>
              </a:spcAft>
              <a:buSzPct val="100000"/>
              <a:buChar char="•"/>
            </a:pPr>
            <a:r>
              <a:rPr lang="en-US" sz="1300" b="1" dirty="0">
                <a:solidFill>
                  <a:srgbClr val="FFAB40"/>
                </a:solidFill>
                <a:latin typeface="Fira Sans" pitchFamily="34" charset="0"/>
                <a:ea typeface="Fira Sans" pitchFamily="34" charset="-122"/>
                <a:cs typeface="Fira Sans" pitchFamily="34" charset="-120"/>
              </a:rPr>
              <a:t>Rule of thumb: </a:t>
            </a:r>
            <a:r>
              <a:rPr lang="en-US" sz="1300" dirty="0">
                <a:solidFill>
                  <a:srgbClr val="FFFFFF"/>
                </a:solidFill>
                <a:latin typeface="Fira Sans" pitchFamily="34" charset="0"/>
                <a:ea typeface="Fira Sans" pitchFamily="34" charset="-122"/>
                <a:cs typeface="Fira Sans" pitchFamily="34" charset="-120"/>
              </a:rPr>
              <a:t>seconds → block or poll; want progress → stream; minutes, or the client may go away → push</a:t>
            </a:r>
            <a:endParaRPr lang="en-US" sz="1300" dirty="0"/>
          </a:p>
          <a:p>
            <a:pPr marL="342900" indent="-342900">
              <a:spcAft>
                <a:spcPts val="800"/>
              </a:spcAft>
              <a:buSzPct val="100000"/>
              <a:buChar char="•"/>
            </a:pPr>
            <a:r>
              <a:rPr lang="en-US" sz="1300" b="1" dirty="0">
                <a:solidFill>
                  <a:srgbClr val="FFAB40"/>
                </a:solidFill>
                <a:latin typeface="Fira Sans" pitchFamily="34" charset="0"/>
                <a:ea typeface="Fira Sans" pitchFamily="34" charset="-122"/>
                <a:cs typeface="Fira Sans" pitchFamily="34" charset="-120"/>
              </a:rPr>
              <a:t>Why push isn't demoed: </a:t>
            </a:r>
            <a:r>
              <a:rPr lang="en-US" sz="1300" dirty="0">
                <a:solidFill>
                  <a:srgbClr val="FFFFFF"/>
                </a:solidFill>
                <a:latin typeface="Fira Sans" pitchFamily="34" charset="0"/>
                <a:ea typeface="Fira Sans" pitchFamily="34" charset="-122"/>
                <a:cs typeface="Fira Sans" pitchFamily="34" charset="-120"/>
              </a:rPr>
              <a:t>ADK's built-in A2A server stores a client's webhook but never calls it (no push sender)</a:t>
            </a:r>
            <a:endParaRPr lang="en-US" sz="13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13: </a:t>
            </a:r>
            <a:r>
              <a:rPr lang="en-US" sz="3000" b="1" dirty="0">
                <a:solidFill>
                  <a:srgbClr val="FFFFFF"/>
                </a:solidFill>
                <a:latin typeface="Fira Sans" pitchFamily="34" charset="0"/>
                <a:ea typeface="Fira Sans" pitchFamily="34" charset="-122"/>
                <a:cs typeface="Fira Sans" pitchFamily="34" charset="-120"/>
              </a:rPr>
              <a:t>A2A Orchestrated Negotiation</a:t>
            </a:r>
            <a:endParaRPr lang="en-US" sz="3000" dirty="0"/>
          </a:p>
        </p:txBody>
      </p:sp>
      <p:sp>
        <p:nvSpPr>
          <p:cNvPr id="4" name="Shape 1"/>
          <p:cNvSpPr/>
          <p:nvPr/>
        </p:nvSpPr>
        <p:spPr>
          <a:xfrm>
            <a:off x="502920" y="914400"/>
            <a:ext cx="11155680" cy="685800"/>
          </a:xfrm>
          <a:prstGeom prst="rect">
            <a:avLst/>
          </a:prstGeom>
          <a:solidFill>
            <a:srgbClr val="F1F5F9"/>
          </a:solidFill>
          <a:ln w="12700">
            <a:solidFill>
              <a:srgbClr val="F1F5F9"/>
            </a:solidFill>
            <a:prstDash val="solid"/>
          </a:ln>
        </p:spPr>
      </p:sp>
      <p:sp>
        <p:nvSpPr>
          <p:cNvPr id="5" name="Text 2"/>
          <p:cNvSpPr/>
          <p:nvPr/>
        </p:nvSpPr>
        <p:spPr>
          <a:xfrm>
            <a:off x="594360" y="914400"/>
            <a:ext cx="10972800" cy="685800"/>
          </a:xfrm>
          <a:prstGeom prst="rect">
            <a:avLst/>
          </a:prstGeom>
          <a:noFill/>
          <a:ln/>
        </p:spPr>
        <p:txBody>
          <a:bodyPr wrap="square" lIns="381" tIns="381" rIns="381" bIns="381" rtlCol="0" anchor="ctr"/>
          <a:lstStyle/>
          <a:p>
            <a:pPr indent="0" marL="0">
              <a:buNone/>
            </a:pPr>
            <a:r>
              <a:rPr lang="en-US" sz="1200" dirty="0">
                <a:solidFill>
                  <a:srgbClr val="0F172A"/>
                </a:solidFill>
                <a:latin typeface="Consolas" pitchFamily="34" charset="0"/>
                <a:ea typeface="Consolas" pitchFamily="34" charset="-122"/>
                <a:cs typeface="Consolas" pitchFamily="34" charset="-120"/>
              </a:rPr>
              <a:t>adk web --a2a m2_adk_multiagents/negotiation_agents/                  # terminal 1</a:t>
            </a:r>
            <a:endParaRPr lang="en-US" sz="1200" dirty="0"/>
          </a:p>
          <a:p>
            <a:pPr indent="0" marL="0">
              <a:buNone/>
            </a:pPr>
            <a:r>
              <a:rPr lang="en-US" sz="1200" dirty="0">
                <a:solidFill>
                  <a:srgbClr val="0F172A"/>
                </a:solidFill>
                <a:latin typeface="Consolas" pitchFamily="34" charset="0"/>
                <a:ea typeface="Consolas" pitchFamily="34" charset="-122"/>
                <a:cs typeface="Consolas" pitchFamily="34" charset="-120"/>
              </a:rPr>
              <a:t>python m2_adk_multiagents/a2a_demos/a2a_13_orchestrated_negotiation.py   # terminal 2</a:t>
            </a:r>
            <a:endParaRPr lang="en-US" sz="1200" dirty="0"/>
          </a:p>
        </p:txBody>
      </p:sp>
      <p:sp>
        <p:nvSpPr>
          <p:cNvPr id="6" name="Shape 3"/>
          <p:cNvSpPr/>
          <p:nvPr/>
        </p:nvSpPr>
        <p:spPr>
          <a:xfrm>
            <a:off x="502920" y="1737360"/>
            <a:ext cx="11155680" cy="2651760"/>
          </a:xfrm>
          <a:prstGeom prst="rect">
            <a:avLst/>
          </a:prstGeom>
          <a:solidFill>
            <a:srgbClr val="333333"/>
          </a:solidFill>
          <a:ln w="12700">
            <a:solidFill>
              <a:srgbClr val="333333"/>
            </a:solidFill>
            <a:prstDash val="solid"/>
          </a:ln>
        </p:spPr>
      </p:sp>
      <p:sp>
        <p:nvSpPr>
          <p:cNvPr id="7" name="Text 4"/>
          <p:cNvSpPr/>
          <p:nvPr/>
        </p:nvSpPr>
        <p:spPr>
          <a:xfrm>
            <a:off x="576072" y="1792224"/>
            <a:ext cx="11009376" cy="2542032"/>
          </a:xfrm>
          <a:prstGeom prst="rect">
            <a:avLst/>
          </a:prstGeom>
          <a:noFill/>
          <a:ln/>
        </p:spPr>
        <p:txBody>
          <a:bodyPr wrap="square" lIns="635" tIns="635" rIns="635" bIns="635" rtlCol="0" anchor="t"/>
          <a:lstStyle/>
          <a:p>
            <a:pPr indent="0" marL="0">
              <a:buNone/>
            </a:pPr>
            <a:r>
              <a:rPr lang="en-US" sz="1050" dirty="0">
                <a:solidFill>
                  <a:srgbClr val="FFFFFF"/>
                </a:solidFill>
                <a:latin typeface="Consolas" pitchFamily="34" charset="0"/>
                <a:ea typeface="Consolas" pitchFamily="34" charset="-122"/>
                <a:cs typeface="Consolas" pitchFamily="34" charset="-120"/>
              </a:rPr>
              <a:t>Buyer  Capabilities: streaming=False  -&gt; use message/send + tasks/get polling</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Seller Capabilities: streaming=True   -&gt; use message/stream</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ROUND 1</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[buyer &lt;- poll] task 375af661 submitted - polling tasks/get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[buyer] task 375af661 completed after 6 polls</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[seller -&gt; stream] working: calling get_market_price, get_inventory_level, get_minimum_acceptable_price</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[seller -&gt; stream] working: calling submit_decision</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    [seller -&gt; stream] artifact received</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ROUND 2 ... ROUND 3</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SELLER: I will ACCEPT your offer of $445,000.        DEAL REACHED in round 3!</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A2A tasks created: 6 (one per message)</a:t>
            </a:r>
            <a:endParaRPr lang="en-US" sz="1050" dirty="0"/>
          </a:p>
        </p:txBody>
      </p:sp>
      <p:sp>
        <p:nvSpPr>
          <p:cNvPr id="8" name="Text 5"/>
          <p:cNvSpPr/>
          <p:nvPr/>
        </p:nvSpPr>
        <p:spPr>
          <a:xfrm>
            <a:off x="502920" y="4526280"/>
            <a:ext cx="11155680" cy="1463040"/>
          </a:xfrm>
          <a:prstGeom prst="rect">
            <a:avLst/>
          </a:prstGeom>
          <a:noFill/>
          <a:ln/>
        </p:spPr>
        <p:txBody>
          <a:bodyPr wrap="square" lIns="635" tIns="635" rIns="635" bIns="635" rtlCol="0" anchor="t"/>
          <a:lstStyle/>
          <a:p>
            <a:pPr marL="342900" indent="-342900">
              <a:spcAft>
                <a:spcPts val="600"/>
              </a:spcAft>
              <a:buSzPct val="100000"/>
              <a:buChar char="•"/>
            </a:pPr>
            <a:r>
              <a:rPr lang="en-US" sz="1300" b="1" dirty="0">
                <a:solidFill>
                  <a:srgbClr val="FFAB40"/>
                </a:solidFill>
                <a:latin typeface="Fira Sans" pitchFamily="34" charset="0"/>
                <a:ea typeface="Fira Sans" pitchFamily="34" charset="-122"/>
                <a:cs typeface="Fira Sans" pitchFamily="34" charset="-120"/>
              </a:rPr>
              <a:t>The card decides the mechanism: </a:t>
            </a:r>
            <a:r>
              <a:rPr lang="en-US" sz="1300" dirty="0">
                <a:solidFill>
                  <a:srgbClr val="FFFFFF"/>
                </a:solidFill>
                <a:latin typeface="Fira Sans" pitchFamily="34" charset="0"/>
                <a:ea typeface="Fira Sans" pitchFamily="34" charset="-122"/>
                <a:cs typeface="Fira Sans" pitchFamily="34" charset="-120"/>
              </a:rPr>
              <a:t>the script never hard-codes "poll the buyer" — it reads card.capabilities</a:t>
            </a:r>
            <a:endParaRPr lang="en-US" sz="1300" dirty="0"/>
          </a:p>
          <a:p>
            <a:pPr marL="342900" indent="-342900">
              <a:spcAft>
                <a:spcPts val="600"/>
              </a:spcAft>
              <a:buSzPct val="100000"/>
              <a:buChar char="•"/>
            </a:pPr>
            <a:r>
              <a:rPr lang="en-US" sz="1300" b="1" dirty="0">
                <a:solidFill>
                  <a:srgbClr val="FFAB40"/>
                </a:solidFill>
                <a:latin typeface="Fira Sans" pitchFamily="34" charset="0"/>
                <a:ea typeface="Fira Sans" pitchFamily="34" charset="-122"/>
                <a:cs typeface="Fira Sans" pitchFamily="34" charset="-120"/>
              </a:rPr>
              <a:t>Separate contextIds per agent: </a:t>
            </a:r>
            <a:r>
              <a:rPr lang="en-US" sz="1300" dirty="0">
                <a:solidFill>
                  <a:srgbClr val="FFFFFF"/>
                </a:solidFill>
                <a:latin typeface="Fira Sans" pitchFamily="34" charset="0"/>
                <a:ea typeface="Fira Sans" pitchFamily="34" charset="-122"/>
                <a:cs typeface="Fira Sans" pitchFamily="34" charset="-120"/>
              </a:rPr>
              <a:t>the script is the matchmaker; neither agent knows about the other</a:t>
            </a:r>
            <a:endParaRPr lang="en-US" sz="1300" dirty="0"/>
          </a:p>
          <a:p>
            <a:pPr marL="342900" indent="-342900">
              <a:spcAft>
                <a:spcPts val="600"/>
              </a:spcAft>
              <a:buSzPct val="100000"/>
              <a:buChar char="•"/>
            </a:pPr>
            <a:r>
              <a:rPr lang="en-US" sz="1300" b="1" dirty="0">
                <a:solidFill>
                  <a:srgbClr val="FFAB40"/>
                </a:solidFill>
                <a:latin typeface="Fira Sans" pitchFamily="34" charset="0"/>
                <a:ea typeface="Fira Sans" pitchFamily="34" charset="-122"/>
                <a:cs typeface="Fira Sans" pitchFamily="34" charset="-120"/>
              </a:rPr>
              <a:t>A task that doesn't complete stops the negotiation </a:t>
            </a:r>
            <a:r>
              <a:rPr lang="en-US" sz="1300" dirty="0">
                <a:solidFill>
                  <a:srgbClr val="FFFFFF"/>
                </a:solidFill>
                <a:latin typeface="Fira Sans" pitchFamily="34" charset="0"/>
                <a:ea typeface="Fira Sans" pitchFamily="34" charset="-122"/>
                <a:cs typeface="Fira Sans" pitchFamily="34" charset="-120"/>
              </a:rPr>
              <a:t>— the script checks task.status.state (demo 14)</a:t>
            </a:r>
            <a:endParaRPr lang="en-US" sz="13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14: </a:t>
            </a:r>
            <a:r>
              <a:rPr lang="en-US" sz="3000" b="1" dirty="0">
                <a:solidFill>
                  <a:srgbClr val="FFFFFF"/>
                </a:solidFill>
                <a:latin typeface="Fira Sans" pitchFamily="34" charset="0"/>
                <a:ea typeface="Fira Sans" pitchFamily="34" charset="-122"/>
                <a:cs typeface="Fira Sans" pitchFamily="34" charset="-120"/>
              </a:rPr>
              <a:t>Error Handling (Concept)</a:t>
            </a:r>
            <a:endParaRPr lang="en-US" sz="3000" dirty="0"/>
          </a:p>
        </p:txBody>
      </p:sp>
      <p:sp>
        <p:nvSpPr>
          <p:cNvPr id="4" name="Shape 1"/>
          <p:cNvSpPr/>
          <p:nvPr/>
        </p:nvSpPr>
        <p:spPr>
          <a:xfrm>
            <a:off x="502920" y="914400"/>
            <a:ext cx="11155680" cy="411480"/>
          </a:xfrm>
          <a:prstGeom prst="rect">
            <a:avLst/>
          </a:prstGeom>
          <a:solidFill>
            <a:srgbClr val="F1F5F9"/>
          </a:solidFill>
          <a:ln w="12700">
            <a:solidFill>
              <a:srgbClr val="F1F5F9"/>
            </a:solidFill>
            <a:prstDash val="solid"/>
          </a:ln>
        </p:spPr>
      </p:sp>
      <p:sp>
        <p:nvSpPr>
          <p:cNvPr id="5" name="Text 2"/>
          <p:cNvSpPr/>
          <p:nvPr/>
        </p:nvSpPr>
        <p:spPr>
          <a:xfrm>
            <a:off x="594360" y="914400"/>
            <a:ext cx="10972800" cy="411480"/>
          </a:xfrm>
          <a:prstGeom prst="rect">
            <a:avLst/>
          </a:prstGeom>
          <a:noFill/>
          <a:ln/>
        </p:spPr>
        <p:txBody>
          <a:bodyPr wrap="square" lIns="381" tIns="381" rIns="381" bIns="381" rtlCol="0" anchor="ctr"/>
          <a:lstStyle/>
          <a:p>
            <a:pPr indent="0" marL="0">
              <a:buNone/>
            </a:pPr>
            <a:r>
              <a:rPr lang="en-US" sz="1200" dirty="0">
                <a:solidFill>
                  <a:srgbClr val="0F172A"/>
                </a:solidFill>
                <a:latin typeface="Consolas" pitchFamily="34" charset="0"/>
                <a:ea typeface="Consolas" pitchFamily="34" charset="-122"/>
                <a:cs typeface="Consolas" pitchFamily="34" charset="-120"/>
              </a:rPr>
              <a:t>python m2_adk_multiagents/a2a_demos/a2a_14_error_handling.py</a:t>
            </a:r>
            <a:endParaRPr lang="en-US" sz="1200" dirty="0"/>
          </a:p>
        </p:txBody>
      </p:sp>
      <p:sp>
        <p:nvSpPr>
          <p:cNvPr id="6" name="Text 3"/>
          <p:cNvSpPr/>
          <p:nvPr/>
        </p:nvSpPr>
        <p:spPr>
          <a:xfrm>
            <a:off x="502920" y="1463040"/>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Things go wrong at four layers — and only two of them raise</a:t>
            </a:r>
            <a:endParaRPr lang="en-US" sz="14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02920" y="1828800"/>
          <a:ext cx="11155680" cy="914400"/>
        </p:xfrm>
        <a:graphic>
          <a:graphicData uri="http://schemas.openxmlformats.org/drawingml/2006/table">
            <a:tbl>
              <a:tblPr/>
              <a:tblGrid>
                <a:gridCol w="1554480"/>
                <a:gridCol w="4937760"/>
                <a:gridCol w="4663440"/>
              </a:tblGrid>
              <a:tr h="0">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Layer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How it shows up in the client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200" b="1" dirty="0">
                          <a:solidFill>
                            <a:srgbClr val="FFFFFF"/>
                          </a:solidFill>
                          <a:latin typeface="Fira Sans" pitchFamily="34" charset="0"/>
                          <a:ea typeface="Fira Sans" pitchFamily="34" charset="-122"/>
                          <a:cs typeface="Fira Sans" pitchFamily="34" charset="-120"/>
                        </a:rPr>
                        <a:t>Examples in the demo</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200" b="1" dirty="0">
                          <a:solidFill>
                            <a:srgbClr val="1E293B"/>
                          </a:solidFill>
                          <a:latin typeface="Fira Sans" pitchFamily="34" charset="0"/>
                          <a:ea typeface="Fira Sans" pitchFamily="34" charset="-122"/>
                          <a:cs typeface="Fira Sans" pitchFamily="34" charset="-120"/>
                        </a:rPr>
                        <a:t>1. Transport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Exception: A2AClientHTTPError (status_code), A2AClientTimeoutError</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Agent not running (503), unknown agent path (404), request timed out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E293B"/>
                          </a:solidFill>
                          <a:latin typeface="Fira Sans" pitchFamily="34" charset="0"/>
                          <a:ea typeface="Fira Sans" pitchFamily="34" charset="-122"/>
                          <a:cs typeface="Fira Sans" pitchFamily="34" charset="-120"/>
                        </a:rPr>
                        <a:t>2. Protocol</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Exception: A2AClientJSONRPCError (.error.code) — HTTP 200 on the wire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Task not found (-32001), not cancelable (-32002), capability not offered, bad request (-32601 / -32602)</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200" b="1" dirty="0">
                          <a:solidFill>
                            <a:srgbClr val="DC2626"/>
                          </a:solidFill>
                          <a:latin typeface="Fira Sans" pitchFamily="34" charset="0"/>
                          <a:ea typeface="Fira Sans" pitchFamily="34" charset="-122"/>
                          <a:cs typeface="Fira Sans" pitchFamily="34" charset="-120"/>
                        </a:rPr>
                        <a:t>3. Task</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DC2626"/>
                          </a:solidFill>
                          <a:latin typeface="Fira Sans" pitchFamily="34" charset="0"/>
                          <a:ea typeface="Fira Sans" pitchFamily="34" charset="-122"/>
                          <a:cs typeface="Fira Sans" pitchFamily="34" charset="-120"/>
                        </a:rPr>
                        <a:t>NO exception — task.status.state == "failed", reason in status.message</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 FilePart (application/zip) the model can't read</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DC2626"/>
                          </a:solidFill>
                          <a:latin typeface="Fira Sans" pitchFamily="34" charset="0"/>
                          <a:ea typeface="Fira Sans" pitchFamily="34" charset="-122"/>
                          <a:cs typeface="Fira Sans" pitchFamily="34" charset="-120"/>
                        </a:rPr>
                        <a:t>4. Application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DC2626"/>
                          </a:solidFill>
                          <a:latin typeface="Fira Sans" pitchFamily="34" charset="0"/>
                          <a:ea typeface="Fira Sans" pitchFamily="34" charset="-122"/>
                          <a:cs typeface="Fira Sans" pitchFamily="34" charset="-120"/>
                        </a:rPr>
                        <a:t>NO exception — state "completed", but the agent didn't do it</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200" dirty="0">
                          <a:solidFill>
                            <a:srgbClr val="1E293B"/>
                          </a:solidFill>
                          <a:latin typeface="Fira Sans" pitchFamily="34" charset="0"/>
                          <a:ea typeface="Fira Sans" pitchFamily="34" charset="-122"/>
                          <a:cs typeface="Fira Sans" pitchFamily="34" charset="-120"/>
                        </a:rPr>
                        <a:t>An offer with no price: seller asks to clarify, records no decision</a:t>
                      </a:r>
                      <a:endParaRPr lang="en-US" sz="12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bl>
          </a:graphicData>
        </a:graphic>
      </p:graphicFrame>
      <p:sp>
        <p:nvSpPr>
          <p:cNvPr id="8" name="Shape 4"/>
          <p:cNvSpPr/>
          <p:nvPr/>
        </p:nvSpPr>
        <p:spPr>
          <a:xfrm>
            <a:off x="502920" y="4800600"/>
            <a:ext cx="11155680" cy="731520"/>
          </a:xfrm>
          <a:prstGeom prst="rect">
            <a:avLst/>
          </a:prstGeom>
          <a:solidFill>
            <a:srgbClr val="FEF3C7"/>
          </a:solidFill>
          <a:ln w="12700">
            <a:solidFill>
              <a:srgbClr val="FEF3C7"/>
            </a:solidFill>
            <a:prstDash val="solid"/>
          </a:ln>
        </p:spPr>
      </p:sp>
      <p:sp>
        <p:nvSpPr>
          <p:cNvPr id="9" name="Text 5"/>
          <p:cNvSpPr/>
          <p:nvPr/>
        </p:nvSpPr>
        <p:spPr>
          <a:xfrm>
            <a:off x="640080" y="4846320"/>
            <a:ext cx="10881360" cy="640080"/>
          </a:xfrm>
          <a:prstGeom prst="rect">
            <a:avLst/>
          </a:prstGeom>
          <a:noFill/>
          <a:ln/>
        </p:spPr>
        <p:txBody>
          <a:bodyPr wrap="square" lIns="254" tIns="254" rIns="254" bIns="254" rtlCol="0" anchor="ctr"/>
          <a:lstStyle/>
          <a:p>
            <a:pPr indent="0" marL="0">
              <a:buNone/>
            </a:pPr>
            <a:r>
              <a:rPr lang="en-US" sz="1400" b="1" dirty="0">
                <a:solidFill>
                  <a:srgbClr val="D97706"/>
                </a:solidFill>
                <a:latin typeface="Fira Sans" pitchFamily="34" charset="0"/>
                <a:ea typeface="Fira Sans" pitchFamily="34" charset="-122"/>
                <a:cs typeface="Fira Sans" pitchFamily="34" charset="-120"/>
              </a:rPr>
              <a:t>Layers 3 and 4 are the ones people miss: </a:t>
            </a:r>
            <a:r>
              <a:rPr lang="en-US" sz="1400" dirty="0">
                <a:solidFill>
                  <a:srgbClr val="1E293B"/>
                </a:solidFill>
                <a:latin typeface="Fira Sans" pitchFamily="34" charset="0"/>
                <a:ea typeface="Fira Sans" pitchFamily="34" charset="-122"/>
                <a:cs typeface="Fira Sans" pitchFamily="34" charset="-120"/>
              </a:rPr>
              <a:t>the call "succeeds", so you have to look at task.status.state — and then at the content.</a:t>
            </a:r>
            <a:endParaRPr lang="en-US" sz="14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Demo 14: </a:t>
            </a:r>
            <a:r>
              <a:rPr lang="en-US" sz="3000" b="1" dirty="0">
                <a:solidFill>
                  <a:srgbClr val="FFFFFF"/>
                </a:solidFill>
                <a:latin typeface="Fira Sans" pitchFamily="34" charset="0"/>
                <a:ea typeface="Fira Sans" pitchFamily="34" charset="-122"/>
                <a:cs typeface="Fira Sans" pitchFamily="34" charset="-120"/>
              </a:rPr>
              <a:t>Results</a:t>
            </a:r>
            <a:endParaRPr lang="en-US" sz="3000" dirty="0"/>
          </a:p>
        </p:txBody>
      </p:sp>
      <p:sp>
        <p:nvSpPr>
          <p:cNvPr id="4" name="Text 1"/>
          <p:cNvSpPr/>
          <p:nvPr/>
        </p:nvSpPr>
        <p:spPr>
          <a:xfrm>
            <a:off x="502920" y="841248"/>
            <a:ext cx="8229600" cy="292608"/>
          </a:xfrm>
          <a:prstGeom prst="rect">
            <a:avLst/>
          </a:prstGeom>
          <a:noFill/>
          <a:ln/>
        </p:spPr>
        <p:txBody>
          <a:bodyPr wrap="square" lIns="0" tIns="0" rIns="0" bIns="0" rtlCol="0" anchor="ctr"/>
          <a:lstStyle/>
          <a:p>
            <a:pPr indent="0" marL="0">
              <a:buNone/>
            </a:pPr>
            <a:r>
              <a:rPr lang="en-US" sz="1400" b="1" dirty="0">
                <a:solidFill>
                  <a:srgbClr val="FFAB40"/>
                </a:solidFill>
                <a:latin typeface="Fira Sans" pitchFamily="34" charset="0"/>
                <a:ea typeface="Fira Sans" pitchFamily="34" charset="-122"/>
                <a:cs typeface="Fira Sans" pitchFamily="34" charset="-120"/>
              </a:rPr>
              <a:t>Actual run (ADK 2.11, gpt-4o, abridged)</a:t>
            </a:r>
            <a:endParaRPr lang="en-US" sz="1400" dirty="0"/>
          </a:p>
        </p:txBody>
      </p:sp>
      <p:sp>
        <p:nvSpPr>
          <p:cNvPr id="5" name="Shape 2"/>
          <p:cNvSpPr/>
          <p:nvPr/>
        </p:nvSpPr>
        <p:spPr>
          <a:xfrm>
            <a:off x="502920" y="1234440"/>
            <a:ext cx="11155680" cy="3108960"/>
          </a:xfrm>
          <a:prstGeom prst="rect">
            <a:avLst/>
          </a:prstGeom>
          <a:solidFill>
            <a:srgbClr val="333333"/>
          </a:solidFill>
          <a:ln w="12700">
            <a:solidFill>
              <a:srgbClr val="333333"/>
            </a:solidFill>
            <a:prstDash val="solid"/>
          </a:ln>
        </p:spPr>
      </p:sp>
      <p:sp>
        <p:nvSpPr>
          <p:cNvPr id="6" name="Text 3"/>
          <p:cNvSpPr/>
          <p:nvPr/>
        </p:nvSpPr>
        <p:spPr>
          <a:xfrm>
            <a:off x="576072" y="1289304"/>
            <a:ext cx="11009376" cy="2999232"/>
          </a:xfrm>
          <a:prstGeom prst="rect">
            <a:avLst/>
          </a:prstGeom>
          <a:noFill/>
          <a:ln/>
        </p:spPr>
        <p:txBody>
          <a:bodyPr wrap="square" lIns="635" tIns="635" rIns="635" bIns="635" rtlCol="0" anchor="t"/>
          <a:lstStyle/>
          <a:p>
            <a:pPr indent="0" marL="0">
              <a:buNone/>
            </a:pPr>
            <a:r>
              <a:rPr lang="en-US" sz="1050" dirty="0">
                <a:solidFill>
                  <a:srgbClr val="FFFFFF"/>
                </a:solidFill>
                <a:latin typeface="Consolas" pitchFamily="34" charset="0"/>
                <a:ea typeface="Consolas" pitchFamily="34" charset="-122"/>
                <a:cs typeface="Consolas" pitchFamily="34" charset="-120"/>
              </a:rPr>
              <a:t>Agent Card, nothing running      A2AClientHTTPError  status=503  (retried with backoff, then gave up)</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Agent Card, unknown agent         A2AClientHTTPError  status=404  (fail fast)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Blocking send, 2s timeout         A2AClientTimeoutError  -&gt; the server may STILL be working; no taskId to check</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Recovery: blocking=false + poll   task submitted at once -&gt; completed</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tasks/get unknown id              A2AClientJSONRPCError code=-32001 </a:t>
            </a:r>
            <a:r>
              <a:rPr lang="en-US" sz="1050" dirty="0">
                <a:solidFill>
                  <a:srgbClr val="A2FCA2"/>
                </a:solidFill>
                <a:latin typeface="Consolas" pitchFamily="34" charset="0"/>
                <a:ea typeface="Consolas" pitchFamily="34" charset="-122"/>
                <a:cs typeface="Consolas" pitchFamily="34" charset="-120"/>
              </a:rPr>
              <a:t>'Task not found'</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tasks/cancel completed task       A2AClientJSONRPCError code=-32002 </a:t>
            </a:r>
            <a:r>
              <a:rPr lang="en-US" sz="1050" dirty="0">
                <a:solidFill>
                  <a:srgbClr val="A2FCA2"/>
                </a:solidFill>
                <a:latin typeface="Consolas" pitchFamily="34" charset="0"/>
                <a:ea typeface="Consolas" pitchFamily="34" charset="-122"/>
                <a:cs typeface="Consolas" pitchFamily="34" charset="-120"/>
              </a:rPr>
              <a:t>'Task cannot be canceled'</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tasks/cancel running task         no error - task is now canceled</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push config on buyer              code=-32603 </a:t>
            </a:r>
            <a:r>
              <a:rPr lang="en-US" sz="1050" dirty="0">
                <a:solidFill>
                  <a:srgbClr val="A2FCA2"/>
                </a:solidFill>
                <a:latin typeface="Consolas" pitchFamily="34" charset="0"/>
                <a:ea typeface="Consolas" pitchFamily="34" charset="-122"/>
                <a:cs typeface="Consolas" pitchFamily="34" charset="-120"/>
              </a:rPr>
              <a:t>'Push notifications are not supported by the agent'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raw message/stream to buyer       HTTP 200 {</a:t>
            </a:r>
            <a:r>
              <a:rPr lang="en-US" sz="1050" dirty="0">
                <a:solidFill>
                  <a:srgbClr val="A2FCA2"/>
                </a:solidFill>
                <a:latin typeface="Consolas" pitchFamily="34" charset="0"/>
                <a:ea typeface="Consolas" pitchFamily="34" charset="-122"/>
                <a:cs typeface="Consolas" pitchFamily="34" charset="-120"/>
              </a:rPr>
              <a:t>"error"</a:t>
            </a:r>
            <a:r>
              <a:rPr lang="en-US" sz="1050" dirty="0">
                <a:solidFill>
                  <a:srgbClr val="FFFFFF"/>
                </a:solidFill>
                <a:latin typeface="Consolas" pitchFamily="34" charset="0"/>
                <a:ea typeface="Consolas" pitchFamily="34" charset="-122"/>
                <a:cs typeface="Consolas" pitchFamily="34" charset="-120"/>
              </a:rPr>
              <a:t>: {</a:t>
            </a:r>
            <a:r>
              <a:rPr lang="en-US" sz="1050" dirty="0">
                <a:solidFill>
                  <a:srgbClr val="A2FCA2"/>
                </a:solidFill>
                <a:latin typeface="Consolas" pitchFamily="34" charset="0"/>
                <a:ea typeface="Consolas" pitchFamily="34" charset="-122"/>
                <a:cs typeface="Consolas" pitchFamily="34" charset="-120"/>
              </a:rPr>
              <a:t>"code"</a:t>
            </a:r>
            <a:r>
              <a:rPr lang="en-US" sz="1050" dirty="0">
                <a:solidFill>
                  <a:srgbClr val="FFFFFF"/>
                </a:solidFill>
                <a:latin typeface="Consolas" pitchFamily="34" charset="0"/>
                <a:ea typeface="Consolas" pitchFamily="34" charset="-122"/>
                <a:cs typeface="Consolas" pitchFamily="34" charset="-120"/>
              </a:rPr>
              <a:t>: -32603, </a:t>
            </a:r>
            <a:r>
              <a:rPr lang="en-US" sz="1050" dirty="0">
                <a:solidFill>
                  <a:srgbClr val="A2FCA2"/>
                </a:solidFill>
                <a:latin typeface="Consolas" pitchFamily="34" charset="0"/>
                <a:ea typeface="Consolas" pitchFamily="34" charset="-122"/>
                <a:cs typeface="Consolas" pitchFamily="34" charset="-120"/>
              </a:rPr>
              <a:t>"message"</a:t>
            </a:r>
            <a:r>
              <a:rPr lang="en-US" sz="1050" dirty="0">
                <a:solidFill>
                  <a:srgbClr val="FFFFFF"/>
                </a:solidFill>
                <a:latin typeface="Consolas" pitchFamily="34" charset="0"/>
                <a:ea typeface="Consolas" pitchFamily="34" charset="-122"/>
                <a:cs typeface="Consolas" pitchFamily="34" charset="-120"/>
              </a:rPr>
              <a:t>: </a:t>
            </a:r>
            <a:r>
              <a:rPr lang="en-US" sz="1050" dirty="0">
                <a:solidFill>
                  <a:srgbClr val="A2FCA2"/>
                </a:solidFill>
                <a:latin typeface="Consolas" pitchFamily="34" charset="0"/>
                <a:ea typeface="Consolas" pitchFamily="34" charset="-122"/>
                <a:cs typeface="Consolas" pitchFamily="34" charset="-120"/>
              </a:rPr>
              <a:t>"Streaming is not supported..."</a:t>
            </a:r>
            <a:r>
              <a:rPr lang="en-US" sz="1050" dirty="0">
                <a:solidFill>
                  <a:srgbClr val="FFFFFF"/>
                </a:solidFill>
                <a:latin typeface="Consolas" pitchFamily="34" charset="0"/>
                <a:ea typeface="Consolas" pitchFamily="34" charset="-122"/>
                <a:cs typeface="Consolas" pitchFamily="34" charset="-120"/>
              </a:rPr>
              <a:t>}}</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FilePart application/zip          no exception. state=failed  </a:t>
            </a:r>
            <a:r>
              <a:rPr lang="en-US" sz="1050" dirty="0">
                <a:solidFill>
                  <a:srgbClr val="A2FCA2"/>
                </a:solidFill>
                <a:latin typeface="Consolas" pitchFamily="34" charset="0"/>
                <a:ea typeface="Consolas" pitchFamily="34" charset="-122"/>
                <a:cs typeface="Consolas" pitchFamily="34" charset="-120"/>
              </a:rPr>
              <a:t>"LiteLlm(BaseLlm) does not support ... application/zip"</a:t>
            </a:r>
            <a:endParaRPr lang="en-US" sz="1050" dirty="0"/>
          </a:p>
          <a:p>
            <a:pPr indent="0" marL="0">
              <a:buNone/>
            </a:pPr>
            <a:r>
              <a:rPr lang="en-US" sz="1050" dirty="0">
                <a:solidFill>
                  <a:srgbClr val="FFFFFF"/>
                </a:solidFill>
                <a:latin typeface="Consolas" pitchFamily="34" charset="0"/>
                <a:ea typeface="Consolas" pitchFamily="34" charset="-122"/>
                <a:cs typeface="Consolas" pitchFamily="34" charset="-120"/>
              </a:rPr>
              <a:t>offer with no price               no exception. state=completed  submit_decision NOT called -&gt; ask again</a:t>
            </a:r>
            <a:endParaRPr lang="en-US" sz="1050" dirty="0"/>
          </a:p>
        </p:txBody>
      </p:sp>
      <p:graphicFrame>
        <p:nvGraphicFramePr>
          <p:cNvPr id="89" name="Table 0"/>
          <p:cNvGraphicFramePr>
            <a:graphicFrameLocks noGrp="1"/>
          </p:cNvGraphicFramePr>
          <p:nvPr>
            <p:extLst>
              <p:ext uri="{D42A27DB-BD31-4B8C-83A1-F6EECF244321}">
                <p14:modId xmlns:p14="http://schemas.microsoft.com/office/powerpoint/2010/main" val="1579011935"/>
              </p:ext>
            </p:extLst>
          </p:nvPr>
        </p:nvGraphicFramePr>
        <p:xfrm>
          <a:off x="502920" y="4480560"/>
          <a:ext cx="11155680" cy="914400"/>
        </p:xfrm>
        <a:graphic>
          <a:graphicData uri="http://schemas.openxmlformats.org/drawingml/2006/table">
            <a:tbl>
              <a:tblPr/>
              <a:tblGrid>
                <a:gridCol w="1828800"/>
                <a:gridCol w="3108960"/>
                <a:gridCol w="6217920"/>
              </a:tblGrid>
              <a:tr h="0">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Layer</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Detect with</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c>
                  <a:txBody>
                    <a:bodyPr/>
                    <a:lstStyle/>
                    <a:p>
                      <a:pPr indent="0" marL="0">
                        <a:buNone/>
                      </a:pPr>
                      <a:r>
                        <a:rPr lang="en-US" sz="1100" b="1" dirty="0">
                          <a:solidFill>
                            <a:srgbClr val="FFFFFF"/>
                          </a:solidFill>
                          <a:latin typeface="Fira Sans" pitchFamily="34" charset="0"/>
                          <a:ea typeface="Fira Sans" pitchFamily="34" charset="-122"/>
                          <a:cs typeface="Fira Sans" pitchFamily="34" charset="-120"/>
                        </a:rPr>
                        <a:t>Retry?</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F766E"/>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Transport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A2AClientHTTPError / TimeoutError</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Connection, 5xx: yes, with backoff. Timeout: prefer blocking=false + tasks/get. 4xx: fix the request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Protocol</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A2AClientJSONRPCError .error.code</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No — fix the request, or use what the card offers</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8FAFC"/>
                    </a:solidFill>
                  </a:tcPr>
                </a:tc>
              </a:tr>
              <a:tr h="0">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Task / Application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task.status.state, then the content</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00" dirty="0">
                          <a:solidFill>
                            <a:srgbClr val="1E293B"/>
                          </a:solidFill>
                          <a:latin typeface="Fira Sans" pitchFamily="34" charset="0"/>
                          <a:ea typeface="Fira Sans" pitchFamily="34" charset="-122"/>
                          <a:cs typeface="Fira Sans" pitchFamily="34" charset="-120"/>
                        </a:rPr>
                        <a:t>Not with the same input; read status.message / ask again</a:t>
                      </a:r>
                      <a:endParaRPr lang="en-US" sz="1100" dirty="0">
                        <a:latin typeface="Fira Sans" charset="0"/>
                        <a:ea typeface="Fira Sans" charset="0"/>
                        <a:cs typeface="Fira Sans" charset="0"/>
                      </a:endParaRPr>
                    </a:p>
                  </a:txBody>
                  <a:tcPr marL="73152" marR="73152" marT="36576" marB="36576"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sp>
        <p:nvSpPr>
          <p:cNvPr id="3" name="Text 0"/>
          <p:cNvSpPr/>
          <p:nvPr/>
        </p:nvSpPr>
        <p:spPr>
          <a:xfrm>
            <a:off x="320040" y="164592"/>
            <a:ext cx="11521440" cy="658368"/>
          </a:xfrm>
          <a:prstGeom prst="rect">
            <a:avLst/>
          </a:prstGeom>
          <a:noFill/>
          <a:ln/>
        </p:spPr>
        <p:txBody>
          <a:bodyPr wrap="square" lIns="0" tIns="0" rIns="0" bIns="0" rtlCol="0" anchor="ctr">
            <a:normAutofit/>
          </a:bodyPr>
          <a:lstStyle/>
          <a:p>
            <a:pPr indent="0" marL="0">
              <a:buNone/>
            </a:pPr>
            <a:r>
              <a:rPr lang="en-US" sz="3000" b="1" dirty="0">
                <a:solidFill>
                  <a:srgbClr val="3896D2"/>
                </a:solidFill>
                <a:latin typeface="Fira Sans" pitchFamily="34" charset="0"/>
                <a:ea typeface="Fira Sans" pitchFamily="34" charset="-122"/>
                <a:cs typeface="Fira Sans" pitchFamily="34" charset="-120"/>
              </a:rPr>
              <a:t>Module 2 - Implementation Notes: </a:t>
            </a:r>
            <a:r>
              <a:rPr lang="en-US" sz="3000" b="1" dirty="0">
                <a:solidFill>
                  <a:srgbClr val="FFFFFF"/>
                </a:solidFill>
                <a:latin typeface="Fira Sans" pitchFamily="34" charset="0"/>
                <a:ea typeface="Fira Sans" pitchFamily="34" charset="-122"/>
                <a:cs typeface="Fira Sans" pitchFamily="34" charset="-120"/>
              </a:rPr>
              <a:t>Google ADK + A2A Protocol</a:t>
            </a:r>
            <a:endParaRPr lang="en-US" sz="3000" dirty="0"/>
          </a:p>
        </p:txBody>
      </p:sp>
      <p:pic>
        <p:nvPicPr>
          <p:cNvPr id="4" name="Image 1" descr="C:\Users\jeesingh\.copilot\session-state\b8ab4bc6-faf5-4ebd-bea2-f997a4b9a7ea\files\deck\img\x351.png">    </p:cNvPr>
          <p:cNvPicPr>
            <a:picLocks noChangeAspect="1"/>
          </p:cNvPicPr>
          <p:nvPr/>
        </p:nvPicPr>
        <p:blipFill>
          <a:blip r:embed="rId2"/>
          <a:stretch>
            <a:fillRect/>
          </a:stretch>
        </p:blipFill>
        <p:spPr>
          <a:xfrm>
            <a:off x="2124710" y="1369060"/>
            <a:ext cx="7755890" cy="4652010"/>
          </a:xfrm>
          <a:prstGeom prst="rect">
            <a:avLst/>
          </a:prstGeom>
        </p:spPr>
      </p:pic>
      <p:pic>
        <p:nvPicPr>
          <p:cNvPr id="5" name="Image 2" descr="C:\Users\jeesingh\.copilot\session-state\b8ab4bc6-faf5-4ebd-bea2-f997a4b9a7ea\files\deck\img\x621.png">    </p:cNvPr>
          <p:cNvPicPr>
            <a:picLocks noChangeAspect="1"/>
          </p:cNvPicPr>
          <p:nvPr/>
        </p:nvPicPr>
        <p:blipFill>
          <a:blip r:embed="rId3"/>
          <a:stretch>
            <a:fillRect/>
          </a:stretch>
        </p:blipFill>
        <p:spPr>
          <a:xfrm>
            <a:off x="4839970" y="3152140"/>
            <a:ext cx="2325370" cy="853440"/>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pic>
        <p:nvPicPr>
          <p:cNvPr id="3" name="Image 1" descr="C:\Users\jeesingh\.copilot\session-state\b8ab4bc6-faf5-4ebd-bea2-f997a4b9a7ea\files\deck\img\x365.png">    </p:cNvPr>
          <p:cNvPicPr>
            <a:picLocks noChangeAspect="1"/>
          </p:cNvPicPr>
          <p:nvPr/>
        </p:nvPicPr>
        <p:blipFill>
          <a:blip r:embed="rId2"/>
          <a:stretch>
            <a:fillRect/>
          </a:stretch>
        </p:blipFill>
        <p:spPr>
          <a:xfrm>
            <a:off x="7302500" y="0"/>
            <a:ext cx="7285990" cy="6858000"/>
          </a:xfrm>
          <a:prstGeom prst="rect">
            <a:avLst/>
          </a:prstGeom>
        </p:spPr>
      </p:pic>
      <p:sp>
        <p:nvSpPr>
          <p:cNvPr id="4" name="Text 0"/>
          <p:cNvSpPr/>
          <p:nvPr/>
        </p:nvSpPr>
        <p:spPr>
          <a:xfrm>
            <a:off x="411480" y="274320"/>
            <a:ext cx="6766560" cy="822960"/>
          </a:xfrm>
          <a:prstGeom prst="rect">
            <a:avLst/>
          </a:prstGeom>
          <a:noFill/>
          <a:ln/>
        </p:spPr>
        <p:txBody>
          <a:bodyPr wrap="square" rtlCol="0" anchor="ctr"/>
          <a:lstStyle/>
          <a:p>
            <a:pPr indent="0" marL="0">
              <a:buNone/>
            </a:pPr>
            <a:r>
              <a:rPr lang="en-US" sz="2000" b="1" dirty="0">
                <a:solidFill>
                  <a:srgbClr val="FFAB40"/>
                </a:solidFill>
                <a:latin typeface="Fira Sans" pitchFamily="34" charset="0"/>
                <a:ea typeface="Fira Sans" pitchFamily="34" charset="-122"/>
                <a:cs typeface="Fira Sans" pitchFamily="34" charset="-120"/>
              </a:rPr>
              <a:t>No Question Is Too Small Every Question Deserves an Answer!!</a:t>
            </a:r>
            <a:endParaRPr lang="en-US" sz="2000" dirty="0"/>
          </a:p>
        </p:txBody>
      </p:sp>
      <p:sp>
        <p:nvSpPr>
          <p:cNvPr id="5" name="Text 1"/>
          <p:cNvSpPr/>
          <p:nvPr/>
        </p:nvSpPr>
        <p:spPr>
          <a:xfrm>
            <a:off x="411480" y="1234440"/>
            <a:ext cx="6583680" cy="4023360"/>
          </a:xfrm>
          <a:prstGeom prst="rect">
            <a:avLst/>
          </a:prstGeom>
          <a:noFill/>
          <a:ln/>
        </p:spPr>
        <p:txBody>
          <a:bodyPr wrap="square" rtlCol="0" anchor="ctr"/>
          <a:lstStyle/>
          <a:p>
            <a:pPr indent="0" marL="0">
              <a:spcAft>
                <a:spcPts val="400"/>
              </a:spcAft>
              <a:buNone/>
            </a:pPr>
            <a:r>
              <a:rPr lang="en-US" sz="1600" b="1" dirty="0">
                <a:solidFill>
                  <a:srgbClr val="FFFFFF"/>
                </a:solidFill>
                <a:latin typeface="Fira Sans" pitchFamily="34" charset="0"/>
                <a:ea typeface="Fira Sans" pitchFamily="34" charset="-122"/>
                <a:cs typeface="Fira Sans" pitchFamily="34" charset="-120"/>
              </a:rPr>
              <a:t>Ask about anything:</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Concepts from today's modules</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How this applies to your work</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Implementation details</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Clarifications on what we covered</a:t>
            </a:r>
            <a:endParaRPr lang="en-US" sz="1600" dirty="0"/>
          </a:p>
          <a:p>
            <a:pPr indent="0" marL="0">
              <a:spcAft>
                <a:spcPts val="400"/>
              </a:spcAft>
              <a:buNone/>
            </a:pPr>
            <a:r>
              <a:rPr lang="en-US" sz="1600" dirty="0">
                <a:solidFill>
                  <a:srgbClr val="FFFFFF"/>
                </a:solidFill>
                <a:latin typeface="Fira Sans" pitchFamily="34" charset="0"/>
                <a:ea typeface="Fira Sans" pitchFamily="34" charset="-122"/>
                <a:cs typeface="Fira Sans" pitchFamily="34" charset="-120"/>
              </a:rPr>
              <a:t> </a:t>
            </a:r>
            <a:endParaRPr lang="en-US" sz="1600" dirty="0"/>
          </a:p>
          <a:p>
            <a:pPr indent="0" marL="0">
              <a:spcAft>
                <a:spcPts val="400"/>
              </a:spcAft>
              <a:buNone/>
            </a:pPr>
            <a:r>
              <a:rPr lang="en-US" sz="1600" b="1" dirty="0">
                <a:solidFill>
                  <a:srgbClr val="FFFFFF"/>
                </a:solidFill>
                <a:latin typeface="Fira Sans" pitchFamily="34" charset="0"/>
                <a:ea typeface="Fira Sans" pitchFamily="34" charset="-122"/>
                <a:cs typeface="Fira Sans" pitchFamily="34" charset="-120"/>
              </a:rPr>
              <a:t>Quick Request</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Please do not mind if a question gets skipped accidentally</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Repost politely in chat if needed</a:t>
            </a:r>
            <a:endParaRPr lang="en-US" sz="1600" dirty="0"/>
          </a:p>
          <a:p>
            <a:pPr marL="342900" indent="-342900">
              <a:spcAft>
                <a:spcPts val="400"/>
              </a:spcAft>
              <a:buSzPct val="100000"/>
              <a:buChar char="•"/>
            </a:pPr>
            <a:r>
              <a:rPr lang="en-US" sz="1600" dirty="0">
                <a:solidFill>
                  <a:srgbClr val="FFFFFF"/>
                </a:solidFill>
                <a:latin typeface="Fira Sans" pitchFamily="34" charset="0"/>
                <a:ea typeface="Fira Sans" pitchFamily="34" charset="-122"/>
                <a:cs typeface="Fira Sans" pitchFamily="34" charset="-120"/>
              </a:rPr>
              <a:t>We will try our best to cover as many questions as possible</a:t>
            </a:r>
            <a:endParaRPr lang="en-US" sz="1600" dirty="0"/>
          </a:p>
        </p:txBody>
      </p:sp>
      <p:sp>
        <p:nvSpPr>
          <p:cNvPr id="6" name="Text 2"/>
          <p:cNvSpPr/>
          <p:nvPr/>
        </p:nvSpPr>
        <p:spPr>
          <a:xfrm>
            <a:off x="411480" y="5577840"/>
            <a:ext cx="6583680" cy="548640"/>
          </a:xfrm>
          <a:prstGeom prst="rect">
            <a:avLst/>
          </a:prstGeom>
          <a:noFill/>
          <a:ln/>
        </p:spPr>
        <p:txBody>
          <a:bodyPr wrap="square" rtlCol="0" anchor="ctr"/>
          <a:lstStyle/>
          <a:p>
            <a:pPr indent="0" marL="0">
              <a:buNone/>
            </a:pPr>
            <a:r>
              <a:rPr lang="en-US" sz="1500" b="1" dirty="0">
                <a:solidFill>
                  <a:srgbClr val="FFFFFF"/>
                </a:solidFill>
                <a:latin typeface="Fira Sans" pitchFamily="34" charset="0"/>
                <a:ea typeface="Fira Sans" pitchFamily="34" charset="-122"/>
                <a:cs typeface="Fira Sans" pitchFamily="34" charset="-120"/>
              </a:rPr>
              <a:t>Remember: </a:t>
            </a:r>
            <a:r>
              <a:rPr lang="en-US" sz="1500" dirty="0">
                <a:solidFill>
                  <a:srgbClr val="FFAB40"/>
                </a:solidFill>
                <a:latin typeface="Fira Sans" pitchFamily="34" charset="0"/>
                <a:ea typeface="Fira Sans" pitchFamily="34" charset="-122"/>
                <a:cs typeface="Fira Sans" pitchFamily="34" charset="-120"/>
              </a:rPr>
              <a:t>If you're wondering about it, others probably are too.</a:t>
            </a:r>
            <a:endParaRPr lang="en-US" sz="15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324158"/>
        </a:solidFill>
      </p:bgPr>
    </p:bg>
    <p:spTree>
      <p:nvGrpSpPr>
        <p:cNvPr id="1" name=""/>
        <p:cNvGrpSpPr/>
        <p:nvPr/>
      </p:nvGrpSpPr>
      <p:grpSpPr>
        <a:xfrm>
          <a:off x="0" y="0"/>
          <a:ext cx="0" cy="0"/>
          <a:chOff x="0" y="0"/>
          <a:chExt cx="0" cy="0"/>
        </a:xfrm>
      </p:grpSpPr>
      <p:pic>
        <p:nvPicPr>
          <p:cNvPr id="2" name="Image 0" descr="C:\Users\jeesingh\.copilot\session-state\b8ab4bc6-faf5-4ebd-bea2-f997a4b9a7ea\files\deck\img\x12.png">    </p:cNvPr>
          <p:cNvPicPr>
            <a:picLocks noChangeAspect="1"/>
          </p:cNvPicPr>
          <p:nvPr/>
        </p:nvPicPr>
        <p:blipFill>
          <a:blip r:embed="rId1"/>
          <a:stretch>
            <a:fillRect/>
          </a:stretch>
        </p:blipFill>
        <p:spPr>
          <a:xfrm>
            <a:off x="9606280" y="4919980"/>
            <a:ext cx="2946400" cy="2945130"/>
          </a:xfrm>
          <a:prstGeom prst="rect">
            <a:avLst/>
          </a:prstGeom>
        </p:spPr>
      </p:pic>
      <p:pic>
        <p:nvPicPr>
          <p:cNvPr id="3" name="Image 1" descr="C:\Users\jeesingh\.copilot\session-state\b8ab4bc6-faf5-4ebd-bea2-f997a4b9a7ea\files\deck\img\x635.png">    </p:cNvPr>
          <p:cNvPicPr>
            <a:picLocks noChangeAspect="1"/>
          </p:cNvPicPr>
          <p:nvPr/>
        </p:nvPicPr>
        <p:blipFill>
          <a:blip r:embed="rId2"/>
          <a:stretch>
            <a:fillRect/>
          </a:stretch>
        </p:blipFill>
        <p:spPr>
          <a:xfrm>
            <a:off x="3147060" y="615950"/>
            <a:ext cx="5892800" cy="566547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91</Slides>
  <Notes>91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91</vt:i4>
      </vt:variant>
    </vt:vector>
  </HeadingPairs>
  <TitlesOfParts>
    <vt:vector size="9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 Agent Communication Protocols: MCP, A2A, and Google ADK</dc:title>
  <dc:subject>PptxGenJS Presentation</dc:subject>
  <dc:creator>Jeevendra Singh</dc:creator>
  <cp:lastModifiedBy>Jeevendra Singh</cp:lastModifiedBy>
  <cp:revision>1</cp:revision>
  <dcterms:created xsi:type="dcterms:W3CDTF">2026-10-17T10:32:30Z</dcterms:created>
  <dcterms:modified xsi:type="dcterms:W3CDTF">2026-10-17T10:32:30Z</dcterms:modified>
</cp:coreProperties>
</file>